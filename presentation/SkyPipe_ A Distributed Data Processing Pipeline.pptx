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png" ContentType="image/png"/>
  <Default Extension="jpeg" ContentType="image/jpeg"/>
  <Default Extension="rels" ContentType="application/vnd.openxmlformats-package.relationships+xml"/>
  <Default Extension="bin" ContentType="application/vnd.openxmlformats-officedocument.oleObject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4.xml" ContentType="application/vnd.openxmlformats-officedocument.presentationml.slide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2.xml" ContentType="application/vnd.openxmlformats-officedocument.presentationml.slideLayout+xml"/>
  <Override PartName="/ppt/slides/slide11.xml" ContentType="application/vnd.openxmlformats-officedocument.presentationml.slide+xml"/>
  <Override PartName="/ppt/theme/theme1.xml" ContentType="application/vnd.openxmlformats-officedocument.theme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Slides/notesSlide3.xml" ContentType="application/vnd.openxmlformats-officedocument.presentationml.notesSlide+xml"/>
  <Override PartName="/ppt/tableStyles.xml" ContentType="application/vnd.openxmlformats-officedocument.presentationml.tableStyles+xml"/>
  <Override PartName="/ppt/slides/slide12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PPTIST_MASTER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0"/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1">
    <p:bg>
      <p:bgPr shadeToTitle="0">
        <a:solidFill>
          <a:srgbClr val="1A0F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0ab70041cd09a75c4d9f2ad05e880c32eb97e052.jpg"/>
          <p:cNvPicPr>
            <a:picLocks noChangeAspect="1"/>
          </p:cNvPicPr>
          <p:nvPr/>
        </p:nvPicPr>
        <p:blipFill>
          <a:blip r:embed="rId3">
            <a:alphaModFix amt="30000"/>
          </a:blip>
          <a:stretch/>
        </p:blipFill>
        <p:spPr bwMode="auto"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 bwMode="auto"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fill="norm" stroke="1" extrusionOk="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0F2E">
                  <a:alpha val="95000"/>
                </a:srgbClr>
              </a:gs>
              <a:gs pos="50000">
                <a:srgbClr val="4C1D95">
                  <a:alpha val="80000"/>
                </a:srgbClr>
              </a:gs>
              <a:gs pos="100000">
                <a:srgbClr val="1A0F2E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 bwMode="auto"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 fill="norm" stroke="1" extrusionOk="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  <a:effectLst>
            <a:outerShdw blurRad="101600" dist="50800" dir="2700000" sx="100000" sy="100000" kx="0" ky="0" algn="bl" rotWithShape="0">
              <a:srgbClr val="FFFFFF">
                <a:alpha val="75000"/>
              </a:srgbClr>
            </a:outerShdw>
          </a:effectLst>
        </p:spPr>
      </p:sp>
      <p:sp>
        <p:nvSpPr>
          <p:cNvPr id="5" name="Shape 2"/>
          <p:cNvSpPr/>
          <p:nvPr/>
        </p:nvSpPr>
        <p:spPr bwMode="auto">
          <a:xfrm>
            <a:off x="545306" y="5429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 fill="norm" stroke="1" extrusionOk="0">
                <a:moveTo>
                  <a:pt x="0" y="44648"/>
                </a:moveTo>
                <a:cubicBezTo>
                  <a:pt x="0" y="29859"/>
                  <a:pt x="11999" y="17859"/>
                  <a:pt x="26789" y="17859"/>
                </a:cubicBezTo>
                <a:lnTo>
                  <a:pt x="80367" y="17859"/>
                </a:lnTo>
                <a:cubicBezTo>
                  <a:pt x="95157" y="17859"/>
                  <a:pt x="107156" y="29859"/>
                  <a:pt x="107156" y="44648"/>
                </a:cubicBezTo>
                <a:lnTo>
                  <a:pt x="107156" y="53578"/>
                </a:lnTo>
                <a:lnTo>
                  <a:pt x="178594" y="53578"/>
                </a:lnTo>
                <a:lnTo>
                  <a:pt x="178594" y="44648"/>
                </a:lnTo>
                <a:cubicBezTo>
                  <a:pt x="178594" y="29859"/>
                  <a:pt x="190593" y="17859"/>
                  <a:pt x="205383" y="17859"/>
                </a:cubicBezTo>
                <a:lnTo>
                  <a:pt x="258961" y="17859"/>
                </a:lnTo>
                <a:cubicBezTo>
                  <a:pt x="273751" y="17859"/>
                  <a:pt x="285750" y="29859"/>
                  <a:pt x="285750" y="44648"/>
                </a:cubicBezTo>
                <a:lnTo>
                  <a:pt x="285750" y="98227"/>
                </a:lnTo>
                <a:cubicBezTo>
                  <a:pt x="285750" y="113016"/>
                  <a:pt x="273751" y="125016"/>
                  <a:pt x="258961" y="125016"/>
                </a:cubicBezTo>
                <a:lnTo>
                  <a:pt x="205383" y="125016"/>
                </a:lnTo>
                <a:cubicBezTo>
                  <a:pt x="190593" y="125016"/>
                  <a:pt x="178594" y="113016"/>
                  <a:pt x="178594" y="98227"/>
                </a:cubicBezTo>
                <a:lnTo>
                  <a:pt x="178594" y="89297"/>
                </a:lnTo>
                <a:lnTo>
                  <a:pt x="107156" y="89297"/>
                </a:lnTo>
                <a:lnTo>
                  <a:pt x="107156" y="98227"/>
                </a:lnTo>
                <a:cubicBezTo>
                  <a:pt x="107156" y="102301"/>
                  <a:pt x="106207" y="106207"/>
                  <a:pt x="104589" y="109668"/>
                </a:cubicBezTo>
                <a:lnTo>
                  <a:pt x="142875" y="160734"/>
                </a:lnTo>
                <a:lnTo>
                  <a:pt x="187523" y="160734"/>
                </a:lnTo>
                <a:cubicBezTo>
                  <a:pt x="202313" y="160734"/>
                  <a:pt x="214313" y="172734"/>
                  <a:pt x="214313" y="187523"/>
                </a:cubicBezTo>
                <a:lnTo>
                  <a:pt x="214313" y="241102"/>
                </a:lnTo>
                <a:cubicBezTo>
                  <a:pt x="214313" y="255891"/>
                  <a:pt x="202313" y="267891"/>
                  <a:pt x="187523" y="267891"/>
                </a:cubicBezTo>
                <a:lnTo>
                  <a:pt x="133945" y="267891"/>
                </a:lnTo>
                <a:cubicBezTo>
                  <a:pt x="119156" y="267891"/>
                  <a:pt x="107156" y="255891"/>
                  <a:pt x="107156" y="241102"/>
                </a:cubicBezTo>
                <a:lnTo>
                  <a:pt x="107156" y="187523"/>
                </a:lnTo>
                <a:cubicBezTo>
                  <a:pt x="107156" y="183449"/>
                  <a:pt x="108105" y="179543"/>
                  <a:pt x="109724" y="176082"/>
                </a:cubicBezTo>
                <a:lnTo>
                  <a:pt x="71438" y="125016"/>
                </a:lnTo>
                <a:lnTo>
                  <a:pt x="26789" y="125016"/>
                </a:lnTo>
                <a:cubicBezTo>
                  <a:pt x="11999" y="125016"/>
                  <a:pt x="0" y="113016"/>
                  <a:pt x="0" y="98227"/>
                </a:cubicBezTo>
                <a:lnTo>
                  <a:pt x="0" y="4464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 bwMode="auto">
          <a:xfrm>
            <a:off x="1143000" y="381000"/>
            <a:ext cx="1190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250" b="1" spc="-56">
                <a:solidFill>
                  <a:srgbClr val="FFFFFF"/>
                </a:solidFill>
                <a:latin typeface="Hedvig Letters Sans"/>
                <a:ea typeface="Hedvig Letters Sans"/>
                <a:cs typeface="Hedvig Letters Sans"/>
              </a:rPr>
              <a:t>SKYPIPE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 bwMode="auto">
          <a:xfrm>
            <a:off x="1143000" y="723900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350" b="1" spc="68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PIPELINE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 bwMode="auto">
          <a:xfrm flipH="0" flipV="0">
            <a:off x="380998" y="1652586"/>
            <a:ext cx="11316049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80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A Distributed</a:t>
            </a:r>
            <a:r>
              <a:rPr lang="en-US" sz="480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 Data Processing Pipeline</a:t>
            </a:r>
            <a:endParaRPr lang="en-US" sz="1600"/>
          </a:p>
        </p:txBody>
      </p:sp>
      <p:sp>
        <p:nvSpPr>
          <p:cNvPr id="10" name="Shape 7"/>
          <p:cNvSpPr/>
          <p:nvPr/>
        </p:nvSpPr>
        <p:spPr bwMode="auto">
          <a:xfrm>
            <a:off x="381000" y="512921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fill="norm" stroke="1" extrusionOk="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7C3AED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 bwMode="auto">
          <a:xfrm>
            <a:off x="536972" y="5272088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 fill="norm" stroke="1" extrusionOk="0">
                <a:moveTo>
                  <a:pt x="75009" y="83046"/>
                </a:moveTo>
                <a:cubicBezTo>
                  <a:pt x="97187" y="83046"/>
                  <a:pt x="115193" y="65040"/>
                  <a:pt x="115193" y="42863"/>
                </a:cubicBezTo>
                <a:cubicBezTo>
                  <a:pt x="115193" y="20685"/>
                  <a:pt x="97187" y="2679"/>
                  <a:pt x="75009" y="2679"/>
                </a:cubicBezTo>
                <a:cubicBezTo>
                  <a:pt x="52831" y="2679"/>
                  <a:pt x="34826" y="20685"/>
                  <a:pt x="34826" y="42863"/>
                </a:cubicBezTo>
                <a:cubicBezTo>
                  <a:pt x="34826" y="65040"/>
                  <a:pt x="52831" y="83046"/>
                  <a:pt x="75009" y="83046"/>
                </a:cubicBezTo>
                <a:close/>
                <a:moveTo>
                  <a:pt x="65064" y="101798"/>
                </a:moveTo>
                <a:cubicBezTo>
                  <a:pt x="32080" y="101798"/>
                  <a:pt x="5358" y="128521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28521"/>
                  <a:pt x="117939" y="101798"/>
                  <a:pt x="84955" y="101798"/>
                </a:cubicBezTo>
                <a:lnTo>
                  <a:pt x="65064" y="101798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2" name="Text 9"/>
          <p:cNvSpPr/>
          <p:nvPr/>
        </p:nvSpPr>
        <p:spPr bwMode="auto">
          <a:xfrm>
            <a:off x="952500" y="5129213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5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Prepared by</a:t>
            </a:r>
            <a:endParaRPr lang="en-US" sz="1600"/>
          </a:p>
        </p:txBody>
      </p:sp>
      <p:sp>
        <p:nvSpPr>
          <p:cNvPr id="13" name="Text 10"/>
          <p:cNvSpPr/>
          <p:nvPr/>
        </p:nvSpPr>
        <p:spPr bwMode="auto">
          <a:xfrm flipH="0" flipV="0">
            <a:off x="894903" y="5319712"/>
            <a:ext cx="1686817" cy="266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3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Rugogamu Noela</a:t>
            </a:r>
            <a:endParaRPr lang="en-US" sz="1600"/>
          </a:p>
        </p:txBody>
      </p:sp>
      <p:sp>
        <p:nvSpPr>
          <p:cNvPr id="14" name="Shape 11"/>
          <p:cNvSpPr/>
          <p:nvPr/>
        </p:nvSpPr>
        <p:spPr bwMode="auto">
          <a:xfrm>
            <a:off x="2522637" y="512921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fill="norm" stroke="1" extrusionOk="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 bwMode="auto">
          <a:xfrm>
            <a:off x="2667893" y="527208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 fill="norm" stroke="1" extrusionOk="0">
                <a:moveTo>
                  <a:pt x="91049" y="6764"/>
                </a:moveTo>
                <a:cubicBezTo>
                  <a:pt x="87768" y="4889"/>
                  <a:pt x="83716" y="4889"/>
                  <a:pt x="80401" y="6764"/>
                </a:cubicBezTo>
                <a:lnTo>
                  <a:pt x="5391" y="49627"/>
                </a:lnTo>
                <a:cubicBezTo>
                  <a:pt x="1172" y="52038"/>
                  <a:pt x="-904" y="56994"/>
                  <a:pt x="335" y="61682"/>
                </a:cubicBezTo>
                <a:cubicBezTo>
                  <a:pt x="1574" y="66370"/>
                  <a:pt x="5860" y="69652"/>
                  <a:pt x="10716" y="69652"/>
                </a:cubicBezTo>
                <a:lnTo>
                  <a:pt x="21431" y="69652"/>
                </a:lnTo>
                <a:lnTo>
                  <a:pt x="21431" y="139303"/>
                </a:lnTo>
                <a:lnTo>
                  <a:pt x="21431" y="139303"/>
                </a:lnTo>
                <a:lnTo>
                  <a:pt x="4286" y="152162"/>
                </a:lnTo>
                <a:cubicBezTo>
                  <a:pt x="1574" y="154171"/>
                  <a:pt x="0" y="157352"/>
                  <a:pt x="0" y="160734"/>
                </a:cubicBezTo>
                <a:cubicBezTo>
                  <a:pt x="0" y="166661"/>
                  <a:pt x="4789" y="171450"/>
                  <a:pt x="10716" y="171450"/>
                </a:cubicBezTo>
                <a:lnTo>
                  <a:pt x="160734" y="171450"/>
                </a:lnTo>
                <a:cubicBezTo>
                  <a:pt x="166661" y="171450"/>
                  <a:pt x="171450" y="166661"/>
                  <a:pt x="171450" y="160734"/>
                </a:cubicBezTo>
                <a:cubicBezTo>
                  <a:pt x="171450" y="157352"/>
                  <a:pt x="169876" y="154171"/>
                  <a:pt x="167164" y="152162"/>
                </a:cubicBezTo>
                <a:lnTo>
                  <a:pt x="150019" y="139303"/>
                </a:lnTo>
                <a:lnTo>
                  <a:pt x="150019" y="69652"/>
                </a:lnTo>
                <a:lnTo>
                  <a:pt x="160734" y="69652"/>
                </a:lnTo>
                <a:cubicBezTo>
                  <a:pt x="165590" y="69652"/>
                  <a:pt x="169843" y="66370"/>
                  <a:pt x="171082" y="61682"/>
                </a:cubicBezTo>
                <a:cubicBezTo>
                  <a:pt x="172321" y="56994"/>
                  <a:pt x="170244" y="52038"/>
                  <a:pt x="166025" y="49627"/>
                </a:cubicBezTo>
                <a:lnTo>
                  <a:pt x="91016" y="6764"/>
                </a:lnTo>
                <a:close/>
                <a:moveTo>
                  <a:pt x="133945" y="69652"/>
                </a:moveTo>
                <a:lnTo>
                  <a:pt x="133945" y="139303"/>
                </a:lnTo>
                <a:lnTo>
                  <a:pt x="112514" y="139303"/>
                </a:lnTo>
                <a:lnTo>
                  <a:pt x="112514" y="69652"/>
                </a:lnTo>
                <a:lnTo>
                  <a:pt x="133945" y="69652"/>
                </a:lnTo>
                <a:close/>
                <a:moveTo>
                  <a:pt x="96441" y="69652"/>
                </a:moveTo>
                <a:lnTo>
                  <a:pt x="96441" y="139303"/>
                </a:lnTo>
                <a:lnTo>
                  <a:pt x="75009" y="139303"/>
                </a:lnTo>
                <a:lnTo>
                  <a:pt x="75009" y="69652"/>
                </a:lnTo>
                <a:lnTo>
                  <a:pt x="96441" y="69652"/>
                </a:lnTo>
                <a:close/>
                <a:moveTo>
                  <a:pt x="58936" y="69652"/>
                </a:moveTo>
                <a:lnTo>
                  <a:pt x="58936" y="139303"/>
                </a:lnTo>
                <a:lnTo>
                  <a:pt x="37505" y="139303"/>
                </a:lnTo>
                <a:lnTo>
                  <a:pt x="37505" y="69652"/>
                </a:lnTo>
                <a:lnTo>
                  <a:pt x="58936" y="69652"/>
                </a:lnTo>
                <a:close/>
                <a:moveTo>
                  <a:pt x="85725" y="32147"/>
                </a:moveTo>
                <a:cubicBezTo>
                  <a:pt x="91639" y="32147"/>
                  <a:pt x="96441" y="36948"/>
                  <a:pt x="96441" y="42863"/>
                </a:cubicBezTo>
                <a:cubicBezTo>
                  <a:pt x="96441" y="48777"/>
                  <a:pt x="91639" y="53578"/>
                  <a:pt x="85725" y="53578"/>
                </a:cubicBezTo>
                <a:cubicBezTo>
                  <a:pt x="79811" y="53578"/>
                  <a:pt x="75009" y="48777"/>
                  <a:pt x="75009" y="42863"/>
                </a:cubicBezTo>
                <a:cubicBezTo>
                  <a:pt x="75009" y="36948"/>
                  <a:pt x="79811" y="32147"/>
                  <a:pt x="85725" y="32147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16" name="Text 13"/>
          <p:cNvSpPr/>
          <p:nvPr/>
        </p:nvSpPr>
        <p:spPr bwMode="auto">
          <a:xfrm>
            <a:off x="3094137" y="5129213"/>
            <a:ext cx="211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5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Institution</a:t>
            </a:r>
            <a:endParaRPr lang="en-US" sz="1600"/>
          </a:p>
        </p:txBody>
      </p:sp>
      <p:sp>
        <p:nvSpPr>
          <p:cNvPr id="17" name="Text 14"/>
          <p:cNvSpPr/>
          <p:nvPr/>
        </p:nvSpPr>
        <p:spPr bwMode="auto">
          <a:xfrm flipH="0" flipV="0">
            <a:off x="3075086" y="5224462"/>
            <a:ext cx="2447836" cy="495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3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Uganda Christian University</a:t>
            </a:r>
            <a:endParaRPr lang="en-US" sz="1600"/>
          </a:p>
        </p:txBody>
      </p:sp>
      <p:sp>
        <p:nvSpPr>
          <p:cNvPr id="18" name="Shape 15"/>
          <p:cNvSpPr/>
          <p:nvPr/>
        </p:nvSpPr>
        <p:spPr bwMode="auto">
          <a:xfrm>
            <a:off x="5447556" y="512921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fill="norm" stroke="1" extrusionOk="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7C3AED">
              <a:alpha val="20000"/>
            </a:srgbClr>
          </a:solidFill>
          <a:ln/>
        </p:spPr>
      </p:sp>
      <p:sp>
        <p:nvSpPr>
          <p:cNvPr id="19" name="Shape 16"/>
          <p:cNvSpPr/>
          <p:nvPr/>
        </p:nvSpPr>
        <p:spPr bwMode="auto">
          <a:xfrm>
            <a:off x="5603528" y="5272088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 fill="norm" stroke="1" extrusionOk="0">
                <a:moveTo>
                  <a:pt x="42863" y="0"/>
                </a:moveTo>
                <a:cubicBezTo>
                  <a:pt x="36935" y="0"/>
                  <a:pt x="32147" y="4789"/>
                  <a:pt x="32147" y="10716"/>
                </a:cubicBezTo>
                <a:lnTo>
                  <a:pt x="32147" y="21431"/>
                </a:lnTo>
                <a:lnTo>
                  <a:pt x="21431" y="21431"/>
                </a:lnTo>
                <a:cubicBezTo>
                  <a:pt x="9611" y="21431"/>
                  <a:pt x="0" y="31042"/>
                  <a:pt x="0" y="42863"/>
                </a:cubicBezTo>
                <a:lnTo>
                  <a:pt x="0" y="58936"/>
                </a:lnTo>
                <a:lnTo>
                  <a:pt x="150019" y="58936"/>
                </a:lnTo>
                <a:lnTo>
                  <a:pt x="150019" y="42863"/>
                </a:lnTo>
                <a:cubicBezTo>
                  <a:pt x="150019" y="31042"/>
                  <a:pt x="140408" y="21431"/>
                  <a:pt x="128588" y="21431"/>
                </a:cubicBezTo>
                <a:lnTo>
                  <a:pt x="117872" y="21431"/>
                </a:lnTo>
                <a:lnTo>
                  <a:pt x="117872" y="10716"/>
                </a:lnTo>
                <a:cubicBezTo>
                  <a:pt x="117872" y="4789"/>
                  <a:pt x="113083" y="0"/>
                  <a:pt x="107156" y="0"/>
                </a:cubicBezTo>
                <a:cubicBezTo>
                  <a:pt x="101229" y="0"/>
                  <a:pt x="96441" y="4789"/>
                  <a:pt x="96441" y="10716"/>
                </a:cubicBezTo>
                <a:lnTo>
                  <a:pt x="96441" y="21431"/>
                </a:lnTo>
                <a:lnTo>
                  <a:pt x="53578" y="21431"/>
                </a:lnTo>
                <a:lnTo>
                  <a:pt x="53578" y="10716"/>
                </a:lnTo>
                <a:cubicBezTo>
                  <a:pt x="53578" y="4789"/>
                  <a:pt x="48790" y="0"/>
                  <a:pt x="42863" y="0"/>
                </a:cubicBezTo>
                <a:close/>
                <a:moveTo>
                  <a:pt x="0" y="75009"/>
                </a:move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75009"/>
                </a:lnTo>
                <a:lnTo>
                  <a:pt x="0" y="75009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0" name="Text 17"/>
          <p:cNvSpPr/>
          <p:nvPr/>
        </p:nvSpPr>
        <p:spPr bwMode="auto">
          <a:xfrm>
            <a:off x="6019056" y="5129213"/>
            <a:ext cx="83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5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Submission</a:t>
            </a:r>
            <a:endParaRPr lang="en-US" sz="1600"/>
          </a:p>
        </p:txBody>
      </p:sp>
      <p:sp>
        <p:nvSpPr>
          <p:cNvPr id="21" name="Text 18"/>
          <p:cNvSpPr/>
          <p:nvPr/>
        </p:nvSpPr>
        <p:spPr bwMode="auto">
          <a:xfrm>
            <a:off x="6019056" y="5319713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3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April 2026</a:t>
            </a:r>
            <a:endParaRPr lang="en-US" sz="1600"/>
          </a:p>
        </p:txBody>
      </p:sp>
      <p:sp>
        <p:nvSpPr>
          <p:cNvPr id="22" name="Shape 19"/>
          <p:cNvSpPr/>
          <p:nvPr/>
        </p:nvSpPr>
        <p:spPr bwMode="auto">
          <a:xfrm>
            <a:off x="390525" y="62865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 fill="norm" stroke="1" extrusionOk="0">
                <a:moveTo>
                  <a:pt x="14288" y="58281"/>
                </a:moveTo>
                <a:lnTo>
                  <a:pt x="76557" y="83909"/>
                </a:lnTo>
                <a:cubicBezTo>
                  <a:pt x="79474" y="85100"/>
                  <a:pt x="82570" y="85725"/>
                  <a:pt x="85725" y="85725"/>
                </a:cubicBezTo>
                <a:cubicBezTo>
                  <a:pt x="88880" y="85725"/>
                  <a:pt x="91976" y="85100"/>
                  <a:pt x="94893" y="83909"/>
                </a:cubicBezTo>
                <a:lnTo>
                  <a:pt x="167045" y="54203"/>
                </a:lnTo>
                <a:cubicBezTo>
                  <a:pt x="169724" y="53102"/>
                  <a:pt x="171450" y="50512"/>
                  <a:pt x="171450" y="47625"/>
                </a:cubicBezTo>
                <a:cubicBezTo>
                  <a:pt x="171450" y="44738"/>
                  <a:pt x="169724" y="42148"/>
                  <a:pt x="167045" y="41047"/>
                </a:cubicBezTo>
                <a:lnTo>
                  <a:pt x="94893" y="11341"/>
                </a:lnTo>
                <a:cubicBezTo>
                  <a:pt x="91976" y="10150"/>
                  <a:pt x="88880" y="9525"/>
                  <a:pt x="85725" y="9525"/>
                </a:cubicBezTo>
                <a:cubicBezTo>
                  <a:pt x="82570" y="9525"/>
                  <a:pt x="79474" y="10150"/>
                  <a:pt x="76557" y="11341"/>
                </a:cubicBezTo>
                <a:lnTo>
                  <a:pt x="4405" y="41047"/>
                </a:lnTo>
                <a:cubicBezTo>
                  <a:pt x="1726" y="42148"/>
                  <a:pt x="0" y="44738"/>
                  <a:pt x="0" y="47625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cubicBezTo>
                  <a:pt x="11103" y="142875"/>
                  <a:pt x="14288" y="139690"/>
                  <a:pt x="14288" y="135731"/>
                </a:cubicBezTo>
                <a:lnTo>
                  <a:pt x="14288" y="58281"/>
                </a:lnTo>
                <a:close/>
                <a:moveTo>
                  <a:pt x="28575" y="79623"/>
                </a:moveTo>
                <a:lnTo>
                  <a:pt x="28575" y="114300"/>
                </a:lnTo>
                <a:cubicBezTo>
                  <a:pt x="28575" y="130076"/>
                  <a:pt x="54173" y="142875"/>
                  <a:pt x="85725" y="142875"/>
                </a:cubicBezTo>
                <a:cubicBezTo>
                  <a:pt x="117277" y="142875"/>
                  <a:pt x="142875" y="130076"/>
                  <a:pt x="142875" y="114300"/>
                </a:cubicBezTo>
                <a:lnTo>
                  <a:pt x="142875" y="79593"/>
                </a:lnTo>
                <a:lnTo>
                  <a:pt x="100340" y="97125"/>
                </a:lnTo>
                <a:cubicBezTo>
                  <a:pt x="95696" y="99030"/>
                  <a:pt x="90755" y="100012"/>
                  <a:pt x="85725" y="100012"/>
                </a:cubicBezTo>
                <a:cubicBezTo>
                  <a:pt x="80695" y="100012"/>
                  <a:pt x="75754" y="99030"/>
                  <a:pt x="71110" y="97125"/>
                </a:cubicBezTo>
                <a:lnTo>
                  <a:pt x="28575" y="79593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3" name="Text 20"/>
          <p:cNvSpPr/>
          <p:nvPr/>
        </p:nvSpPr>
        <p:spPr bwMode="auto">
          <a:xfrm flipH="0" flipV="0">
            <a:off x="685799" y="6248399"/>
            <a:ext cx="6322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Bachelor of Science in Data Science | Faculty of Engineering, Design and Technology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2">
    <p:bg>
      <p:bgPr shadeToTitle="0">
        <a:solidFill>
          <a:srgbClr val="1A0F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370578" y="389106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 fill="norm" stroke="1" extrusionOk="0">
                <a:moveTo>
                  <a:pt x="111175" y="0"/>
                </a:moveTo>
                <a:lnTo>
                  <a:pt x="407633" y="0"/>
                </a:lnTo>
                <a:cubicBezTo>
                  <a:pt x="469034" y="0"/>
                  <a:pt x="518809" y="49775"/>
                  <a:pt x="518809" y="111175"/>
                </a:cubicBezTo>
                <a:lnTo>
                  <a:pt x="518809" y="407633"/>
                </a:lnTo>
                <a:cubicBezTo>
                  <a:pt x="518809" y="469034"/>
                  <a:pt x="469034" y="518809"/>
                  <a:pt x="407633" y="518809"/>
                </a:cubicBezTo>
                <a:lnTo>
                  <a:pt x="111175" y="518809"/>
                </a:lnTo>
                <a:cubicBezTo>
                  <a:pt x="49816" y="518809"/>
                  <a:pt x="0" y="468992"/>
                  <a:pt x="0" y="407633"/>
                </a:cubicBezTo>
                <a:lnTo>
                  <a:pt x="0" y="111175"/>
                </a:lnTo>
                <a:cubicBezTo>
                  <a:pt x="0" y="49816"/>
                  <a:pt x="49816" y="0"/>
                  <a:pt x="111175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 bwMode="auto">
          <a:xfrm>
            <a:off x="546602" y="537337"/>
            <a:ext cx="166760" cy="222347"/>
          </a:xfrm>
          <a:custGeom>
            <a:avLst/>
            <a:gdLst/>
            <a:ahLst/>
            <a:cxnLst/>
            <a:rect l="l" t="t" r="r" b="b"/>
            <a:pathLst>
              <a:path w="166760" h="222347" fill="norm" stroke="1" extrusionOk="0">
                <a:moveTo>
                  <a:pt x="0" y="27793"/>
                </a:moveTo>
                <a:cubicBezTo>
                  <a:pt x="0" y="12464"/>
                  <a:pt x="12464" y="0"/>
                  <a:pt x="27793" y="0"/>
                </a:cubicBezTo>
                <a:lnTo>
                  <a:pt x="92717" y="0"/>
                </a:lnTo>
                <a:cubicBezTo>
                  <a:pt x="100099" y="0"/>
                  <a:pt x="107178" y="2910"/>
                  <a:pt x="112389" y="8121"/>
                </a:cubicBezTo>
                <a:lnTo>
                  <a:pt x="158639" y="54414"/>
                </a:lnTo>
                <a:cubicBezTo>
                  <a:pt x="163850" y="59625"/>
                  <a:pt x="166760" y="66704"/>
                  <a:pt x="166760" y="74087"/>
                </a:cubicBezTo>
                <a:lnTo>
                  <a:pt x="166760" y="194553"/>
                </a:lnTo>
                <a:cubicBezTo>
                  <a:pt x="166760" y="209883"/>
                  <a:pt x="154296" y="222347"/>
                  <a:pt x="138967" y="222347"/>
                </a:cubicBezTo>
                <a:lnTo>
                  <a:pt x="27793" y="222347"/>
                </a:lnTo>
                <a:cubicBezTo>
                  <a:pt x="12464" y="222347"/>
                  <a:pt x="0" y="209883"/>
                  <a:pt x="0" y="194553"/>
                </a:cubicBezTo>
                <a:lnTo>
                  <a:pt x="0" y="27793"/>
                </a:lnTo>
                <a:close/>
                <a:moveTo>
                  <a:pt x="90328" y="25405"/>
                </a:moveTo>
                <a:lnTo>
                  <a:pt x="90328" y="66009"/>
                </a:lnTo>
                <a:cubicBezTo>
                  <a:pt x="90328" y="71785"/>
                  <a:pt x="94975" y="76432"/>
                  <a:pt x="100751" y="76432"/>
                </a:cubicBezTo>
                <a:lnTo>
                  <a:pt x="141355" y="76432"/>
                </a:lnTo>
                <a:lnTo>
                  <a:pt x="90328" y="25405"/>
                </a:lnTo>
                <a:close/>
                <a:moveTo>
                  <a:pt x="52112" y="111173"/>
                </a:moveTo>
                <a:cubicBezTo>
                  <a:pt x="46337" y="111173"/>
                  <a:pt x="41690" y="115820"/>
                  <a:pt x="41690" y="121596"/>
                </a:cubicBezTo>
                <a:cubicBezTo>
                  <a:pt x="41690" y="127372"/>
                  <a:pt x="46337" y="132018"/>
                  <a:pt x="52112" y="132018"/>
                </a:cubicBezTo>
                <a:lnTo>
                  <a:pt x="114647" y="132018"/>
                </a:lnTo>
                <a:cubicBezTo>
                  <a:pt x="120423" y="132018"/>
                  <a:pt x="125070" y="127372"/>
                  <a:pt x="125070" y="121596"/>
                </a:cubicBezTo>
                <a:cubicBezTo>
                  <a:pt x="125070" y="115820"/>
                  <a:pt x="120423" y="111173"/>
                  <a:pt x="114647" y="111173"/>
                </a:cubicBezTo>
                <a:lnTo>
                  <a:pt x="52112" y="111173"/>
                </a:lnTo>
                <a:close/>
                <a:moveTo>
                  <a:pt x="52112" y="152863"/>
                </a:moveTo>
                <a:cubicBezTo>
                  <a:pt x="46337" y="152863"/>
                  <a:pt x="41690" y="157510"/>
                  <a:pt x="41690" y="163286"/>
                </a:cubicBezTo>
                <a:cubicBezTo>
                  <a:pt x="41690" y="169062"/>
                  <a:pt x="46337" y="173708"/>
                  <a:pt x="52112" y="173708"/>
                </a:cubicBezTo>
                <a:lnTo>
                  <a:pt x="114647" y="173708"/>
                </a:lnTo>
                <a:cubicBezTo>
                  <a:pt x="120423" y="173708"/>
                  <a:pt x="125070" y="169062"/>
                  <a:pt x="125070" y="163286"/>
                </a:cubicBezTo>
                <a:cubicBezTo>
                  <a:pt x="125070" y="157510"/>
                  <a:pt x="120423" y="152863"/>
                  <a:pt x="114647" y="152863"/>
                </a:cubicBezTo>
                <a:lnTo>
                  <a:pt x="52112" y="15286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 bwMode="auto">
          <a:xfrm flipH="0" flipV="0">
            <a:off x="1037616" y="370577"/>
            <a:ext cx="5172015" cy="444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50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Executive Summary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 bwMode="auto">
          <a:xfrm>
            <a:off x="1037617" y="889386"/>
            <a:ext cx="1185848" cy="37058"/>
          </a:xfrm>
          <a:custGeom>
            <a:avLst/>
            <a:gdLst/>
            <a:ahLst/>
            <a:cxnLst/>
            <a:rect l="l" t="t" r="r" b="b"/>
            <a:pathLst>
              <a:path w="1185848" h="37058" fill="norm" stroke="1" extrusionOk="0">
                <a:moveTo>
                  <a:pt x="18529" y="0"/>
                </a:moveTo>
                <a:lnTo>
                  <a:pt x="1167319" y="0"/>
                </a:lnTo>
                <a:cubicBezTo>
                  <a:pt x="1177552" y="0"/>
                  <a:pt x="1185848" y="8296"/>
                  <a:pt x="1185848" y="18529"/>
                </a:cubicBezTo>
                <a:lnTo>
                  <a:pt x="1185848" y="18529"/>
                </a:lnTo>
                <a:cubicBezTo>
                  <a:pt x="1185848" y="28762"/>
                  <a:pt x="1177552" y="37058"/>
                  <a:pt x="1167319" y="37058"/>
                </a:cubicBezTo>
                <a:lnTo>
                  <a:pt x="18529" y="37058"/>
                </a:lnTo>
                <a:cubicBezTo>
                  <a:pt x="8296" y="37058"/>
                  <a:pt x="0" y="28762"/>
                  <a:pt x="0" y="18529"/>
                </a:cubicBezTo>
                <a:lnTo>
                  <a:pt x="0" y="18529"/>
                </a:lnTo>
                <a:cubicBezTo>
                  <a:pt x="0" y="8296"/>
                  <a:pt x="8296" y="0"/>
                  <a:pt x="18529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 bwMode="auto">
          <a:xfrm>
            <a:off x="375210" y="1153421"/>
            <a:ext cx="5604985" cy="3715040"/>
          </a:xfrm>
          <a:custGeom>
            <a:avLst/>
            <a:gdLst/>
            <a:ahLst/>
            <a:cxnLst/>
            <a:rect l="l" t="t" r="r" b="b"/>
            <a:pathLst>
              <a:path w="5604985" h="3715040" fill="norm" stroke="1" extrusionOk="0">
                <a:moveTo>
                  <a:pt x="148230" y="0"/>
                </a:moveTo>
                <a:lnTo>
                  <a:pt x="5456755" y="0"/>
                </a:lnTo>
                <a:cubicBezTo>
                  <a:pt x="5538620" y="0"/>
                  <a:pt x="5604985" y="66365"/>
                  <a:pt x="5604985" y="148230"/>
                </a:cubicBezTo>
                <a:lnTo>
                  <a:pt x="5604985" y="3566809"/>
                </a:lnTo>
                <a:cubicBezTo>
                  <a:pt x="5604985" y="3648675"/>
                  <a:pt x="5538620" y="3715040"/>
                  <a:pt x="5456755" y="3715040"/>
                </a:cubicBezTo>
                <a:lnTo>
                  <a:pt x="148230" y="3715040"/>
                </a:lnTo>
                <a:cubicBezTo>
                  <a:pt x="66365" y="3715040"/>
                  <a:pt x="0" y="3648675"/>
                  <a:pt x="0" y="3566809"/>
                </a:cubicBezTo>
                <a:lnTo>
                  <a:pt x="0" y="148230"/>
                </a:lnTo>
                <a:cubicBezTo>
                  <a:pt x="0" y="66420"/>
                  <a:pt x="66420" y="0"/>
                  <a:pt x="148230" y="0"/>
                </a:cubicBezTo>
                <a:close/>
              </a:path>
            </a:pathLst>
          </a:custGeom>
          <a:solidFill>
            <a:srgbClr val="4C1D95">
              <a:alpha val="30194"/>
            </a:srgbClr>
          </a:solidFill>
          <a:ln w="12700">
            <a:solidFill>
              <a:srgbClr val="7C3AED">
                <a:alpha val="30194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 bwMode="auto">
          <a:xfrm>
            <a:off x="602188" y="1380401"/>
            <a:ext cx="370578" cy="370578"/>
          </a:xfrm>
          <a:custGeom>
            <a:avLst/>
            <a:gdLst/>
            <a:ahLst/>
            <a:cxnLst/>
            <a:rect l="l" t="t" r="r" b="b"/>
            <a:pathLst>
              <a:path w="370578" h="370578" fill="norm" stroke="1" extrusionOk="0">
                <a:moveTo>
                  <a:pt x="74116" y="0"/>
                </a:moveTo>
                <a:lnTo>
                  <a:pt x="296462" y="0"/>
                </a:lnTo>
                <a:cubicBezTo>
                  <a:pt x="337395" y="0"/>
                  <a:pt x="370578" y="33183"/>
                  <a:pt x="370578" y="74116"/>
                </a:cubicBezTo>
                <a:lnTo>
                  <a:pt x="370578" y="296462"/>
                </a:lnTo>
                <a:cubicBezTo>
                  <a:pt x="370578" y="337395"/>
                  <a:pt x="337395" y="370578"/>
                  <a:pt x="296462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8" name="Shape 6"/>
          <p:cNvSpPr/>
          <p:nvPr/>
        </p:nvSpPr>
        <p:spPr bwMode="auto">
          <a:xfrm>
            <a:off x="713362" y="1491574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 fill="norm" stroke="1" extrusionOk="0">
                <a:moveTo>
                  <a:pt x="129702" y="74116"/>
                </a:moveTo>
                <a:cubicBezTo>
                  <a:pt x="129702" y="43436"/>
                  <a:pt x="104795" y="18529"/>
                  <a:pt x="74116" y="18529"/>
                </a:cubicBezTo>
                <a:cubicBezTo>
                  <a:pt x="43436" y="18529"/>
                  <a:pt x="18529" y="43436"/>
                  <a:pt x="18529" y="74116"/>
                </a:cubicBezTo>
                <a:cubicBezTo>
                  <a:pt x="18529" y="104795"/>
                  <a:pt x="43436" y="129702"/>
                  <a:pt x="74116" y="129702"/>
                </a:cubicBezTo>
                <a:cubicBezTo>
                  <a:pt x="104795" y="129702"/>
                  <a:pt x="129702" y="104795"/>
                  <a:pt x="129702" y="74116"/>
                </a:cubicBezTo>
                <a:close/>
                <a:moveTo>
                  <a:pt x="0" y="74116"/>
                </a:moveTo>
                <a:cubicBezTo>
                  <a:pt x="0" y="33210"/>
                  <a:pt x="33210" y="0"/>
                  <a:pt x="74116" y="0"/>
                </a:cubicBezTo>
                <a:cubicBezTo>
                  <a:pt x="115021" y="0"/>
                  <a:pt x="148231" y="33210"/>
                  <a:pt x="148231" y="74116"/>
                </a:cubicBezTo>
                <a:cubicBezTo>
                  <a:pt x="148231" y="115021"/>
                  <a:pt x="115021" y="148231"/>
                  <a:pt x="74116" y="148231"/>
                </a:cubicBezTo>
                <a:cubicBezTo>
                  <a:pt x="33210" y="148231"/>
                  <a:pt x="0" y="115021"/>
                  <a:pt x="0" y="74116"/>
                </a:cubicBezTo>
                <a:close/>
                <a:moveTo>
                  <a:pt x="74116" y="97277"/>
                </a:moveTo>
                <a:cubicBezTo>
                  <a:pt x="86898" y="97277"/>
                  <a:pt x="97277" y="86898"/>
                  <a:pt x="97277" y="74116"/>
                </a:cubicBezTo>
                <a:cubicBezTo>
                  <a:pt x="97277" y="61333"/>
                  <a:pt x="86898" y="50954"/>
                  <a:pt x="74116" y="50954"/>
                </a:cubicBezTo>
                <a:cubicBezTo>
                  <a:pt x="61333" y="50954"/>
                  <a:pt x="50954" y="61333"/>
                  <a:pt x="50954" y="74116"/>
                </a:cubicBezTo>
                <a:cubicBezTo>
                  <a:pt x="50954" y="86898"/>
                  <a:pt x="61333" y="97277"/>
                  <a:pt x="74116" y="97277"/>
                </a:cubicBezTo>
                <a:close/>
                <a:moveTo>
                  <a:pt x="74116" y="32426"/>
                </a:moveTo>
                <a:cubicBezTo>
                  <a:pt x="97125" y="32426"/>
                  <a:pt x="115805" y="51106"/>
                  <a:pt x="115805" y="74116"/>
                </a:cubicBezTo>
                <a:cubicBezTo>
                  <a:pt x="115805" y="97125"/>
                  <a:pt x="97125" y="115805"/>
                  <a:pt x="74116" y="115805"/>
                </a:cubicBezTo>
                <a:cubicBezTo>
                  <a:pt x="51106" y="115805"/>
                  <a:pt x="32426" y="97125"/>
                  <a:pt x="32426" y="74116"/>
                </a:cubicBezTo>
                <a:cubicBezTo>
                  <a:pt x="32426" y="51106"/>
                  <a:pt x="51106" y="32426"/>
                  <a:pt x="74116" y="32426"/>
                </a:cubicBezTo>
                <a:close/>
                <a:moveTo>
                  <a:pt x="64851" y="74116"/>
                </a:moveTo>
                <a:cubicBezTo>
                  <a:pt x="64851" y="69002"/>
                  <a:pt x="69002" y="64851"/>
                  <a:pt x="74116" y="64851"/>
                </a:cubicBezTo>
                <a:cubicBezTo>
                  <a:pt x="79229" y="64851"/>
                  <a:pt x="83380" y="69002"/>
                  <a:pt x="83380" y="74116"/>
                </a:cubicBezTo>
                <a:cubicBezTo>
                  <a:pt x="83380" y="79229"/>
                  <a:pt x="79229" y="83380"/>
                  <a:pt x="74116" y="83380"/>
                </a:cubicBezTo>
                <a:cubicBezTo>
                  <a:pt x="69002" y="83380"/>
                  <a:pt x="64851" y="79229"/>
                  <a:pt x="64851" y="74116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 bwMode="auto">
          <a:xfrm flipH="0" flipV="0">
            <a:off x="1083938" y="1417458"/>
            <a:ext cx="3325043" cy="296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75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What is SkyPipe?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 bwMode="auto">
          <a:xfrm>
            <a:off x="602188" y="1899210"/>
            <a:ext cx="5225143" cy="48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15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A </a:t>
            </a:r>
            <a:r>
              <a:rPr lang="en-US" sz="115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complete distributed data processing pipeline</a:t>
            </a:r>
            <a:r>
              <a:rPr lang="en-US" sz="115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built to handle large and varied datasets efficiently. The system follows a clear </a:t>
            </a:r>
            <a:r>
              <a:rPr lang="en-US" sz="115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three stage flow</a:t>
            </a:r>
            <a:r>
              <a:rPr lang="en-US" sz="115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: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 bwMode="auto">
          <a:xfrm>
            <a:off x="602188" y="2529191"/>
            <a:ext cx="5151027" cy="629982"/>
          </a:xfrm>
          <a:custGeom>
            <a:avLst/>
            <a:gdLst/>
            <a:ahLst/>
            <a:cxnLst/>
            <a:rect l="l" t="t" r="r" b="b"/>
            <a:pathLst>
              <a:path w="5151027" h="629982" fill="norm" stroke="1" extrusionOk="0">
                <a:moveTo>
                  <a:pt x="74117" y="0"/>
                </a:moveTo>
                <a:lnTo>
                  <a:pt x="5076910" y="0"/>
                </a:lnTo>
                <a:cubicBezTo>
                  <a:pt x="5117844" y="0"/>
                  <a:pt x="5151027" y="33183"/>
                  <a:pt x="5151027" y="74117"/>
                </a:cubicBezTo>
                <a:lnTo>
                  <a:pt x="5151027" y="555864"/>
                </a:lnTo>
                <a:cubicBezTo>
                  <a:pt x="5151027" y="596798"/>
                  <a:pt x="5117844" y="629982"/>
                  <a:pt x="5076910" y="629982"/>
                </a:cubicBezTo>
                <a:lnTo>
                  <a:pt x="74117" y="629982"/>
                </a:lnTo>
                <a:cubicBezTo>
                  <a:pt x="33183" y="629982"/>
                  <a:pt x="0" y="596798"/>
                  <a:pt x="0" y="555864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 bwMode="auto">
          <a:xfrm>
            <a:off x="713362" y="2640365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 fill="norm" stroke="1" extrusionOk="0">
                <a:moveTo>
                  <a:pt x="148231" y="0"/>
                </a:moveTo>
                <a:lnTo>
                  <a:pt x="148231" y="0"/>
                </a:lnTo>
                <a:cubicBezTo>
                  <a:pt x="230097" y="0"/>
                  <a:pt x="296462" y="66365"/>
                  <a:pt x="296462" y="148231"/>
                </a:cubicBezTo>
                <a:lnTo>
                  <a:pt x="296462" y="148231"/>
                </a:lnTo>
                <a:cubicBezTo>
                  <a:pt x="296462" y="230097"/>
                  <a:pt x="230097" y="296462"/>
                  <a:pt x="148231" y="296462"/>
                </a:cubicBezTo>
                <a:lnTo>
                  <a:pt x="148231" y="296462"/>
                </a:lnTo>
                <a:cubicBezTo>
                  <a:pt x="66365" y="296462"/>
                  <a:pt x="0" y="230097"/>
                  <a:pt x="0" y="148231"/>
                </a:cubicBezTo>
                <a:lnTo>
                  <a:pt x="0" y="148231"/>
                </a:lnTo>
                <a:cubicBezTo>
                  <a:pt x="0" y="66365"/>
                  <a:pt x="66365" y="0"/>
                  <a:pt x="148231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 bwMode="auto">
          <a:xfrm>
            <a:off x="680936" y="2640365"/>
            <a:ext cx="36131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1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 bwMode="auto">
          <a:xfrm>
            <a:off x="1120997" y="2640365"/>
            <a:ext cx="2084498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Input Stage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 bwMode="auto">
          <a:xfrm>
            <a:off x="1120997" y="2862711"/>
            <a:ext cx="2075234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Upload data via clean web interface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 bwMode="auto">
          <a:xfrm>
            <a:off x="602188" y="3270346"/>
            <a:ext cx="5151027" cy="629982"/>
          </a:xfrm>
          <a:custGeom>
            <a:avLst/>
            <a:gdLst/>
            <a:ahLst/>
            <a:cxnLst/>
            <a:rect l="l" t="t" r="r" b="b"/>
            <a:pathLst>
              <a:path w="5151027" h="629982" fill="norm" stroke="1" extrusionOk="0">
                <a:moveTo>
                  <a:pt x="74117" y="0"/>
                </a:moveTo>
                <a:lnTo>
                  <a:pt x="5076910" y="0"/>
                </a:lnTo>
                <a:cubicBezTo>
                  <a:pt x="5117844" y="0"/>
                  <a:pt x="5151027" y="33183"/>
                  <a:pt x="5151027" y="74117"/>
                </a:cubicBezTo>
                <a:lnTo>
                  <a:pt x="5151027" y="555864"/>
                </a:lnTo>
                <a:cubicBezTo>
                  <a:pt x="5151027" y="596798"/>
                  <a:pt x="5117844" y="629982"/>
                  <a:pt x="5076910" y="629982"/>
                </a:cubicBezTo>
                <a:lnTo>
                  <a:pt x="74117" y="629982"/>
                </a:lnTo>
                <a:cubicBezTo>
                  <a:pt x="33183" y="629982"/>
                  <a:pt x="0" y="596798"/>
                  <a:pt x="0" y="555864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 bwMode="auto">
          <a:xfrm>
            <a:off x="713362" y="3381520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 fill="norm" stroke="1" extrusionOk="0">
                <a:moveTo>
                  <a:pt x="148231" y="0"/>
                </a:moveTo>
                <a:lnTo>
                  <a:pt x="148231" y="0"/>
                </a:lnTo>
                <a:cubicBezTo>
                  <a:pt x="230097" y="0"/>
                  <a:pt x="296462" y="66365"/>
                  <a:pt x="296462" y="148231"/>
                </a:cubicBezTo>
                <a:lnTo>
                  <a:pt x="296462" y="148231"/>
                </a:lnTo>
                <a:cubicBezTo>
                  <a:pt x="296462" y="230097"/>
                  <a:pt x="230097" y="296462"/>
                  <a:pt x="148231" y="296462"/>
                </a:cubicBezTo>
                <a:lnTo>
                  <a:pt x="148231" y="296462"/>
                </a:lnTo>
                <a:cubicBezTo>
                  <a:pt x="66365" y="296462"/>
                  <a:pt x="0" y="230097"/>
                  <a:pt x="0" y="148231"/>
                </a:cubicBezTo>
                <a:lnTo>
                  <a:pt x="0" y="148231"/>
                </a:lnTo>
                <a:cubicBezTo>
                  <a:pt x="0" y="66365"/>
                  <a:pt x="66365" y="0"/>
                  <a:pt x="148231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18" name="Text 16"/>
          <p:cNvSpPr/>
          <p:nvPr/>
        </p:nvSpPr>
        <p:spPr bwMode="auto">
          <a:xfrm>
            <a:off x="680936" y="3381520"/>
            <a:ext cx="36131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2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 bwMode="auto">
          <a:xfrm>
            <a:off x="1120997" y="3381520"/>
            <a:ext cx="2038176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Processing Stage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 bwMode="auto">
          <a:xfrm>
            <a:off x="1120997" y="3603866"/>
            <a:ext cx="2028912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Parallel analysis with Apache Spark</a:t>
            </a:r>
            <a:endParaRPr lang="en-US" sz="1600"/>
          </a:p>
        </p:txBody>
      </p:sp>
      <p:sp>
        <p:nvSpPr>
          <p:cNvPr id="21" name="Shape 19"/>
          <p:cNvSpPr/>
          <p:nvPr/>
        </p:nvSpPr>
        <p:spPr bwMode="auto">
          <a:xfrm>
            <a:off x="602188" y="4011502"/>
            <a:ext cx="5151027" cy="629982"/>
          </a:xfrm>
          <a:custGeom>
            <a:avLst/>
            <a:gdLst/>
            <a:ahLst/>
            <a:cxnLst/>
            <a:rect l="l" t="t" r="r" b="b"/>
            <a:pathLst>
              <a:path w="5151027" h="629982" fill="norm" stroke="1" extrusionOk="0">
                <a:moveTo>
                  <a:pt x="74117" y="0"/>
                </a:moveTo>
                <a:lnTo>
                  <a:pt x="5076910" y="0"/>
                </a:lnTo>
                <a:cubicBezTo>
                  <a:pt x="5117844" y="0"/>
                  <a:pt x="5151027" y="33183"/>
                  <a:pt x="5151027" y="74117"/>
                </a:cubicBezTo>
                <a:lnTo>
                  <a:pt x="5151027" y="555864"/>
                </a:lnTo>
                <a:cubicBezTo>
                  <a:pt x="5151027" y="596798"/>
                  <a:pt x="5117844" y="629982"/>
                  <a:pt x="5076910" y="629982"/>
                </a:cubicBezTo>
                <a:lnTo>
                  <a:pt x="74117" y="629982"/>
                </a:lnTo>
                <a:cubicBezTo>
                  <a:pt x="33183" y="629982"/>
                  <a:pt x="0" y="596798"/>
                  <a:pt x="0" y="555864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22" name="Shape 20"/>
          <p:cNvSpPr/>
          <p:nvPr/>
        </p:nvSpPr>
        <p:spPr bwMode="auto">
          <a:xfrm>
            <a:off x="713362" y="4122675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 fill="norm" stroke="1" extrusionOk="0">
                <a:moveTo>
                  <a:pt x="148231" y="0"/>
                </a:moveTo>
                <a:lnTo>
                  <a:pt x="148231" y="0"/>
                </a:lnTo>
                <a:cubicBezTo>
                  <a:pt x="230097" y="0"/>
                  <a:pt x="296462" y="66365"/>
                  <a:pt x="296462" y="148231"/>
                </a:cubicBezTo>
                <a:lnTo>
                  <a:pt x="296462" y="148231"/>
                </a:lnTo>
                <a:cubicBezTo>
                  <a:pt x="296462" y="230097"/>
                  <a:pt x="230097" y="296462"/>
                  <a:pt x="148231" y="296462"/>
                </a:cubicBezTo>
                <a:lnTo>
                  <a:pt x="148231" y="296462"/>
                </a:lnTo>
                <a:cubicBezTo>
                  <a:pt x="66365" y="296462"/>
                  <a:pt x="0" y="230097"/>
                  <a:pt x="0" y="148231"/>
                </a:cubicBezTo>
                <a:lnTo>
                  <a:pt x="0" y="148231"/>
                </a:lnTo>
                <a:cubicBezTo>
                  <a:pt x="0" y="66365"/>
                  <a:pt x="66365" y="0"/>
                  <a:pt x="148231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 bwMode="auto">
          <a:xfrm>
            <a:off x="680936" y="4122675"/>
            <a:ext cx="36131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3</a:t>
            </a:r>
            <a:endParaRPr lang="en-US" sz="1600"/>
          </a:p>
        </p:txBody>
      </p:sp>
      <p:sp>
        <p:nvSpPr>
          <p:cNvPr id="24" name="Text 22"/>
          <p:cNvSpPr/>
          <p:nvPr/>
        </p:nvSpPr>
        <p:spPr bwMode="auto">
          <a:xfrm>
            <a:off x="1120997" y="4122675"/>
            <a:ext cx="2038176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Results Store Stage</a:t>
            </a:r>
            <a:endParaRPr lang="en-US" sz="1600"/>
          </a:p>
        </p:txBody>
      </p:sp>
      <p:sp>
        <p:nvSpPr>
          <p:cNvPr id="25" name="Text 23"/>
          <p:cNvSpPr/>
          <p:nvPr/>
        </p:nvSpPr>
        <p:spPr bwMode="auto">
          <a:xfrm>
            <a:off x="1120997" y="4345021"/>
            <a:ext cx="2028912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Structured warehouse organization</a:t>
            </a:r>
            <a:endParaRPr lang="en-US" sz="1600"/>
          </a:p>
        </p:txBody>
      </p:sp>
      <p:sp>
        <p:nvSpPr>
          <p:cNvPr id="26" name="Shape 24"/>
          <p:cNvSpPr/>
          <p:nvPr/>
        </p:nvSpPr>
        <p:spPr bwMode="auto">
          <a:xfrm>
            <a:off x="375210" y="5063015"/>
            <a:ext cx="5604985" cy="1788036"/>
          </a:xfrm>
          <a:custGeom>
            <a:avLst/>
            <a:gdLst/>
            <a:ahLst/>
            <a:cxnLst/>
            <a:rect l="l" t="t" r="r" b="b"/>
            <a:pathLst>
              <a:path w="5604985" h="1788036" fill="norm" stroke="1" extrusionOk="0">
                <a:moveTo>
                  <a:pt x="148228" y="0"/>
                </a:moveTo>
                <a:lnTo>
                  <a:pt x="5456757" y="0"/>
                </a:lnTo>
                <a:cubicBezTo>
                  <a:pt x="5538621" y="0"/>
                  <a:pt x="5604985" y="66364"/>
                  <a:pt x="5604985" y="148228"/>
                </a:cubicBezTo>
                <a:lnTo>
                  <a:pt x="5604985" y="1639808"/>
                </a:lnTo>
                <a:cubicBezTo>
                  <a:pt x="5604985" y="1721672"/>
                  <a:pt x="5538621" y="1788036"/>
                  <a:pt x="5456757" y="1788036"/>
                </a:cubicBezTo>
                <a:lnTo>
                  <a:pt x="148228" y="1788036"/>
                </a:lnTo>
                <a:cubicBezTo>
                  <a:pt x="66364" y="1788036"/>
                  <a:pt x="0" y="1721672"/>
                  <a:pt x="0" y="1639808"/>
                </a:cubicBezTo>
                <a:lnTo>
                  <a:pt x="0" y="148228"/>
                </a:lnTo>
                <a:cubicBezTo>
                  <a:pt x="0" y="66419"/>
                  <a:pt x="66419" y="0"/>
                  <a:pt x="148228" y="0"/>
                </a:cubicBezTo>
                <a:close/>
              </a:path>
            </a:pathLst>
          </a:custGeom>
          <a:solidFill>
            <a:srgbClr val="4C1D95">
              <a:alpha val="30194"/>
            </a:srgbClr>
          </a:solidFill>
          <a:ln w="12700">
            <a:solidFill>
              <a:srgbClr val="7C3AED">
                <a:alpha val="30194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 bwMode="auto">
          <a:xfrm>
            <a:off x="565131" y="5252936"/>
            <a:ext cx="370578" cy="370578"/>
          </a:xfrm>
          <a:custGeom>
            <a:avLst/>
            <a:gdLst/>
            <a:ahLst/>
            <a:cxnLst/>
            <a:rect l="l" t="t" r="r" b="b"/>
            <a:pathLst>
              <a:path w="370578" h="370578" fill="norm" stroke="1" extrusionOk="0">
                <a:moveTo>
                  <a:pt x="74116" y="0"/>
                </a:moveTo>
                <a:lnTo>
                  <a:pt x="296462" y="0"/>
                </a:lnTo>
                <a:cubicBezTo>
                  <a:pt x="337395" y="0"/>
                  <a:pt x="370578" y="33183"/>
                  <a:pt x="370578" y="74116"/>
                </a:cubicBezTo>
                <a:lnTo>
                  <a:pt x="370578" y="296462"/>
                </a:lnTo>
                <a:cubicBezTo>
                  <a:pt x="370578" y="337395"/>
                  <a:pt x="337395" y="370578"/>
                  <a:pt x="296462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/>
        </p:spPr>
      </p:sp>
      <p:sp>
        <p:nvSpPr>
          <p:cNvPr id="28" name="Shape 26"/>
          <p:cNvSpPr/>
          <p:nvPr/>
        </p:nvSpPr>
        <p:spPr bwMode="auto">
          <a:xfrm>
            <a:off x="676304" y="5364109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 fill="norm" stroke="1" extrusionOk="0">
                <a:moveTo>
                  <a:pt x="74116" y="0"/>
                </a:moveTo>
                <a:cubicBezTo>
                  <a:pt x="75447" y="0"/>
                  <a:pt x="76779" y="290"/>
                  <a:pt x="77995" y="840"/>
                </a:cubicBezTo>
                <a:lnTo>
                  <a:pt x="132539" y="23972"/>
                </a:lnTo>
                <a:cubicBezTo>
                  <a:pt x="138909" y="26664"/>
                  <a:pt x="143657" y="32947"/>
                  <a:pt x="143628" y="40532"/>
                </a:cubicBezTo>
                <a:cubicBezTo>
                  <a:pt x="143483" y="69252"/>
                  <a:pt x="131671" y="121798"/>
                  <a:pt x="81788" y="145683"/>
                </a:cubicBezTo>
                <a:cubicBezTo>
                  <a:pt x="76953" y="147999"/>
                  <a:pt x="71336" y="147999"/>
                  <a:pt x="66501" y="145683"/>
                </a:cubicBezTo>
                <a:cubicBezTo>
                  <a:pt x="16589" y="121798"/>
                  <a:pt x="4806" y="69252"/>
                  <a:pt x="4661" y="40532"/>
                </a:cubicBezTo>
                <a:cubicBezTo>
                  <a:pt x="4632" y="32947"/>
                  <a:pt x="9380" y="26664"/>
                  <a:pt x="15750" y="23972"/>
                </a:cubicBezTo>
                <a:lnTo>
                  <a:pt x="70265" y="840"/>
                </a:lnTo>
                <a:cubicBezTo>
                  <a:pt x="71481" y="290"/>
                  <a:pt x="72784" y="0"/>
                  <a:pt x="74116" y="0"/>
                </a:cubicBezTo>
                <a:close/>
                <a:moveTo>
                  <a:pt x="74116" y="19340"/>
                </a:moveTo>
                <a:lnTo>
                  <a:pt x="74116" y="128805"/>
                </a:lnTo>
                <a:cubicBezTo>
                  <a:pt x="114068" y="109465"/>
                  <a:pt x="124809" y="66617"/>
                  <a:pt x="125070" y="40966"/>
                </a:cubicBezTo>
                <a:lnTo>
                  <a:pt x="74116" y="19368"/>
                </a:lnTo>
                <a:lnTo>
                  <a:pt x="74116" y="19368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29" name="Text 27"/>
          <p:cNvSpPr/>
          <p:nvPr/>
        </p:nvSpPr>
        <p:spPr bwMode="auto">
          <a:xfrm flipH="0" flipV="0">
            <a:off x="1046879" y="5308522"/>
            <a:ext cx="1779983" cy="259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5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Core Principles</a:t>
            </a:r>
            <a:endParaRPr lang="en-US" sz="1600"/>
          </a:p>
        </p:txBody>
      </p:sp>
      <p:sp>
        <p:nvSpPr>
          <p:cNvPr id="30" name="Shape 28"/>
          <p:cNvSpPr/>
          <p:nvPr/>
        </p:nvSpPr>
        <p:spPr bwMode="auto">
          <a:xfrm>
            <a:off x="565131" y="5734687"/>
            <a:ext cx="2556985" cy="407635"/>
          </a:xfrm>
          <a:custGeom>
            <a:avLst/>
            <a:gdLst/>
            <a:ahLst/>
            <a:cxnLst/>
            <a:rect l="l" t="t" r="r" b="b"/>
            <a:pathLst>
              <a:path w="2556985" h="407635" fill="norm" stroke="1" extrusionOk="0">
                <a:moveTo>
                  <a:pt x="74116" y="0"/>
                </a:moveTo>
                <a:lnTo>
                  <a:pt x="2482869" y="0"/>
                </a:lnTo>
                <a:cubicBezTo>
                  <a:pt x="2523802" y="0"/>
                  <a:pt x="2556985" y="33183"/>
                  <a:pt x="2556985" y="74116"/>
                </a:cubicBezTo>
                <a:lnTo>
                  <a:pt x="2556985" y="333519"/>
                </a:lnTo>
                <a:cubicBezTo>
                  <a:pt x="2556985" y="374452"/>
                  <a:pt x="2523802" y="407635"/>
                  <a:pt x="2482869" y="407635"/>
                </a:cubicBezTo>
                <a:lnTo>
                  <a:pt x="74116" y="407635"/>
                </a:lnTo>
                <a:cubicBezTo>
                  <a:pt x="33210" y="407635"/>
                  <a:pt x="0" y="374425"/>
                  <a:pt x="0" y="333519"/>
                </a:cubicBezTo>
                <a:lnTo>
                  <a:pt x="0" y="74116"/>
                </a:lnTo>
                <a:cubicBezTo>
                  <a:pt x="0" y="33210"/>
                  <a:pt x="33210" y="0"/>
                  <a:pt x="74116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 bwMode="auto">
          <a:xfrm>
            <a:off x="694833" y="5864389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 fill="norm" stroke="1" extrusionOk="0">
                <a:moveTo>
                  <a:pt x="74116" y="148231"/>
                </a:moveTo>
                <a:cubicBezTo>
                  <a:pt x="115021" y="148231"/>
                  <a:pt x="148231" y="115021"/>
                  <a:pt x="148231" y="74116"/>
                </a:cubicBezTo>
                <a:cubicBezTo>
                  <a:pt x="148231" y="33210"/>
                  <a:pt x="115021" y="0"/>
                  <a:pt x="74116" y="0"/>
                </a:cubicBezTo>
                <a:cubicBezTo>
                  <a:pt x="33210" y="0"/>
                  <a:pt x="0" y="33210"/>
                  <a:pt x="0" y="74116"/>
                </a:cubicBezTo>
                <a:cubicBezTo>
                  <a:pt x="0" y="115021"/>
                  <a:pt x="33210" y="148231"/>
                  <a:pt x="74116" y="148231"/>
                </a:cubicBezTo>
                <a:close/>
                <a:moveTo>
                  <a:pt x="98550" y="61580"/>
                </a:moveTo>
                <a:lnTo>
                  <a:pt x="75389" y="98637"/>
                </a:lnTo>
                <a:cubicBezTo>
                  <a:pt x="74173" y="100577"/>
                  <a:pt x="72089" y="101793"/>
                  <a:pt x="69802" y="101909"/>
                </a:cubicBezTo>
                <a:cubicBezTo>
                  <a:pt x="67515" y="102025"/>
                  <a:pt x="65314" y="100982"/>
                  <a:pt x="63954" y="99129"/>
                </a:cubicBezTo>
                <a:lnTo>
                  <a:pt x="50057" y="80601"/>
                </a:lnTo>
                <a:cubicBezTo>
                  <a:pt x="47741" y="77532"/>
                  <a:pt x="48378" y="73189"/>
                  <a:pt x="51447" y="70873"/>
                </a:cubicBezTo>
                <a:cubicBezTo>
                  <a:pt x="54515" y="68557"/>
                  <a:pt x="58858" y="69194"/>
                  <a:pt x="61174" y="72263"/>
                </a:cubicBezTo>
                <a:lnTo>
                  <a:pt x="68991" y="82685"/>
                </a:lnTo>
                <a:lnTo>
                  <a:pt x="86767" y="54226"/>
                </a:lnTo>
                <a:cubicBezTo>
                  <a:pt x="88794" y="50983"/>
                  <a:pt x="93079" y="49970"/>
                  <a:pt x="96350" y="52026"/>
                </a:cubicBezTo>
                <a:cubicBezTo>
                  <a:pt x="99622" y="54081"/>
                  <a:pt x="100606" y="58337"/>
                  <a:pt x="98550" y="61609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 bwMode="auto">
          <a:xfrm>
            <a:off x="935707" y="5845860"/>
            <a:ext cx="1788036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Storage Processing Separation</a:t>
            </a:r>
            <a:endParaRPr lang="en-US" sz="1600"/>
          </a:p>
        </p:txBody>
      </p:sp>
      <p:sp>
        <p:nvSpPr>
          <p:cNvPr id="33" name="Shape 31"/>
          <p:cNvSpPr/>
          <p:nvPr/>
        </p:nvSpPr>
        <p:spPr bwMode="auto">
          <a:xfrm>
            <a:off x="3232131" y="5734687"/>
            <a:ext cx="2556985" cy="407635"/>
          </a:xfrm>
          <a:custGeom>
            <a:avLst/>
            <a:gdLst/>
            <a:ahLst/>
            <a:cxnLst/>
            <a:rect l="l" t="t" r="r" b="b"/>
            <a:pathLst>
              <a:path w="2556985" h="407635" fill="norm" stroke="1" extrusionOk="0">
                <a:moveTo>
                  <a:pt x="74116" y="0"/>
                </a:moveTo>
                <a:lnTo>
                  <a:pt x="2482869" y="0"/>
                </a:lnTo>
                <a:cubicBezTo>
                  <a:pt x="2523802" y="0"/>
                  <a:pt x="2556985" y="33183"/>
                  <a:pt x="2556985" y="74116"/>
                </a:cubicBezTo>
                <a:lnTo>
                  <a:pt x="2556985" y="333519"/>
                </a:lnTo>
                <a:cubicBezTo>
                  <a:pt x="2556985" y="374452"/>
                  <a:pt x="2523802" y="407635"/>
                  <a:pt x="2482869" y="407635"/>
                </a:cubicBezTo>
                <a:lnTo>
                  <a:pt x="74116" y="407635"/>
                </a:lnTo>
                <a:cubicBezTo>
                  <a:pt x="33210" y="407635"/>
                  <a:pt x="0" y="374425"/>
                  <a:pt x="0" y="333519"/>
                </a:cubicBezTo>
                <a:lnTo>
                  <a:pt x="0" y="74116"/>
                </a:lnTo>
                <a:cubicBezTo>
                  <a:pt x="0" y="33210"/>
                  <a:pt x="33210" y="0"/>
                  <a:pt x="74116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34" name="Shape 32"/>
          <p:cNvSpPr/>
          <p:nvPr/>
        </p:nvSpPr>
        <p:spPr bwMode="auto">
          <a:xfrm>
            <a:off x="3361833" y="5864389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 fill="norm" stroke="1" extrusionOk="0">
                <a:moveTo>
                  <a:pt x="74116" y="148231"/>
                </a:moveTo>
                <a:cubicBezTo>
                  <a:pt x="115021" y="148231"/>
                  <a:pt x="148231" y="115021"/>
                  <a:pt x="148231" y="74116"/>
                </a:cubicBezTo>
                <a:cubicBezTo>
                  <a:pt x="148231" y="33210"/>
                  <a:pt x="115021" y="0"/>
                  <a:pt x="74116" y="0"/>
                </a:cubicBezTo>
                <a:cubicBezTo>
                  <a:pt x="33210" y="0"/>
                  <a:pt x="0" y="33210"/>
                  <a:pt x="0" y="74116"/>
                </a:cubicBezTo>
                <a:cubicBezTo>
                  <a:pt x="0" y="115021"/>
                  <a:pt x="33210" y="148231"/>
                  <a:pt x="74116" y="148231"/>
                </a:cubicBezTo>
                <a:close/>
                <a:moveTo>
                  <a:pt x="98550" y="61580"/>
                </a:moveTo>
                <a:lnTo>
                  <a:pt x="75389" y="98637"/>
                </a:lnTo>
                <a:cubicBezTo>
                  <a:pt x="74173" y="100577"/>
                  <a:pt x="72089" y="101793"/>
                  <a:pt x="69802" y="101909"/>
                </a:cubicBezTo>
                <a:cubicBezTo>
                  <a:pt x="67515" y="102025"/>
                  <a:pt x="65314" y="100982"/>
                  <a:pt x="63954" y="99129"/>
                </a:cubicBezTo>
                <a:lnTo>
                  <a:pt x="50057" y="80601"/>
                </a:lnTo>
                <a:cubicBezTo>
                  <a:pt x="47741" y="77532"/>
                  <a:pt x="48378" y="73189"/>
                  <a:pt x="51447" y="70873"/>
                </a:cubicBezTo>
                <a:cubicBezTo>
                  <a:pt x="54515" y="68557"/>
                  <a:pt x="58858" y="69194"/>
                  <a:pt x="61174" y="72263"/>
                </a:cubicBezTo>
                <a:lnTo>
                  <a:pt x="68991" y="82685"/>
                </a:lnTo>
                <a:lnTo>
                  <a:pt x="86767" y="54226"/>
                </a:lnTo>
                <a:cubicBezTo>
                  <a:pt x="88794" y="50983"/>
                  <a:pt x="93079" y="49970"/>
                  <a:pt x="96350" y="52026"/>
                </a:cubicBezTo>
                <a:cubicBezTo>
                  <a:pt x="99622" y="54081"/>
                  <a:pt x="100606" y="58337"/>
                  <a:pt x="98550" y="61609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5" name="Text 33"/>
          <p:cNvSpPr/>
          <p:nvPr/>
        </p:nvSpPr>
        <p:spPr bwMode="auto">
          <a:xfrm>
            <a:off x="3602708" y="5845860"/>
            <a:ext cx="1046881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Parallel Execution</a:t>
            </a:r>
            <a:endParaRPr lang="en-US" sz="1600"/>
          </a:p>
        </p:txBody>
      </p:sp>
      <p:sp>
        <p:nvSpPr>
          <p:cNvPr id="36" name="Shape 34"/>
          <p:cNvSpPr/>
          <p:nvPr/>
        </p:nvSpPr>
        <p:spPr bwMode="auto">
          <a:xfrm>
            <a:off x="565131" y="6253495"/>
            <a:ext cx="2556985" cy="407635"/>
          </a:xfrm>
          <a:custGeom>
            <a:avLst/>
            <a:gdLst/>
            <a:ahLst/>
            <a:cxnLst/>
            <a:rect l="l" t="t" r="r" b="b"/>
            <a:pathLst>
              <a:path w="2556985" h="407635" fill="norm" stroke="1" extrusionOk="0">
                <a:moveTo>
                  <a:pt x="74116" y="0"/>
                </a:moveTo>
                <a:lnTo>
                  <a:pt x="2482869" y="0"/>
                </a:lnTo>
                <a:cubicBezTo>
                  <a:pt x="2523802" y="0"/>
                  <a:pt x="2556985" y="33183"/>
                  <a:pt x="2556985" y="74116"/>
                </a:cubicBezTo>
                <a:lnTo>
                  <a:pt x="2556985" y="333519"/>
                </a:lnTo>
                <a:cubicBezTo>
                  <a:pt x="2556985" y="374452"/>
                  <a:pt x="2523802" y="407635"/>
                  <a:pt x="2482869" y="407635"/>
                </a:cubicBezTo>
                <a:lnTo>
                  <a:pt x="74116" y="407635"/>
                </a:lnTo>
                <a:cubicBezTo>
                  <a:pt x="33210" y="407635"/>
                  <a:pt x="0" y="374425"/>
                  <a:pt x="0" y="333519"/>
                </a:cubicBezTo>
                <a:lnTo>
                  <a:pt x="0" y="74116"/>
                </a:lnTo>
                <a:cubicBezTo>
                  <a:pt x="0" y="33210"/>
                  <a:pt x="33210" y="0"/>
                  <a:pt x="74116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37" name="Shape 35"/>
          <p:cNvSpPr/>
          <p:nvPr/>
        </p:nvSpPr>
        <p:spPr bwMode="auto">
          <a:xfrm>
            <a:off x="694833" y="6383198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 fill="norm" stroke="1" extrusionOk="0">
                <a:moveTo>
                  <a:pt x="74116" y="148231"/>
                </a:moveTo>
                <a:cubicBezTo>
                  <a:pt x="115021" y="148231"/>
                  <a:pt x="148231" y="115021"/>
                  <a:pt x="148231" y="74116"/>
                </a:cubicBezTo>
                <a:cubicBezTo>
                  <a:pt x="148231" y="33210"/>
                  <a:pt x="115021" y="0"/>
                  <a:pt x="74116" y="0"/>
                </a:cubicBezTo>
                <a:cubicBezTo>
                  <a:pt x="33210" y="0"/>
                  <a:pt x="0" y="33210"/>
                  <a:pt x="0" y="74116"/>
                </a:cubicBezTo>
                <a:cubicBezTo>
                  <a:pt x="0" y="115021"/>
                  <a:pt x="33210" y="148231"/>
                  <a:pt x="74116" y="148231"/>
                </a:cubicBezTo>
                <a:close/>
                <a:moveTo>
                  <a:pt x="98550" y="61580"/>
                </a:moveTo>
                <a:lnTo>
                  <a:pt x="75389" y="98637"/>
                </a:lnTo>
                <a:cubicBezTo>
                  <a:pt x="74173" y="100577"/>
                  <a:pt x="72089" y="101793"/>
                  <a:pt x="69802" y="101909"/>
                </a:cubicBezTo>
                <a:cubicBezTo>
                  <a:pt x="67515" y="102025"/>
                  <a:pt x="65314" y="100982"/>
                  <a:pt x="63954" y="99129"/>
                </a:cubicBezTo>
                <a:lnTo>
                  <a:pt x="50057" y="80601"/>
                </a:lnTo>
                <a:cubicBezTo>
                  <a:pt x="47741" y="77532"/>
                  <a:pt x="48378" y="73189"/>
                  <a:pt x="51447" y="70873"/>
                </a:cubicBezTo>
                <a:cubicBezTo>
                  <a:pt x="54515" y="68557"/>
                  <a:pt x="58858" y="69194"/>
                  <a:pt x="61174" y="72263"/>
                </a:cubicBezTo>
                <a:lnTo>
                  <a:pt x="68991" y="82685"/>
                </a:lnTo>
                <a:lnTo>
                  <a:pt x="86767" y="54226"/>
                </a:lnTo>
                <a:cubicBezTo>
                  <a:pt x="88794" y="50983"/>
                  <a:pt x="93079" y="49970"/>
                  <a:pt x="96350" y="52026"/>
                </a:cubicBezTo>
                <a:cubicBezTo>
                  <a:pt x="99622" y="54081"/>
                  <a:pt x="100606" y="58337"/>
                  <a:pt x="98550" y="61609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 bwMode="auto">
          <a:xfrm>
            <a:off x="935707" y="6364669"/>
            <a:ext cx="1315550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Service Independence</a:t>
            </a:r>
            <a:endParaRPr lang="en-US" sz="1600"/>
          </a:p>
        </p:txBody>
      </p:sp>
      <p:sp>
        <p:nvSpPr>
          <p:cNvPr id="39" name="Shape 37"/>
          <p:cNvSpPr/>
          <p:nvPr/>
        </p:nvSpPr>
        <p:spPr bwMode="auto">
          <a:xfrm>
            <a:off x="3232131" y="6253495"/>
            <a:ext cx="2556985" cy="407635"/>
          </a:xfrm>
          <a:custGeom>
            <a:avLst/>
            <a:gdLst/>
            <a:ahLst/>
            <a:cxnLst/>
            <a:rect l="l" t="t" r="r" b="b"/>
            <a:pathLst>
              <a:path w="2556985" h="407635" fill="norm" stroke="1" extrusionOk="0">
                <a:moveTo>
                  <a:pt x="74116" y="0"/>
                </a:moveTo>
                <a:lnTo>
                  <a:pt x="2482869" y="0"/>
                </a:lnTo>
                <a:cubicBezTo>
                  <a:pt x="2523802" y="0"/>
                  <a:pt x="2556985" y="33183"/>
                  <a:pt x="2556985" y="74116"/>
                </a:cubicBezTo>
                <a:lnTo>
                  <a:pt x="2556985" y="333519"/>
                </a:lnTo>
                <a:cubicBezTo>
                  <a:pt x="2556985" y="374452"/>
                  <a:pt x="2523802" y="407635"/>
                  <a:pt x="2482869" y="407635"/>
                </a:cubicBezTo>
                <a:lnTo>
                  <a:pt x="74116" y="407635"/>
                </a:lnTo>
                <a:cubicBezTo>
                  <a:pt x="33210" y="407635"/>
                  <a:pt x="0" y="374425"/>
                  <a:pt x="0" y="333519"/>
                </a:cubicBezTo>
                <a:lnTo>
                  <a:pt x="0" y="74116"/>
                </a:lnTo>
                <a:cubicBezTo>
                  <a:pt x="0" y="33210"/>
                  <a:pt x="33210" y="0"/>
                  <a:pt x="74116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40" name="Shape 38"/>
          <p:cNvSpPr/>
          <p:nvPr/>
        </p:nvSpPr>
        <p:spPr bwMode="auto">
          <a:xfrm>
            <a:off x="3361833" y="6383198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 fill="norm" stroke="1" extrusionOk="0">
                <a:moveTo>
                  <a:pt x="74116" y="148231"/>
                </a:moveTo>
                <a:cubicBezTo>
                  <a:pt x="115021" y="148231"/>
                  <a:pt x="148231" y="115021"/>
                  <a:pt x="148231" y="74116"/>
                </a:cubicBezTo>
                <a:cubicBezTo>
                  <a:pt x="148231" y="33210"/>
                  <a:pt x="115021" y="0"/>
                  <a:pt x="74116" y="0"/>
                </a:cubicBezTo>
                <a:cubicBezTo>
                  <a:pt x="33210" y="0"/>
                  <a:pt x="0" y="33210"/>
                  <a:pt x="0" y="74116"/>
                </a:cubicBezTo>
                <a:cubicBezTo>
                  <a:pt x="0" y="115021"/>
                  <a:pt x="33210" y="148231"/>
                  <a:pt x="74116" y="148231"/>
                </a:cubicBezTo>
                <a:close/>
                <a:moveTo>
                  <a:pt x="98550" y="61580"/>
                </a:moveTo>
                <a:lnTo>
                  <a:pt x="75389" y="98637"/>
                </a:lnTo>
                <a:cubicBezTo>
                  <a:pt x="74173" y="100577"/>
                  <a:pt x="72089" y="101793"/>
                  <a:pt x="69802" y="101909"/>
                </a:cubicBezTo>
                <a:cubicBezTo>
                  <a:pt x="67515" y="102025"/>
                  <a:pt x="65314" y="100982"/>
                  <a:pt x="63954" y="99129"/>
                </a:cubicBezTo>
                <a:lnTo>
                  <a:pt x="50057" y="80601"/>
                </a:lnTo>
                <a:cubicBezTo>
                  <a:pt x="47741" y="77532"/>
                  <a:pt x="48378" y="73189"/>
                  <a:pt x="51447" y="70873"/>
                </a:cubicBezTo>
                <a:cubicBezTo>
                  <a:pt x="54515" y="68557"/>
                  <a:pt x="58858" y="69194"/>
                  <a:pt x="61174" y="72263"/>
                </a:cubicBezTo>
                <a:lnTo>
                  <a:pt x="68991" y="82685"/>
                </a:lnTo>
                <a:lnTo>
                  <a:pt x="86767" y="54226"/>
                </a:lnTo>
                <a:cubicBezTo>
                  <a:pt x="88794" y="50983"/>
                  <a:pt x="93079" y="49970"/>
                  <a:pt x="96350" y="52026"/>
                </a:cubicBezTo>
                <a:cubicBezTo>
                  <a:pt x="99622" y="54081"/>
                  <a:pt x="100606" y="58337"/>
                  <a:pt x="98550" y="61609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41" name="Text 39"/>
          <p:cNvSpPr/>
          <p:nvPr/>
        </p:nvSpPr>
        <p:spPr bwMode="auto">
          <a:xfrm>
            <a:off x="3602708" y="6364669"/>
            <a:ext cx="1102468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Easy Observability</a:t>
            </a:r>
            <a:endParaRPr lang="en-US" sz="1600"/>
          </a:p>
        </p:txBody>
      </p:sp>
      <p:sp>
        <p:nvSpPr>
          <p:cNvPr id="42" name="Shape 40"/>
          <p:cNvSpPr/>
          <p:nvPr/>
        </p:nvSpPr>
        <p:spPr bwMode="auto">
          <a:xfrm>
            <a:off x="6209634" y="1153421"/>
            <a:ext cx="5604985" cy="2936827"/>
          </a:xfrm>
          <a:custGeom>
            <a:avLst/>
            <a:gdLst/>
            <a:ahLst/>
            <a:cxnLst/>
            <a:rect l="l" t="t" r="r" b="b"/>
            <a:pathLst>
              <a:path w="5604985" h="2936827" fill="norm" stroke="1" extrusionOk="0">
                <a:moveTo>
                  <a:pt x="148222" y="0"/>
                </a:moveTo>
                <a:lnTo>
                  <a:pt x="5456763" y="0"/>
                </a:lnTo>
                <a:cubicBezTo>
                  <a:pt x="5538569" y="0"/>
                  <a:pt x="5604985" y="66416"/>
                  <a:pt x="5604985" y="148222"/>
                </a:cubicBezTo>
                <a:lnTo>
                  <a:pt x="5604985" y="2788605"/>
                </a:lnTo>
                <a:cubicBezTo>
                  <a:pt x="5604985" y="2870466"/>
                  <a:pt x="5538624" y="2936827"/>
                  <a:pt x="5456763" y="2936827"/>
                </a:cubicBezTo>
                <a:lnTo>
                  <a:pt x="148222" y="2936827"/>
                </a:lnTo>
                <a:cubicBezTo>
                  <a:pt x="66416" y="2936827"/>
                  <a:pt x="0" y="2870411"/>
                  <a:pt x="0" y="2788605"/>
                </a:cubicBezTo>
                <a:lnTo>
                  <a:pt x="0" y="148222"/>
                </a:lnTo>
                <a:cubicBezTo>
                  <a:pt x="0" y="66416"/>
                  <a:pt x="66416" y="0"/>
                  <a:pt x="148222" y="0"/>
                </a:cubicBezTo>
                <a:close/>
              </a:path>
            </a:pathLst>
          </a:custGeom>
          <a:solidFill>
            <a:srgbClr val="4C1D95">
              <a:alpha val="30194"/>
            </a:srgbClr>
          </a:solidFill>
          <a:ln w="12700">
            <a:solidFill>
              <a:srgbClr val="7C3AED">
                <a:alpha val="30194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 bwMode="auto">
          <a:xfrm>
            <a:off x="6436613" y="1380401"/>
            <a:ext cx="370578" cy="370578"/>
          </a:xfrm>
          <a:custGeom>
            <a:avLst/>
            <a:gdLst/>
            <a:ahLst/>
            <a:cxnLst/>
            <a:rect l="l" t="t" r="r" b="b"/>
            <a:pathLst>
              <a:path w="370578" h="370578" fill="norm" stroke="1" extrusionOk="0">
                <a:moveTo>
                  <a:pt x="74116" y="0"/>
                </a:moveTo>
                <a:lnTo>
                  <a:pt x="296462" y="0"/>
                </a:lnTo>
                <a:cubicBezTo>
                  <a:pt x="337395" y="0"/>
                  <a:pt x="370578" y="33183"/>
                  <a:pt x="370578" y="74116"/>
                </a:cubicBezTo>
                <a:lnTo>
                  <a:pt x="370578" y="296462"/>
                </a:lnTo>
                <a:cubicBezTo>
                  <a:pt x="370578" y="337395"/>
                  <a:pt x="337395" y="370578"/>
                  <a:pt x="296462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44" name="Shape 42"/>
          <p:cNvSpPr/>
          <p:nvPr/>
        </p:nvSpPr>
        <p:spPr bwMode="auto">
          <a:xfrm>
            <a:off x="6529257" y="1491574"/>
            <a:ext cx="185289" cy="148231"/>
          </a:xfrm>
          <a:custGeom>
            <a:avLst/>
            <a:gdLst/>
            <a:ahLst/>
            <a:cxnLst/>
            <a:rect l="l" t="t" r="r" b="b"/>
            <a:pathLst>
              <a:path w="185289" h="148231" fill="norm" stroke="1" extrusionOk="0">
                <a:moveTo>
                  <a:pt x="120409" y="60943"/>
                </a:moveTo>
                <a:cubicBezTo>
                  <a:pt x="123941" y="59987"/>
                  <a:pt x="127647" y="61666"/>
                  <a:pt x="129239" y="64938"/>
                </a:cubicBezTo>
                <a:lnTo>
                  <a:pt x="134624" y="75824"/>
                </a:lnTo>
                <a:cubicBezTo>
                  <a:pt x="137606" y="76229"/>
                  <a:pt x="140530" y="77040"/>
                  <a:pt x="143280" y="78169"/>
                </a:cubicBezTo>
                <a:lnTo>
                  <a:pt x="153413" y="71423"/>
                </a:lnTo>
                <a:cubicBezTo>
                  <a:pt x="156453" y="69396"/>
                  <a:pt x="160477" y="69802"/>
                  <a:pt x="163054" y="72378"/>
                </a:cubicBezTo>
                <a:lnTo>
                  <a:pt x="168613" y="77937"/>
                </a:lnTo>
                <a:cubicBezTo>
                  <a:pt x="171189" y="80514"/>
                  <a:pt x="171595" y="84567"/>
                  <a:pt x="169568" y="87578"/>
                </a:cubicBezTo>
                <a:lnTo>
                  <a:pt x="162822" y="97682"/>
                </a:lnTo>
                <a:cubicBezTo>
                  <a:pt x="163373" y="99043"/>
                  <a:pt x="163865" y="100461"/>
                  <a:pt x="164270" y="101938"/>
                </a:cubicBezTo>
                <a:cubicBezTo>
                  <a:pt x="164675" y="103414"/>
                  <a:pt x="164936" y="104862"/>
                  <a:pt x="165139" y="106338"/>
                </a:cubicBezTo>
                <a:lnTo>
                  <a:pt x="176053" y="111723"/>
                </a:lnTo>
                <a:cubicBezTo>
                  <a:pt x="179325" y="113345"/>
                  <a:pt x="181004" y="117050"/>
                  <a:pt x="180049" y="120553"/>
                </a:cubicBezTo>
                <a:lnTo>
                  <a:pt x="178022" y="128139"/>
                </a:lnTo>
                <a:cubicBezTo>
                  <a:pt x="177067" y="131642"/>
                  <a:pt x="173795" y="134016"/>
                  <a:pt x="170147" y="133784"/>
                </a:cubicBezTo>
                <a:lnTo>
                  <a:pt x="157988" y="133003"/>
                </a:lnTo>
                <a:cubicBezTo>
                  <a:pt x="156164" y="135348"/>
                  <a:pt x="154050" y="137519"/>
                  <a:pt x="151647" y="139372"/>
                </a:cubicBezTo>
                <a:lnTo>
                  <a:pt x="152429" y="151503"/>
                </a:lnTo>
                <a:cubicBezTo>
                  <a:pt x="152661" y="155150"/>
                  <a:pt x="150287" y="158451"/>
                  <a:pt x="146783" y="159377"/>
                </a:cubicBezTo>
                <a:lnTo>
                  <a:pt x="139198" y="161404"/>
                </a:lnTo>
                <a:cubicBezTo>
                  <a:pt x="135666" y="162359"/>
                  <a:pt x="131989" y="160680"/>
                  <a:pt x="130368" y="157409"/>
                </a:cubicBezTo>
                <a:lnTo>
                  <a:pt x="124983" y="146523"/>
                </a:lnTo>
                <a:cubicBezTo>
                  <a:pt x="122001" y="146118"/>
                  <a:pt x="119077" y="145307"/>
                  <a:pt x="116327" y="144178"/>
                </a:cubicBezTo>
                <a:lnTo>
                  <a:pt x="106194" y="150923"/>
                </a:lnTo>
                <a:cubicBezTo>
                  <a:pt x="103154" y="152950"/>
                  <a:pt x="99129" y="152545"/>
                  <a:pt x="96553" y="149968"/>
                </a:cubicBezTo>
                <a:lnTo>
                  <a:pt x="90994" y="144409"/>
                </a:lnTo>
                <a:cubicBezTo>
                  <a:pt x="88417" y="141833"/>
                  <a:pt x="88012" y="137809"/>
                  <a:pt x="90039" y="134769"/>
                </a:cubicBezTo>
                <a:lnTo>
                  <a:pt x="96784" y="124636"/>
                </a:lnTo>
                <a:cubicBezTo>
                  <a:pt x="96234" y="123275"/>
                  <a:pt x="95742" y="121856"/>
                  <a:pt x="95337" y="120380"/>
                </a:cubicBezTo>
                <a:cubicBezTo>
                  <a:pt x="94932" y="118903"/>
                  <a:pt x="94671" y="117427"/>
                  <a:pt x="94468" y="115979"/>
                </a:cubicBezTo>
                <a:lnTo>
                  <a:pt x="83554" y="110594"/>
                </a:lnTo>
                <a:cubicBezTo>
                  <a:pt x="80282" y="108973"/>
                  <a:pt x="78632" y="105267"/>
                  <a:pt x="79558" y="101764"/>
                </a:cubicBezTo>
                <a:lnTo>
                  <a:pt x="81585" y="94179"/>
                </a:lnTo>
                <a:cubicBezTo>
                  <a:pt x="82540" y="90676"/>
                  <a:pt x="85812" y="88302"/>
                  <a:pt x="89460" y="88533"/>
                </a:cubicBezTo>
                <a:lnTo>
                  <a:pt x="101590" y="89315"/>
                </a:lnTo>
                <a:cubicBezTo>
                  <a:pt x="103414" y="86970"/>
                  <a:pt x="105528" y="84799"/>
                  <a:pt x="107931" y="82946"/>
                </a:cubicBezTo>
                <a:lnTo>
                  <a:pt x="107149" y="70844"/>
                </a:lnTo>
                <a:cubicBezTo>
                  <a:pt x="106917" y="67196"/>
                  <a:pt x="109291" y="63896"/>
                  <a:pt x="112795" y="62969"/>
                </a:cubicBezTo>
                <a:lnTo>
                  <a:pt x="120380" y="60943"/>
                </a:lnTo>
                <a:close/>
                <a:moveTo>
                  <a:pt x="129818" y="98435"/>
                </a:moveTo>
                <a:cubicBezTo>
                  <a:pt x="122787" y="98443"/>
                  <a:pt x="117086" y="104157"/>
                  <a:pt x="117094" y="111188"/>
                </a:cubicBezTo>
                <a:cubicBezTo>
                  <a:pt x="117102" y="118218"/>
                  <a:pt x="122816" y="123920"/>
                  <a:pt x="129847" y="123912"/>
                </a:cubicBezTo>
                <a:cubicBezTo>
                  <a:pt x="136878" y="123904"/>
                  <a:pt x="142579" y="118189"/>
                  <a:pt x="142571" y="111159"/>
                </a:cubicBezTo>
                <a:cubicBezTo>
                  <a:pt x="142563" y="104128"/>
                  <a:pt x="136849" y="98427"/>
                  <a:pt x="129818" y="98435"/>
                </a:cubicBezTo>
                <a:close/>
                <a:moveTo>
                  <a:pt x="65112" y="-13173"/>
                </a:moveTo>
                <a:lnTo>
                  <a:pt x="72697" y="-11146"/>
                </a:lnTo>
                <a:cubicBezTo>
                  <a:pt x="76200" y="-10191"/>
                  <a:pt x="78574" y="-6890"/>
                  <a:pt x="78342" y="-3272"/>
                </a:cubicBezTo>
                <a:lnTo>
                  <a:pt x="77561" y="8830"/>
                </a:lnTo>
                <a:cubicBezTo>
                  <a:pt x="79964" y="10683"/>
                  <a:pt x="82077" y="12825"/>
                  <a:pt x="83901" y="15199"/>
                </a:cubicBezTo>
                <a:lnTo>
                  <a:pt x="96061" y="14418"/>
                </a:lnTo>
                <a:cubicBezTo>
                  <a:pt x="99680" y="14186"/>
                  <a:pt x="102980" y="16560"/>
                  <a:pt x="103935" y="20063"/>
                </a:cubicBezTo>
                <a:lnTo>
                  <a:pt x="105962" y="27649"/>
                </a:lnTo>
                <a:cubicBezTo>
                  <a:pt x="106888" y="31152"/>
                  <a:pt x="105238" y="34857"/>
                  <a:pt x="101967" y="36479"/>
                </a:cubicBezTo>
                <a:lnTo>
                  <a:pt x="91052" y="41864"/>
                </a:lnTo>
                <a:cubicBezTo>
                  <a:pt x="90849" y="43340"/>
                  <a:pt x="90560" y="44817"/>
                  <a:pt x="90184" y="46264"/>
                </a:cubicBezTo>
                <a:cubicBezTo>
                  <a:pt x="89807" y="47712"/>
                  <a:pt x="89286" y="49159"/>
                  <a:pt x="88736" y="50520"/>
                </a:cubicBezTo>
                <a:lnTo>
                  <a:pt x="95482" y="60653"/>
                </a:lnTo>
                <a:cubicBezTo>
                  <a:pt x="97508" y="63693"/>
                  <a:pt x="97103" y="67717"/>
                  <a:pt x="94526" y="70294"/>
                </a:cubicBezTo>
                <a:lnTo>
                  <a:pt x="88968" y="75853"/>
                </a:lnTo>
                <a:cubicBezTo>
                  <a:pt x="86391" y="78429"/>
                  <a:pt x="82367" y="78835"/>
                  <a:pt x="79327" y="76808"/>
                </a:cubicBezTo>
                <a:lnTo>
                  <a:pt x="69194" y="70062"/>
                </a:lnTo>
                <a:cubicBezTo>
                  <a:pt x="66443" y="71191"/>
                  <a:pt x="63519" y="72002"/>
                  <a:pt x="60537" y="72407"/>
                </a:cubicBezTo>
                <a:lnTo>
                  <a:pt x="55152" y="83293"/>
                </a:lnTo>
                <a:cubicBezTo>
                  <a:pt x="53531" y="86565"/>
                  <a:pt x="49825" y="88215"/>
                  <a:pt x="46322" y="87288"/>
                </a:cubicBezTo>
                <a:lnTo>
                  <a:pt x="38737" y="85262"/>
                </a:lnTo>
                <a:cubicBezTo>
                  <a:pt x="35205" y="84306"/>
                  <a:pt x="32860" y="81006"/>
                  <a:pt x="33091" y="77387"/>
                </a:cubicBezTo>
                <a:lnTo>
                  <a:pt x="33873" y="65256"/>
                </a:lnTo>
                <a:cubicBezTo>
                  <a:pt x="31470" y="63403"/>
                  <a:pt x="29357" y="61261"/>
                  <a:pt x="27533" y="58887"/>
                </a:cubicBezTo>
                <a:lnTo>
                  <a:pt x="15373" y="59669"/>
                </a:lnTo>
                <a:cubicBezTo>
                  <a:pt x="11754" y="59900"/>
                  <a:pt x="8454" y="57526"/>
                  <a:pt x="7498" y="54023"/>
                </a:cubicBezTo>
                <a:lnTo>
                  <a:pt x="5472" y="46438"/>
                </a:lnTo>
                <a:cubicBezTo>
                  <a:pt x="4545" y="42935"/>
                  <a:pt x="6196" y="39229"/>
                  <a:pt x="9467" y="37608"/>
                </a:cubicBezTo>
                <a:lnTo>
                  <a:pt x="20382" y="32223"/>
                </a:lnTo>
                <a:cubicBezTo>
                  <a:pt x="20584" y="30746"/>
                  <a:pt x="20874" y="29299"/>
                  <a:pt x="21250" y="27822"/>
                </a:cubicBezTo>
                <a:cubicBezTo>
                  <a:pt x="21656" y="26346"/>
                  <a:pt x="22119" y="24927"/>
                  <a:pt x="22698" y="23566"/>
                </a:cubicBezTo>
                <a:lnTo>
                  <a:pt x="15952" y="13462"/>
                </a:lnTo>
                <a:cubicBezTo>
                  <a:pt x="13926" y="10422"/>
                  <a:pt x="14331" y="6398"/>
                  <a:pt x="16908" y="3822"/>
                </a:cubicBezTo>
                <a:lnTo>
                  <a:pt x="22466" y="-1737"/>
                </a:lnTo>
                <a:cubicBezTo>
                  <a:pt x="25043" y="-4314"/>
                  <a:pt x="29067" y="-4719"/>
                  <a:pt x="32107" y="-2692"/>
                </a:cubicBezTo>
                <a:lnTo>
                  <a:pt x="42240" y="4053"/>
                </a:lnTo>
                <a:cubicBezTo>
                  <a:pt x="44990" y="2924"/>
                  <a:pt x="47915" y="2113"/>
                  <a:pt x="50897" y="1708"/>
                </a:cubicBezTo>
                <a:lnTo>
                  <a:pt x="56281" y="-9178"/>
                </a:lnTo>
                <a:cubicBezTo>
                  <a:pt x="57903" y="-12449"/>
                  <a:pt x="61580" y="-14099"/>
                  <a:pt x="65112" y="-13173"/>
                </a:cubicBezTo>
                <a:close/>
                <a:moveTo>
                  <a:pt x="55702" y="24319"/>
                </a:moveTo>
                <a:cubicBezTo>
                  <a:pt x="48672" y="24319"/>
                  <a:pt x="42964" y="30027"/>
                  <a:pt x="42964" y="37058"/>
                </a:cubicBezTo>
                <a:cubicBezTo>
                  <a:pt x="42964" y="44088"/>
                  <a:pt x="48672" y="49796"/>
                  <a:pt x="55702" y="49796"/>
                </a:cubicBezTo>
                <a:cubicBezTo>
                  <a:pt x="62733" y="49796"/>
                  <a:pt x="68441" y="44088"/>
                  <a:pt x="68441" y="37058"/>
                </a:cubicBezTo>
                <a:cubicBezTo>
                  <a:pt x="68441" y="30027"/>
                  <a:pt x="62733" y="24319"/>
                  <a:pt x="55702" y="24319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45" name="Text 43"/>
          <p:cNvSpPr/>
          <p:nvPr/>
        </p:nvSpPr>
        <p:spPr bwMode="auto">
          <a:xfrm flipH="0" flipV="0">
            <a:off x="6918363" y="1417458"/>
            <a:ext cx="1994813" cy="296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75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Key Capabilities</a:t>
            </a:r>
            <a:endParaRPr lang="en-US" sz="1600"/>
          </a:p>
        </p:txBody>
      </p:sp>
      <p:sp>
        <p:nvSpPr>
          <p:cNvPr id="46" name="Shape 44"/>
          <p:cNvSpPr/>
          <p:nvPr/>
        </p:nvSpPr>
        <p:spPr bwMode="auto">
          <a:xfrm>
            <a:off x="6436613" y="1936267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 fill="norm" stroke="1" extrusionOk="0">
                <a:moveTo>
                  <a:pt x="74116" y="0"/>
                </a:moveTo>
                <a:lnTo>
                  <a:pt x="222347" y="0"/>
                </a:lnTo>
                <a:cubicBezTo>
                  <a:pt x="263279" y="0"/>
                  <a:pt x="296462" y="33183"/>
                  <a:pt x="296462" y="74116"/>
                </a:cubicBezTo>
                <a:lnTo>
                  <a:pt x="296462" y="222347"/>
                </a:lnTo>
                <a:cubicBezTo>
                  <a:pt x="296462" y="263279"/>
                  <a:pt x="263279" y="296462"/>
                  <a:pt x="222347" y="296462"/>
                </a:cubicBezTo>
                <a:lnTo>
                  <a:pt x="74116" y="296462"/>
                </a:lnTo>
                <a:cubicBezTo>
                  <a:pt x="33183" y="296462"/>
                  <a:pt x="0" y="263279"/>
                  <a:pt x="0" y="222347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7C3AED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 bwMode="auto">
          <a:xfrm>
            <a:off x="6530415" y="2019647"/>
            <a:ext cx="113489" cy="129702"/>
          </a:xfrm>
          <a:custGeom>
            <a:avLst/>
            <a:gdLst/>
            <a:ahLst/>
            <a:cxnLst/>
            <a:rect l="l" t="t" r="r" b="b"/>
            <a:pathLst>
              <a:path w="113489" h="129702" fill="norm" stroke="1" extrusionOk="0">
                <a:moveTo>
                  <a:pt x="64851" y="27688"/>
                </a:moveTo>
                <a:lnTo>
                  <a:pt x="64851" y="81064"/>
                </a:lnTo>
                <a:cubicBezTo>
                  <a:pt x="64851" y="85548"/>
                  <a:pt x="61229" y="89170"/>
                  <a:pt x="56745" y="89170"/>
                </a:cubicBezTo>
                <a:cubicBezTo>
                  <a:pt x="52261" y="89170"/>
                  <a:pt x="48638" y="85548"/>
                  <a:pt x="48638" y="81064"/>
                </a:cubicBezTo>
                <a:lnTo>
                  <a:pt x="48638" y="27688"/>
                </a:lnTo>
                <a:lnTo>
                  <a:pt x="38151" y="38176"/>
                </a:lnTo>
                <a:cubicBezTo>
                  <a:pt x="34984" y="41343"/>
                  <a:pt x="29842" y="41343"/>
                  <a:pt x="26675" y="38176"/>
                </a:cubicBezTo>
                <a:cubicBezTo>
                  <a:pt x="23509" y="35009"/>
                  <a:pt x="23509" y="29867"/>
                  <a:pt x="26675" y="26700"/>
                </a:cubicBezTo>
                <a:lnTo>
                  <a:pt x="50994" y="2381"/>
                </a:lnTo>
                <a:cubicBezTo>
                  <a:pt x="54161" y="-785"/>
                  <a:pt x="59303" y="-785"/>
                  <a:pt x="62470" y="2381"/>
                </a:cubicBezTo>
                <a:lnTo>
                  <a:pt x="86789" y="26700"/>
                </a:lnTo>
                <a:cubicBezTo>
                  <a:pt x="89956" y="29867"/>
                  <a:pt x="89956" y="35009"/>
                  <a:pt x="86789" y="38176"/>
                </a:cubicBezTo>
                <a:cubicBezTo>
                  <a:pt x="83622" y="41343"/>
                  <a:pt x="78480" y="41343"/>
                  <a:pt x="75313" y="38176"/>
                </a:cubicBezTo>
                <a:lnTo>
                  <a:pt x="64851" y="27688"/>
                </a:lnTo>
                <a:close/>
                <a:moveTo>
                  <a:pt x="56745" y="101330"/>
                </a:moveTo>
                <a:cubicBezTo>
                  <a:pt x="67942" y="101330"/>
                  <a:pt x="77011" y="92261"/>
                  <a:pt x="77011" y="81064"/>
                </a:cubicBezTo>
                <a:lnTo>
                  <a:pt x="97277" y="81064"/>
                </a:lnTo>
                <a:cubicBezTo>
                  <a:pt x="106219" y="81064"/>
                  <a:pt x="113489" y="88334"/>
                  <a:pt x="113489" y="97277"/>
                </a:cubicBezTo>
                <a:lnTo>
                  <a:pt x="113489" y="105383"/>
                </a:lnTo>
                <a:cubicBezTo>
                  <a:pt x="113489" y="114325"/>
                  <a:pt x="106219" y="121596"/>
                  <a:pt x="97277" y="121596"/>
                </a:cubicBezTo>
                <a:lnTo>
                  <a:pt x="16213" y="121596"/>
                </a:lnTo>
                <a:cubicBezTo>
                  <a:pt x="7270" y="121596"/>
                  <a:pt x="0" y="114325"/>
                  <a:pt x="0" y="105383"/>
                </a:cubicBezTo>
                <a:lnTo>
                  <a:pt x="0" y="97277"/>
                </a:lnTo>
                <a:cubicBezTo>
                  <a:pt x="0" y="88334"/>
                  <a:pt x="7270" y="81064"/>
                  <a:pt x="16213" y="81064"/>
                </a:cubicBezTo>
                <a:lnTo>
                  <a:pt x="36479" y="81064"/>
                </a:lnTo>
                <a:cubicBezTo>
                  <a:pt x="36479" y="92261"/>
                  <a:pt x="45548" y="101330"/>
                  <a:pt x="56745" y="101330"/>
                </a:cubicBezTo>
                <a:close/>
                <a:moveTo>
                  <a:pt x="93223" y="107410"/>
                </a:moveTo>
                <a:cubicBezTo>
                  <a:pt x="96579" y="107410"/>
                  <a:pt x="99303" y="104685"/>
                  <a:pt x="99303" y="101330"/>
                </a:cubicBezTo>
                <a:cubicBezTo>
                  <a:pt x="99303" y="97974"/>
                  <a:pt x="96579" y="95250"/>
                  <a:pt x="93223" y="95250"/>
                </a:cubicBezTo>
                <a:cubicBezTo>
                  <a:pt x="89868" y="95250"/>
                  <a:pt x="87144" y="97974"/>
                  <a:pt x="87144" y="101330"/>
                </a:cubicBezTo>
                <a:cubicBezTo>
                  <a:pt x="87144" y="104685"/>
                  <a:pt x="89868" y="107410"/>
                  <a:pt x="93223" y="10741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48" name="Text 46"/>
          <p:cNvSpPr/>
          <p:nvPr/>
        </p:nvSpPr>
        <p:spPr bwMode="auto">
          <a:xfrm>
            <a:off x="6844248" y="1899210"/>
            <a:ext cx="3103587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Multi Format Support</a:t>
            </a:r>
            <a:endParaRPr lang="en-US" sz="1600"/>
          </a:p>
        </p:txBody>
      </p:sp>
      <p:sp>
        <p:nvSpPr>
          <p:cNvPr id="49" name="Text 47"/>
          <p:cNvSpPr/>
          <p:nvPr/>
        </p:nvSpPr>
        <p:spPr bwMode="auto">
          <a:xfrm flipH="0" flipV="0">
            <a:off x="6844248" y="2121555"/>
            <a:ext cx="3694338" cy="185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CSV, JSON, Excel, Parquet files via clean web interface</a:t>
            </a:r>
            <a:endParaRPr lang="en-US" sz="1600"/>
          </a:p>
        </p:txBody>
      </p:sp>
      <p:sp>
        <p:nvSpPr>
          <p:cNvPr id="50" name="Shape 48"/>
          <p:cNvSpPr/>
          <p:nvPr/>
        </p:nvSpPr>
        <p:spPr bwMode="auto">
          <a:xfrm>
            <a:off x="6436613" y="2455076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 fill="norm" stroke="1" extrusionOk="0">
                <a:moveTo>
                  <a:pt x="74116" y="0"/>
                </a:moveTo>
                <a:lnTo>
                  <a:pt x="222347" y="0"/>
                </a:lnTo>
                <a:cubicBezTo>
                  <a:pt x="263279" y="0"/>
                  <a:pt x="296462" y="33183"/>
                  <a:pt x="296462" y="74116"/>
                </a:cubicBezTo>
                <a:lnTo>
                  <a:pt x="296462" y="222347"/>
                </a:lnTo>
                <a:cubicBezTo>
                  <a:pt x="296462" y="263279"/>
                  <a:pt x="263279" y="296462"/>
                  <a:pt x="222347" y="296462"/>
                </a:cubicBezTo>
                <a:lnTo>
                  <a:pt x="74116" y="296462"/>
                </a:lnTo>
                <a:cubicBezTo>
                  <a:pt x="33183" y="296462"/>
                  <a:pt x="0" y="263279"/>
                  <a:pt x="0" y="222347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/>
        </p:spPr>
      </p:sp>
      <p:sp>
        <p:nvSpPr>
          <p:cNvPr id="51" name="Shape 49"/>
          <p:cNvSpPr/>
          <p:nvPr/>
        </p:nvSpPr>
        <p:spPr bwMode="auto">
          <a:xfrm>
            <a:off x="6530415" y="2538456"/>
            <a:ext cx="113489" cy="129702"/>
          </a:xfrm>
          <a:custGeom>
            <a:avLst/>
            <a:gdLst/>
            <a:ahLst/>
            <a:cxnLst/>
            <a:rect l="l" t="t" r="r" b="b"/>
            <a:pathLst>
              <a:path w="113489" h="129702" fill="norm" stroke="1" extrusionOk="0">
                <a:moveTo>
                  <a:pt x="113489" y="52134"/>
                </a:moveTo>
                <a:cubicBezTo>
                  <a:pt x="109740" y="54617"/>
                  <a:pt x="105434" y="56618"/>
                  <a:pt x="100950" y="58214"/>
                </a:cubicBezTo>
                <a:cubicBezTo>
                  <a:pt x="89044" y="62470"/>
                  <a:pt x="73413" y="64851"/>
                  <a:pt x="56745" y="64851"/>
                </a:cubicBezTo>
                <a:cubicBezTo>
                  <a:pt x="40076" y="64851"/>
                  <a:pt x="24420" y="62444"/>
                  <a:pt x="12540" y="58214"/>
                </a:cubicBezTo>
                <a:cubicBezTo>
                  <a:pt x="8081" y="56618"/>
                  <a:pt x="3749" y="54617"/>
                  <a:pt x="0" y="52134"/>
                </a:cubicBezTo>
                <a:lnTo>
                  <a:pt x="0" y="72957"/>
                </a:lnTo>
                <a:cubicBezTo>
                  <a:pt x="0" y="84154"/>
                  <a:pt x="25408" y="93223"/>
                  <a:pt x="56745" y="93223"/>
                </a:cubicBezTo>
                <a:cubicBezTo>
                  <a:pt x="88081" y="93223"/>
                  <a:pt x="113489" y="84154"/>
                  <a:pt x="113489" y="72957"/>
                </a:cubicBezTo>
                <a:lnTo>
                  <a:pt x="113489" y="52134"/>
                </a:lnTo>
                <a:close/>
                <a:moveTo>
                  <a:pt x="113489" y="32426"/>
                </a:moveTo>
                <a:lnTo>
                  <a:pt x="113489" y="20266"/>
                </a:lnTo>
                <a:cubicBezTo>
                  <a:pt x="113489" y="9069"/>
                  <a:pt x="88081" y="0"/>
                  <a:pt x="56745" y="0"/>
                </a:cubicBezTo>
                <a:cubicBezTo>
                  <a:pt x="25408" y="0"/>
                  <a:pt x="0" y="9069"/>
                  <a:pt x="0" y="20266"/>
                </a:cubicBezTo>
                <a:lnTo>
                  <a:pt x="0" y="32426"/>
                </a:lnTo>
                <a:cubicBezTo>
                  <a:pt x="0" y="43622"/>
                  <a:pt x="25408" y="52691"/>
                  <a:pt x="56745" y="52691"/>
                </a:cubicBezTo>
                <a:cubicBezTo>
                  <a:pt x="88081" y="52691"/>
                  <a:pt x="113489" y="43622"/>
                  <a:pt x="113489" y="32426"/>
                </a:cubicBezTo>
                <a:close/>
                <a:moveTo>
                  <a:pt x="100950" y="98746"/>
                </a:moveTo>
                <a:cubicBezTo>
                  <a:pt x="89069" y="102976"/>
                  <a:pt x="73439" y="105383"/>
                  <a:pt x="56745" y="105383"/>
                </a:cubicBezTo>
                <a:cubicBezTo>
                  <a:pt x="40051" y="105383"/>
                  <a:pt x="24420" y="102976"/>
                  <a:pt x="12540" y="98746"/>
                </a:cubicBezTo>
                <a:cubicBezTo>
                  <a:pt x="8081" y="97150"/>
                  <a:pt x="3749" y="95149"/>
                  <a:pt x="0" y="92666"/>
                </a:cubicBezTo>
                <a:lnTo>
                  <a:pt x="0" y="109436"/>
                </a:lnTo>
                <a:cubicBezTo>
                  <a:pt x="0" y="120633"/>
                  <a:pt x="25408" y="129702"/>
                  <a:pt x="56745" y="129702"/>
                </a:cubicBezTo>
                <a:cubicBezTo>
                  <a:pt x="88081" y="129702"/>
                  <a:pt x="113489" y="120633"/>
                  <a:pt x="113489" y="109436"/>
                </a:cubicBezTo>
                <a:lnTo>
                  <a:pt x="113489" y="92666"/>
                </a:lnTo>
                <a:cubicBezTo>
                  <a:pt x="109740" y="95149"/>
                  <a:pt x="105434" y="97150"/>
                  <a:pt x="100950" y="98746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52" name="Text 50"/>
          <p:cNvSpPr/>
          <p:nvPr/>
        </p:nvSpPr>
        <p:spPr bwMode="auto">
          <a:xfrm>
            <a:off x="6844248" y="2418017"/>
            <a:ext cx="3242553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Distributed Storage</a:t>
            </a:r>
            <a:endParaRPr lang="en-US" sz="1600"/>
          </a:p>
        </p:txBody>
      </p:sp>
      <p:sp>
        <p:nvSpPr>
          <p:cNvPr id="53" name="Text 51"/>
          <p:cNvSpPr/>
          <p:nvPr/>
        </p:nvSpPr>
        <p:spPr bwMode="auto">
          <a:xfrm>
            <a:off x="6844248" y="2640365"/>
            <a:ext cx="3233288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MinIO with full S3 compatibility for safe, scalable storage</a:t>
            </a:r>
            <a:endParaRPr lang="en-US" sz="1600"/>
          </a:p>
        </p:txBody>
      </p:sp>
      <p:sp>
        <p:nvSpPr>
          <p:cNvPr id="54" name="Shape 52"/>
          <p:cNvSpPr/>
          <p:nvPr/>
        </p:nvSpPr>
        <p:spPr bwMode="auto">
          <a:xfrm>
            <a:off x="6436613" y="2973884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 fill="norm" stroke="1" extrusionOk="0">
                <a:moveTo>
                  <a:pt x="74116" y="0"/>
                </a:moveTo>
                <a:lnTo>
                  <a:pt x="222347" y="0"/>
                </a:lnTo>
                <a:cubicBezTo>
                  <a:pt x="263279" y="0"/>
                  <a:pt x="296462" y="33183"/>
                  <a:pt x="296462" y="74116"/>
                </a:cubicBezTo>
                <a:lnTo>
                  <a:pt x="296462" y="222347"/>
                </a:lnTo>
                <a:cubicBezTo>
                  <a:pt x="296462" y="263279"/>
                  <a:pt x="263279" y="296462"/>
                  <a:pt x="222347" y="296462"/>
                </a:cubicBezTo>
                <a:lnTo>
                  <a:pt x="74116" y="296462"/>
                </a:lnTo>
                <a:cubicBezTo>
                  <a:pt x="33183" y="296462"/>
                  <a:pt x="0" y="263279"/>
                  <a:pt x="0" y="222347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7C3AED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 bwMode="auto">
          <a:xfrm>
            <a:off x="6530415" y="3057264"/>
            <a:ext cx="113489" cy="129702"/>
          </a:xfrm>
          <a:custGeom>
            <a:avLst/>
            <a:gdLst/>
            <a:ahLst/>
            <a:cxnLst/>
            <a:rect l="l" t="t" r="r" b="b"/>
            <a:pathLst>
              <a:path w="113489" h="129702" fill="norm" stroke="1" extrusionOk="0">
                <a:moveTo>
                  <a:pt x="85826" y="-2508"/>
                </a:moveTo>
                <a:cubicBezTo>
                  <a:pt x="88841" y="-329"/>
                  <a:pt x="89956" y="3623"/>
                  <a:pt x="88588" y="7068"/>
                </a:cubicBezTo>
                <a:lnTo>
                  <a:pt x="68727" y="56745"/>
                </a:lnTo>
                <a:lnTo>
                  <a:pt x="105383" y="56745"/>
                </a:lnTo>
                <a:cubicBezTo>
                  <a:pt x="108803" y="56745"/>
                  <a:pt x="111843" y="58873"/>
                  <a:pt x="113008" y="62090"/>
                </a:cubicBezTo>
                <a:cubicBezTo>
                  <a:pt x="114173" y="65307"/>
                  <a:pt x="113185" y="68904"/>
                  <a:pt x="110576" y="71083"/>
                </a:cubicBezTo>
                <a:lnTo>
                  <a:pt x="37619" y="131881"/>
                </a:lnTo>
                <a:cubicBezTo>
                  <a:pt x="34756" y="134262"/>
                  <a:pt x="30678" y="134389"/>
                  <a:pt x="27663" y="132210"/>
                </a:cubicBezTo>
                <a:cubicBezTo>
                  <a:pt x="24648" y="130031"/>
                  <a:pt x="23534" y="126080"/>
                  <a:pt x="24902" y="122634"/>
                </a:cubicBezTo>
                <a:lnTo>
                  <a:pt x="44762" y="72957"/>
                </a:lnTo>
                <a:lnTo>
                  <a:pt x="8106" y="72957"/>
                </a:lnTo>
                <a:cubicBezTo>
                  <a:pt x="4687" y="72957"/>
                  <a:pt x="1647" y="70830"/>
                  <a:pt x="481" y="67612"/>
                </a:cubicBezTo>
                <a:cubicBezTo>
                  <a:pt x="-684" y="64395"/>
                  <a:pt x="304" y="60798"/>
                  <a:pt x="2913" y="58619"/>
                </a:cubicBezTo>
                <a:lnTo>
                  <a:pt x="75871" y="-2179"/>
                </a:lnTo>
                <a:cubicBezTo>
                  <a:pt x="78733" y="-4560"/>
                  <a:pt x="82812" y="-4687"/>
                  <a:pt x="85826" y="-2508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56" name="Text 54"/>
          <p:cNvSpPr/>
          <p:nvPr/>
        </p:nvSpPr>
        <p:spPr bwMode="auto">
          <a:xfrm>
            <a:off x="6844248" y="2936827"/>
            <a:ext cx="3010942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Adaptive Analytics</a:t>
            </a:r>
            <a:endParaRPr lang="en-US" sz="1600"/>
          </a:p>
        </p:txBody>
      </p:sp>
      <p:sp>
        <p:nvSpPr>
          <p:cNvPr id="57" name="Text 55"/>
          <p:cNvSpPr/>
          <p:nvPr/>
        </p:nvSpPr>
        <p:spPr bwMode="auto">
          <a:xfrm>
            <a:off x="6844248" y="3159173"/>
            <a:ext cx="3001678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Apache Spark with automatic column type detection</a:t>
            </a:r>
            <a:endParaRPr lang="en-US" sz="1600"/>
          </a:p>
        </p:txBody>
      </p:sp>
      <p:sp>
        <p:nvSpPr>
          <p:cNvPr id="58" name="Shape 56"/>
          <p:cNvSpPr/>
          <p:nvPr/>
        </p:nvSpPr>
        <p:spPr bwMode="auto">
          <a:xfrm>
            <a:off x="6436613" y="3492693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 fill="norm" stroke="1" extrusionOk="0">
                <a:moveTo>
                  <a:pt x="74116" y="0"/>
                </a:moveTo>
                <a:lnTo>
                  <a:pt x="222347" y="0"/>
                </a:lnTo>
                <a:cubicBezTo>
                  <a:pt x="263279" y="0"/>
                  <a:pt x="296462" y="33183"/>
                  <a:pt x="296462" y="74116"/>
                </a:cubicBezTo>
                <a:lnTo>
                  <a:pt x="296462" y="222347"/>
                </a:lnTo>
                <a:cubicBezTo>
                  <a:pt x="296462" y="263279"/>
                  <a:pt x="263279" y="296462"/>
                  <a:pt x="222347" y="296462"/>
                </a:cubicBezTo>
                <a:lnTo>
                  <a:pt x="74116" y="296462"/>
                </a:lnTo>
                <a:cubicBezTo>
                  <a:pt x="33183" y="296462"/>
                  <a:pt x="0" y="263279"/>
                  <a:pt x="0" y="222347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/>
        </p:spPr>
      </p:sp>
      <p:sp>
        <p:nvSpPr>
          <p:cNvPr id="59" name="Shape 57"/>
          <p:cNvSpPr/>
          <p:nvPr/>
        </p:nvSpPr>
        <p:spPr bwMode="auto">
          <a:xfrm>
            <a:off x="6522309" y="3576073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 fill="norm" stroke="1" extrusionOk="0">
                <a:moveTo>
                  <a:pt x="58898" y="1317"/>
                </a:moveTo>
                <a:cubicBezTo>
                  <a:pt x="62672" y="-431"/>
                  <a:pt x="67030" y="-431"/>
                  <a:pt x="70804" y="1317"/>
                </a:cubicBezTo>
                <a:lnTo>
                  <a:pt x="126181" y="26903"/>
                </a:lnTo>
                <a:cubicBezTo>
                  <a:pt x="128334" y="27891"/>
                  <a:pt x="129702" y="30044"/>
                  <a:pt x="129702" y="32426"/>
                </a:cubicBezTo>
                <a:cubicBezTo>
                  <a:pt x="129702" y="34807"/>
                  <a:pt x="128334" y="36960"/>
                  <a:pt x="126181" y="37948"/>
                </a:cubicBezTo>
                <a:lnTo>
                  <a:pt x="70804" y="63534"/>
                </a:lnTo>
                <a:cubicBezTo>
                  <a:pt x="67030" y="65282"/>
                  <a:pt x="62672" y="65282"/>
                  <a:pt x="58898" y="63534"/>
                </a:cubicBezTo>
                <a:lnTo>
                  <a:pt x="3521" y="37948"/>
                </a:lnTo>
                <a:cubicBezTo>
                  <a:pt x="1368" y="36935"/>
                  <a:pt x="0" y="34781"/>
                  <a:pt x="0" y="32426"/>
                </a:cubicBezTo>
                <a:cubicBezTo>
                  <a:pt x="0" y="30070"/>
                  <a:pt x="1368" y="27891"/>
                  <a:pt x="3521" y="26903"/>
                </a:cubicBezTo>
                <a:lnTo>
                  <a:pt x="58898" y="1317"/>
                </a:lnTo>
                <a:close/>
                <a:moveTo>
                  <a:pt x="12185" y="55326"/>
                </a:moveTo>
                <a:lnTo>
                  <a:pt x="53806" y="74553"/>
                </a:lnTo>
                <a:cubicBezTo>
                  <a:pt x="60823" y="77796"/>
                  <a:pt x="68904" y="77796"/>
                  <a:pt x="75921" y="74553"/>
                </a:cubicBezTo>
                <a:lnTo>
                  <a:pt x="117543" y="55326"/>
                </a:lnTo>
                <a:lnTo>
                  <a:pt x="126181" y="59329"/>
                </a:lnTo>
                <a:cubicBezTo>
                  <a:pt x="128334" y="60317"/>
                  <a:pt x="129702" y="62470"/>
                  <a:pt x="129702" y="64851"/>
                </a:cubicBezTo>
                <a:cubicBezTo>
                  <a:pt x="129702" y="67232"/>
                  <a:pt x="128334" y="69386"/>
                  <a:pt x="126181" y="70374"/>
                </a:cubicBezTo>
                <a:lnTo>
                  <a:pt x="70804" y="95959"/>
                </a:lnTo>
                <a:cubicBezTo>
                  <a:pt x="67030" y="97707"/>
                  <a:pt x="62672" y="97707"/>
                  <a:pt x="58898" y="95959"/>
                </a:cubicBezTo>
                <a:lnTo>
                  <a:pt x="3521" y="70374"/>
                </a:lnTo>
                <a:cubicBezTo>
                  <a:pt x="1368" y="69360"/>
                  <a:pt x="0" y="67207"/>
                  <a:pt x="0" y="64851"/>
                </a:cubicBezTo>
                <a:cubicBezTo>
                  <a:pt x="0" y="62495"/>
                  <a:pt x="1368" y="60317"/>
                  <a:pt x="3521" y="59329"/>
                </a:cubicBezTo>
                <a:lnTo>
                  <a:pt x="12160" y="55326"/>
                </a:lnTo>
                <a:close/>
                <a:moveTo>
                  <a:pt x="3521" y="91754"/>
                </a:moveTo>
                <a:lnTo>
                  <a:pt x="12160" y="87752"/>
                </a:lnTo>
                <a:lnTo>
                  <a:pt x="53781" y="106979"/>
                </a:lnTo>
                <a:cubicBezTo>
                  <a:pt x="60798" y="110221"/>
                  <a:pt x="68879" y="110221"/>
                  <a:pt x="75896" y="106979"/>
                </a:cubicBezTo>
                <a:lnTo>
                  <a:pt x="117517" y="87752"/>
                </a:lnTo>
                <a:lnTo>
                  <a:pt x="126156" y="91754"/>
                </a:lnTo>
                <a:cubicBezTo>
                  <a:pt x="128309" y="92742"/>
                  <a:pt x="129677" y="94895"/>
                  <a:pt x="129677" y="97277"/>
                </a:cubicBezTo>
                <a:cubicBezTo>
                  <a:pt x="129677" y="99658"/>
                  <a:pt x="128309" y="101811"/>
                  <a:pt x="126156" y="102799"/>
                </a:cubicBezTo>
                <a:lnTo>
                  <a:pt x="70779" y="128385"/>
                </a:lnTo>
                <a:cubicBezTo>
                  <a:pt x="67004" y="130133"/>
                  <a:pt x="62647" y="130133"/>
                  <a:pt x="58873" y="128385"/>
                </a:cubicBezTo>
                <a:lnTo>
                  <a:pt x="3521" y="102799"/>
                </a:lnTo>
                <a:cubicBezTo>
                  <a:pt x="1368" y="101786"/>
                  <a:pt x="0" y="99633"/>
                  <a:pt x="0" y="97277"/>
                </a:cubicBezTo>
                <a:cubicBezTo>
                  <a:pt x="0" y="94921"/>
                  <a:pt x="1368" y="92742"/>
                  <a:pt x="3521" y="91754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60" name="Text 58"/>
          <p:cNvSpPr/>
          <p:nvPr/>
        </p:nvSpPr>
        <p:spPr bwMode="auto">
          <a:xfrm>
            <a:off x="6844248" y="3455635"/>
            <a:ext cx="2844182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Layered Warehouse</a:t>
            </a:r>
            <a:endParaRPr lang="en-US" sz="1600"/>
          </a:p>
        </p:txBody>
      </p:sp>
      <p:sp>
        <p:nvSpPr>
          <p:cNvPr id="61" name="Text 59"/>
          <p:cNvSpPr/>
          <p:nvPr/>
        </p:nvSpPr>
        <p:spPr bwMode="auto">
          <a:xfrm>
            <a:off x="6844248" y="3677982"/>
            <a:ext cx="2834918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DuckDB with raw, processed, and analytics marts</a:t>
            </a:r>
            <a:endParaRPr lang="en-US" sz="1600"/>
          </a:p>
        </p:txBody>
      </p:sp>
      <p:sp>
        <p:nvSpPr>
          <p:cNvPr id="62" name="Shape 60"/>
          <p:cNvSpPr/>
          <p:nvPr/>
        </p:nvSpPr>
        <p:spPr bwMode="auto">
          <a:xfrm>
            <a:off x="6209634" y="4284802"/>
            <a:ext cx="5604985" cy="1213641"/>
          </a:xfrm>
          <a:custGeom>
            <a:avLst/>
            <a:gdLst/>
            <a:ahLst/>
            <a:cxnLst/>
            <a:rect l="l" t="t" r="r" b="b"/>
            <a:pathLst>
              <a:path w="5604985" h="1213641" fill="norm" stroke="1" extrusionOk="0">
                <a:moveTo>
                  <a:pt x="148234" y="0"/>
                </a:moveTo>
                <a:lnTo>
                  <a:pt x="5456751" y="0"/>
                </a:lnTo>
                <a:cubicBezTo>
                  <a:pt x="5538618" y="0"/>
                  <a:pt x="5604985" y="66367"/>
                  <a:pt x="5604985" y="148234"/>
                </a:cubicBezTo>
                <a:lnTo>
                  <a:pt x="5604985" y="1065407"/>
                </a:lnTo>
                <a:cubicBezTo>
                  <a:pt x="5604985" y="1147275"/>
                  <a:pt x="5538618" y="1213641"/>
                  <a:pt x="5456751" y="1213641"/>
                </a:cubicBezTo>
                <a:lnTo>
                  <a:pt x="148234" y="1213641"/>
                </a:lnTo>
                <a:cubicBezTo>
                  <a:pt x="66367" y="1213641"/>
                  <a:pt x="0" y="1147275"/>
                  <a:pt x="0" y="1065407"/>
                </a:cubicBezTo>
                <a:lnTo>
                  <a:pt x="0" y="148234"/>
                </a:lnTo>
                <a:cubicBezTo>
                  <a:pt x="0" y="66421"/>
                  <a:pt x="66421" y="0"/>
                  <a:pt x="148234" y="0"/>
                </a:cubicBezTo>
                <a:close/>
              </a:path>
            </a:pathLst>
          </a:custGeom>
          <a:gradFill>
            <a:gsLst>
              <a:gs pos="0">
                <a:srgbClr val="7C3AED">
                  <a:alpha val="20000"/>
                </a:srgbClr>
              </a:gs>
              <a:gs pos="100000">
                <a:srgbClr val="EC4899">
                  <a:alpha val="20000"/>
                </a:srgbClr>
              </a:gs>
            </a:gsLst>
            <a:lin ang="2700000" scaled="1"/>
          </a:gra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 bwMode="auto">
          <a:xfrm>
            <a:off x="6399554" y="4474723"/>
            <a:ext cx="370578" cy="370578"/>
          </a:xfrm>
          <a:custGeom>
            <a:avLst/>
            <a:gdLst/>
            <a:ahLst/>
            <a:cxnLst/>
            <a:rect l="l" t="t" r="r" b="b"/>
            <a:pathLst>
              <a:path w="370578" h="370578" fill="norm" stroke="1" extrusionOk="0">
                <a:moveTo>
                  <a:pt x="74116" y="0"/>
                </a:moveTo>
                <a:lnTo>
                  <a:pt x="296462" y="0"/>
                </a:lnTo>
                <a:cubicBezTo>
                  <a:pt x="337395" y="0"/>
                  <a:pt x="370578" y="33183"/>
                  <a:pt x="370578" y="74116"/>
                </a:cubicBezTo>
                <a:lnTo>
                  <a:pt x="370578" y="296462"/>
                </a:lnTo>
                <a:cubicBezTo>
                  <a:pt x="370578" y="337395"/>
                  <a:pt x="337395" y="370578"/>
                  <a:pt x="296462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/>
        </p:spPr>
      </p:sp>
      <p:sp>
        <p:nvSpPr>
          <p:cNvPr id="64" name="Shape 62"/>
          <p:cNvSpPr/>
          <p:nvPr/>
        </p:nvSpPr>
        <p:spPr bwMode="auto">
          <a:xfrm>
            <a:off x="6501464" y="4585897"/>
            <a:ext cx="166760" cy="148231"/>
          </a:xfrm>
          <a:custGeom>
            <a:avLst/>
            <a:gdLst/>
            <a:ahLst/>
            <a:cxnLst/>
            <a:rect l="l" t="t" r="r" b="b"/>
            <a:pathLst>
              <a:path w="166760" h="148231" fill="norm" stroke="1" extrusionOk="0">
                <a:moveTo>
                  <a:pt x="89604" y="-5472"/>
                </a:moveTo>
                <a:cubicBezTo>
                  <a:pt x="88417" y="-7788"/>
                  <a:pt x="86015" y="-9264"/>
                  <a:pt x="83409" y="-9264"/>
                </a:cubicBezTo>
                <a:cubicBezTo>
                  <a:pt x="80803" y="-9264"/>
                  <a:pt x="78400" y="-7788"/>
                  <a:pt x="77213" y="-5472"/>
                </a:cubicBezTo>
                <a:lnTo>
                  <a:pt x="55905" y="36276"/>
                </a:lnTo>
                <a:lnTo>
                  <a:pt x="9612" y="43630"/>
                </a:lnTo>
                <a:cubicBezTo>
                  <a:pt x="7035" y="44035"/>
                  <a:pt x="4893" y="45859"/>
                  <a:pt x="4082" y="48349"/>
                </a:cubicBezTo>
                <a:cubicBezTo>
                  <a:pt x="3272" y="50839"/>
                  <a:pt x="3937" y="53560"/>
                  <a:pt x="5761" y="55413"/>
                </a:cubicBezTo>
                <a:lnTo>
                  <a:pt x="38882" y="88562"/>
                </a:lnTo>
                <a:lnTo>
                  <a:pt x="31586" y="134855"/>
                </a:lnTo>
                <a:cubicBezTo>
                  <a:pt x="31181" y="137432"/>
                  <a:pt x="32252" y="140038"/>
                  <a:pt x="34365" y="141572"/>
                </a:cubicBezTo>
                <a:cubicBezTo>
                  <a:pt x="36479" y="143107"/>
                  <a:pt x="39258" y="143338"/>
                  <a:pt x="41603" y="142151"/>
                </a:cubicBezTo>
                <a:lnTo>
                  <a:pt x="83409" y="120901"/>
                </a:lnTo>
                <a:lnTo>
                  <a:pt x="125186" y="142151"/>
                </a:lnTo>
                <a:cubicBezTo>
                  <a:pt x="127502" y="143338"/>
                  <a:pt x="130310" y="143107"/>
                  <a:pt x="132424" y="141572"/>
                </a:cubicBezTo>
                <a:cubicBezTo>
                  <a:pt x="134537" y="140038"/>
                  <a:pt x="135608" y="137461"/>
                  <a:pt x="135203" y="134855"/>
                </a:cubicBezTo>
                <a:lnTo>
                  <a:pt x="127878" y="88562"/>
                </a:lnTo>
                <a:lnTo>
                  <a:pt x="160999" y="55413"/>
                </a:lnTo>
                <a:cubicBezTo>
                  <a:pt x="162851" y="53560"/>
                  <a:pt x="163488" y="50839"/>
                  <a:pt x="162678" y="48349"/>
                </a:cubicBezTo>
                <a:cubicBezTo>
                  <a:pt x="161867" y="45859"/>
                  <a:pt x="159754" y="44035"/>
                  <a:pt x="157148" y="43630"/>
                </a:cubicBezTo>
                <a:lnTo>
                  <a:pt x="110884" y="36276"/>
                </a:lnTo>
                <a:lnTo>
                  <a:pt x="89604" y="-5472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65" name="Text 63"/>
          <p:cNvSpPr/>
          <p:nvPr/>
        </p:nvSpPr>
        <p:spPr bwMode="auto">
          <a:xfrm flipH="0" flipV="0">
            <a:off x="6881305" y="4530309"/>
            <a:ext cx="1834518" cy="259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5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System Qualities</a:t>
            </a:r>
            <a:endParaRPr lang="en-US" sz="1600"/>
          </a:p>
        </p:txBody>
      </p:sp>
      <p:sp>
        <p:nvSpPr>
          <p:cNvPr id="66" name="Shape 64"/>
          <p:cNvSpPr/>
          <p:nvPr/>
        </p:nvSpPr>
        <p:spPr bwMode="auto">
          <a:xfrm>
            <a:off x="6404187" y="4961106"/>
            <a:ext cx="694833" cy="342784"/>
          </a:xfrm>
          <a:custGeom>
            <a:avLst/>
            <a:gdLst/>
            <a:ahLst/>
            <a:cxnLst/>
            <a:rect l="l" t="t" r="r" b="b"/>
            <a:pathLst>
              <a:path w="694833" h="342784" fill="norm" stroke="1" extrusionOk="0">
                <a:moveTo>
                  <a:pt x="171392" y="0"/>
                </a:moveTo>
                <a:lnTo>
                  <a:pt x="523441" y="0"/>
                </a:lnTo>
                <a:cubicBezTo>
                  <a:pt x="618035" y="0"/>
                  <a:pt x="694833" y="76798"/>
                  <a:pt x="694833" y="171392"/>
                </a:cubicBezTo>
                <a:lnTo>
                  <a:pt x="694833" y="171392"/>
                </a:lnTo>
                <a:cubicBezTo>
                  <a:pt x="694833" y="265986"/>
                  <a:pt x="618035" y="342784"/>
                  <a:pt x="523441" y="342784"/>
                </a:cubicBezTo>
                <a:lnTo>
                  <a:pt x="171392" y="342784"/>
                </a:lnTo>
                <a:cubicBezTo>
                  <a:pt x="76798" y="342784"/>
                  <a:pt x="0" y="265986"/>
                  <a:pt x="0" y="171392"/>
                </a:cubicBezTo>
                <a:lnTo>
                  <a:pt x="0" y="171392"/>
                </a:lnTo>
                <a:cubicBezTo>
                  <a:pt x="0" y="76798"/>
                  <a:pt x="76798" y="0"/>
                  <a:pt x="171392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 bwMode="auto">
          <a:xfrm>
            <a:off x="6399554" y="4956474"/>
            <a:ext cx="750419" cy="333520"/>
          </a:xfrm>
          <a:prstGeom prst="rect">
            <a:avLst/>
          </a:prstGeom>
          <a:noFill/>
          <a:ln/>
        </p:spPr>
        <p:txBody>
          <a:bodyPr wrap="square" lIns="148231" tIns="74116" rIns="148231" bIns="74116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Secure</a:t>
            </a:r>
            <a:endParaRPr lang="en-US" sz="1600"/>
          </a:p>
        </p:txBody>
      </p:sp>
      <p:sp>
        <p:nvSpPr>
          <p:cNvPr id="68" name="Shape 66"/>
          <p:cNvSpPr/>
          <p:nvPr/>
        </p:nvSpPr>
        <p:spPr bwMode="auto">
          <a:xfrm>
            <a:off x="7180663" y="4961106"/>
            <a:ext cx="778213" cy="342784"/>
          </a:xfrm>
          <a:custGeom>
            <a:avLst/>
            <a:gdLst/>
            <a:ahLst/>
            <a:cxnLst/>
            <a:rect l="l" t="t" r="r" b="b"/>
            <a:pathLst>
              <a:path w="778213" h="342784" fill="norm" stroke="1" extrusionOk="0">
                <a:moveTo>
                  <a:pt x="171392" y="0"/>
                </a:moveTo>
                <a:lnTo>
                  <a:pt x="606821" y="0"/>
                </a:lnTo>
                <a:cubicBezTo>
                  <a:pt x="701415" y="0"/>
                  <a:pt x="778213" y="76798"/>
                  <a:pt x="778213" y="171392"/>
                </a:cubicBezTo>
                <a:lnTo>
                  <a:pt x="778213" y="171392"/>
                </a:lnTo>
                <a:cubicBezTo>
                  <a:pt x="778213" y="265986"/>
                  <a:pt x="701415" y="342784"/>
                  <a:pt x="606821" y="342784"/>
                </a:cubicBezTo>
                <a:lnTo>
                  <a:pt x="171392" y="342784"/>
                </a:lnTo>
                <a:cubicBezTo>
                  <a:pt x="76798" y="342784"/>
                  <a:pt x="0" y="265986"/>
                  <a:pt x="0" y="171392"/>
                </a:cubicBezTo>
                <a:lnTo>
                  <a:pt x="0" y="171392"/>
                </a:lnTo>
                <a:cubicBezTo>
                  <a:pt x="0" y="76798"/>
                  <a:pt x="76798" y="0"/>
                  <a:pt x="171392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 bwMode="auto">
          <a:xfrm>
            <a:off x="7176031" y="4956474"/>
            <a:ext cx="833799" cy="333520"/>
          </a:xfrm>
          <a:prstGeom prst="rect">
            <a:avLst/>
          </a:prstGeom>
          <a:noFill/>
          <a:ln/>
        </p:spPr>
        <p:txBody>
          <a:bodyPr wrap="square" lIns="148231" tIns="74116" rIns="148231" bIns="74116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Scalable</a:t>
            </a:r>
            <a:endParaRPr lang="en-US" sz="1600"/>
          </a:p>
        </p:txBody>
      </p:sp>
      <p:sp>
        <p:nvSpPr>
          <p:cNvPr id="70" name="Shape 68"/>
          <p:cNvSpPr/>
          <p:nvPr/>
        </p:nvSpPr>
        <p:spPr bwMode="auto">
          <a:xfrm>
            <a:off x="8038782" y="4961106"/>
            <a:ext cx="1065410" cy="342784"/>
          </a:xfrm>
          <a:custGeom>
            <a:avLst/>
            <a:gdLst/>
            <a:ahLst/>
            <a:cxnLst/>
            <a:rect l="l" t="t" r="r" b="b"/>
            <a:pathLst>
              <a:path w="1065410" h="342784" fill="norm" stroke="1" extrusionOk="0">
                <a:moveTo>
                  <a:pt x="171392" y="0"/>
                </a:moveTo>
                <a:lnTo>
                  <a:pt x="894018" y="0"/>
                </a:lnTo>
                <a:cubicBezTo>
                  <a:pt x="988675" y="0"/>
                  <a:pt x="1065410" y="76735"/>
                  <a:pt x="1065410" y="171392"/>
                </a:cubicBezTo>
                <a:lnTo>
                  <a:pt x="1065410" y="171392"/>
                </a:lnTo>
                <a:cubicBezTo>
                  <a:pt x="1065410" y="266049"/>
                  <a:pt x="988675" y="342784"/>
                  <a:pt x="894018" y="342784"/>
                </a:cubicBezTo>
                <a:lnTo>
                  <a:pt x="171392" y="342784"/>
                </a:lnTo>
                <a:cubicBezTo>
                  <a:pt x="76798" y="342784"/>
                  <a:pt x="0" y="265986"/>
                  <a:pt x="0" y="171392"/>
                </a:cubicBezTo>
                <a:lnTo>
                  <a:pt x="0" y="171392"/>
                </a:lnTo>
                <a:cubicBezTo>
                  <a:pt x="0" y="76798"/>
                  <a:pt x="76798" y="0"/>
                  <a:pt x="171392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 bwMode="auto">
          <a:xfrm flipH="0" flipV="0">
            <a:off x="8034148" y="4956473"/>
            <a:ext cx="1363349" cy="333519"/>
          </a:xfrm>
          <a:prstGeom prst="rect">
            <a:avLst/>
          </a:prstGeom>
          <a:noFill/>
          <a:ln/>
        </p:spPr>
        <p:txBody>
          <a:bodyPr wrap="square" lIns="148230" tIns="74115" rIns="148230" bIns="74115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Fault Tolerant</a:t>
            </a:r>
            <a:endParaRPr lang="en-US" sz="1600"/>
          </a:p>
        </p:txBody>
      </p:sp>
      <p:sp>
        <p:nvSpPr>
          <p:cNvPr id="72" name="Shape 70"/>
          <p:cNvSpPr/>
          <p:nvPr/>
        </p:nvSpPr>
        <p:spPr bwMode="auto">
          <a:xfrm>
            <a:off x="9190612" y="4961106"/>
            <a:ext cx="1297021" cy="342784"/>
          </a:xfrm>
          <a:custGeom>
            <a:avLst/>
            <a:gdLst/>
            <a:ahLst/>
            <a:cxnLst/>
            <a:rect l="l" t="t" r="r" b="b"/>
            <a:pathLst>
              <a:path w="1297021" h="342784" fill="norm" stroke="1" extrusionOk="0">
                <a:moveTo>
                  <a:pt x="171392" y="0"/>
                </a:moveTo>
                <a:lnTo>
                  <a:pt x="1125629" y="0"/>
                </a:lnTo>
                <a:cubicBezTo>
                  <a:pt x="1220286" y="0"/>
                  <a:pt x="1297021" y="76735"/>
                  <a:pt x="1297021" y="171392"/>
                </a:cubicBezTo>
                <a:lnTo>
                  <a:pt x="1297021" y="171392"/>
                </a:lnTo>
                <a:cubicBezTo>
                  <a:pt x="1297021" y="266049"/>
                  <a:pt x="1220286" y="342784"/>
                  <a:pt x="1125629" y="342784"/>
                </a:cubicBezTo>
                <a:lnTo>
                  <a:pt x="171392" y="342784"/>
                </a:lnTo>
                <a:cubicBezTo>
                  <a:pt x="76798" y="342784"/>
                  <a:pt x="0" y="265986"/>
                  <a:pt x="0" y="171392"/>
                </a:cubicBezTo>
                <a:lnTo>
                  <a:pt x="0" y="171392"/>
                </a:lnTo>
                <a:cubicBezTo>
                  <a:pt x="0" y="76798"/>
                  <a:pt x="76798" y="0"/>
                  <a:pt x="171392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 bwMode="auto">
          <a:xfrm flipH="0" flipV="0">
            <a:off x="9185978" y="4956473"/>
            <a:ext cx="1729063" cy="333519"/>
          </a:xfrm>
          <a:prstGeom prst="rect">
            <a:avLst/>
          </a:prstGeom>
          <a:noFill/>
          <a:ln/>
        </p:spPr>
        <p:txBody>
          <a:bodyPr wrap="square" lIns="148230" tIns="74115" rIns="148230" bIns="74115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Production Ready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3">
    <p:bg>
      <p:bgPr shadeToTitle="0">
        <a:solidFill>
          <a:srgbClr val="1A0F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365851" y="384144"/>
            <a:ext cx="512192" cy="512192"/>
          </a:xfrm>
          <a:custGeom>
            <a:avLst/>
            <a:gdLst/>
            <a:ahLst/>
            <a:cxnLst/>
            <a:rect l="l" t="t" r="r" b="b"/>
            <a:pathLst>
              <a:path w="512192" h="512192" fill="norm" stroke="1" extrusionOk="0">
                <a:moveTo>
                  <a:pt x="109758" y="0"/>
                </a:moveTo>
                <a:lnTo>
                  <a:pt x="402434" y="0"/>
                </a:lnTo>
                <a:cubicBezTo>
                  <a:pt x="463011" y="0"/>
                  <a:pt x="512192" y="49181"/>
                  <a:pt x="512192" y="109758"/>
                </a:cubicBezTo>
                <a:lnTo>
                  <a:pt x="512192" y="402434"/>
                </a:lnTo>
                <a:cubicBezTo>
                  <a:pt x="512192" y="463052"/>
                  <a:pt x="463052" y="512192"/>
                  <a:pt x="402434" y="512192"/>
                </a:cubicBezTo>
                <a:lnTo>
                  <a:pt x="109758" y="512192"/>
                </a:lnTo>
                <a:cubicBezTo>
                  <a:pt x="49181" y="512192"/>
                  <a:pt x="0" y="463011"/>
                  <a:pt x="0" y="402434"/>
                </a:cubicBezTo>
                <a:lnTo>
                  <a:pt x="0" y="109758"/>
                </a:lnTo>
                <a:cubicBezTo>
                  <a:pt x="0" y="49181"/>
                  <a:pt x="49181" y="0"/>
                  <a:pt x="109758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 bwMode="auto">
          <a:xfrm>
            <a:off x="512192" y="530485"/>
            <a:ext cx="219511" cy="219511"/>
          </a:xfrm>
          <a:custGeom>
            <a:avLst/>
            <a:gdLst/>
            <a:ahLst/>
            <a:cxnLst/>
            <a:rect l="l" t="t" r="r" b="b"/>
            <a:pathLst>
              <a:path w="219511" h="219511" fill="norm" stroke="1" extrusionOk="0">
                <a:moveTo>
                  <a:pt x="192072" y="109755"/>
                </a:moveTo>
                <a:cubicBezTo>
                  <a:pt x="192072" y="64324"/>
                  <a:pt x="155187" y="27439"/>
                  <a:pt x="109755" y="27439"/>
                </a:cubicBezTo>
                <a:cubicBezTo>
                  <a:pt x="64324" y="27439"/>
                  <a:pt x="27439" y="64324"/>
                  <a:pt x="27439" y="109755"/>
                </a:cubicBezTo>
                <a:cubicBezTo>
                  <a:pt x="27439" y="155187"/>
                  <a:pt x="64324" y="192072"/>
                  <a:pt x="109755" y="192072"/>
                </a:cubicBezTo>
                <a:cubicBezTo>
                  <a:pt x="155187" y="192072"/>
                  <a:pt x="192072" y="155187"/>
                  <a:pt x="192072" y="109755"/>
                </a:cubicBezTo>
                <a:close/>
                <a:moveTo>
                  <a:pt x="0" y="109755"/>
                </a:moveTo>
                <a:cubicBezTo>
                  <a:pt x="0" y="49180"/>
                  <a:pt x="49180" y="0"/>
                  <a:pt x="109755" y="0"/>
                </a:cubicBezTo>
                <a:cubicBezTo>
                  <a:pt x="170331" y="0"/>
                  <a:pt x="219511" y="49180"/>
                  <a:pt x="219511" y="109755"/>
                </a:cubicBezTo>
                <a:cubicBezTo>
                  <a:pt x="219511" y="170331"/>
                  <a:pt x="170331" y="219511"/>
                  <a:pt x="109755" y="219511"/>
                </a:cubicBezTo>
                <a:cubicBezTo>
                  <a:pt x="49180" y="219511"/>
                  <a:pt x="0" y="170331"/>
                  <a:pt x="0" y="109755"/>
                </a:cubicBezTo>
                <a:close/>
                <a:moveTo>
                  <a:pt x="109755" y="144054"/>
                </a:moveTo>
                <a:cubicBezTo>
                  <a:pt x="128685" y="144054"/>
                  <a:pt x="144054" y="128685"/>
                  <a:pt x="144054" y="109755"/>
                </a:cubicBezTo>
                <a:cubicBezTo>
                  <a:pt x="144054" y="90826"/>
                  <a:pt x="128685" y="75457"/>
                  <a:pt x="109755" y="75457"/>
                </a:cubicBezTo>
                <a:cubicBezTo>
                  <a:pt x="90826" y="75457"/>
                  <a:pt x="75457" y="90826"/>
                  <a:pt x="75457" y="109755"/>
                </a:cubicBezTo>
                <a:cubicBezTo>
                  <a:pt x="75457" y="128685"/>
                  <a:pt x="90826" y="144054"/>
                  <a:pt x="109755" y="144054"/>
                </a:cubicBezTo>
                <a:close/>
                <a:moveTo>
                  <a:pt x="109755" y="48018"/>
                </a:moveTo>
                <a:cubicBezTo>
                  <a:pt x="143829" y="48018"/>
                  <a:pt x="171493" y="75682"/>
                  <a:pt x="171493" y="109755"/>
                </a:cubicBezTo>
                <a:cubicBezTo>
                  <a:pt x="171493" y="143829"/>
                  <a:pt x="143829" y="171493"/>
                  <a:pt x="109755" y="171493"/>
                </a:cubicBezTo>
                <a:cubicBezTo>
                  <a:pt x="75682" y="171493"/>
                  <a:pt x="48018" y="143829"/>
                  <a:pt x="48018" y="109755"/>
                </a:cubicBezTo>
                <a:cubicBezTo>
                  <a:pt x="48018" y="75682"/>
                  <a:pt x="75682" y="48018"/>
                  <a:pt x="109755" y="48018"/>
                </a:cubicBezTo>
                <a:close/>
                <a:moveTo>
                  <a:pt x="96036" y="109755"/>
                </a:moveTo>
                <a:cubicBezTo>
                  <a:pt x="96036" y="102183"/>
                  <a:pt x="102183" y="96036"/>
                  <a:pt x="109755" y="96036"/>
                </a:cubicBezTo>
                <a:cubicBezTo>
                  <a:pt x="117327" y="96036"/>
                  <a:pt x="123475" y="102183"/>
                  <a:pt x="123475" y="109755"/>
                </a:cubicBezTo>
                <a:cubicBezTo>
                  <a:pt x="123475" y="117327"/>
                  <a:pt x="117327" y="123475"/>
                  <a:pt x="109755" y="123475"/>
                </a:cubicBezTo>
                <a:cubicBezTo>
                  <a:pt x="102183" y="123475"/>
                  <a:pt x="96036" y="117327"/>
                  <a:pt x="96036" y="10975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 bwMode="auto">
          <a:xfrm flipH="0" flipV="0">
            <a:off x="1024383" y="365850"/>
            <a:ext cx="7190410" cy="439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45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Project Overview &amp; Objectives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 bwMode="auto">
          <a:xfrm>
            <a:off x="1024384" y="878044"/>
            <a:ext cx="1170725" cy="36585"/>
          </a:xfrm>
          <a:custGeom>
            <a:avLst/>
            <a:gdLst/>
            <a:ahLst/>
            <a:cxnLst/>
            <a:rect l="l" t="t" r="r" b="b"/>
            <a:pathLst>
              <a:path w="1170725" h="36585" fill="norm" stroke="1" extrusionOk="0">
                <a:moveTo>
                  <a:pt x="18293" y="0"/>
                </a:moveTo>
                <a:lnTo>
                  <a:pt x="1152432" y="0"/>
                </a:lnTo>
                <a:cubicBezTo>
                  <a:pt x="1162535" y="0"/>
                  <a:pt x="1170725" y="8190"/>
                  <a:pt x="1170725" y="18293"/>
                </a:cubicBezTo>
                <a:lnTo>
                  <a:pt x="1170725" y="18293"/>
                </a:lnTo>
                <a:cubicBezTo>
                  <a:pt x="1170725" y="28395"/>
                  <a:pt x="1162535" y="36585"/>
                  <a:pt x="1152432" y="36585"/>
                </a:cubicBezTo>
                <a:lnTo>
                  <a:pt x="18293" y="36585"/>
                </a:lnTo>
                <a:cubicBezTo>
                  <a:pt x="8197" y="36585"/>
                  <a:pt x="0" y="28389"/>
                  <a:pt x="0" y="18293"/>
                </a:cubicBezTo>
                <a:lnTo>
                  <a:pt x="0" y="18293"/>
                </a:lnTo>
                <a:cubicBezTo>
                  <a:pt x="0" y="8197"/>
                  <a:pt x="8197" y="0"/>
                  <a:pt x="18293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 bwMode="auto">
          <a:xfrm>
            <a:off x="370425" y="1138713"/>
            <a:ext cx="5615820" cy="3100591"/>
          </a:xfrm>
          <a:custGeom>
            <a:avLst/>
            <a:gdLst/>
            <a:ahLst/>
            <a:cxnLst/>
            <a:rect l="l" t="t" r="r" b="b"/>
            <a:pathLst>
              <a:path w="5615820" h="3100591" fill="norm" stroke="1" extrusionOk="0">
                <a:moveTo>
                  <a:pt x="146348" y="0"/>
                </a:moveTo>
                <a:lnTo>
                  <a:pt x="5469472" y="0"/>
                </a:lnTo>
                <a:cubicBezTo>
                  <a:pt x="5550298" y="0"/>
                  <a:pt x="5615820" y="65522"/>
                  <a:pt x="5615820" y="146348"/>
                </a:cubicBezTo>
                <a:lnTo>
                  <a:pt x="5615820" y="2954243"/>
                </a:lnTo>
                <a:cubicBezTo>
                  <a:pt x="5615820" y="3035069"/>
                  <a:pt x="5550298" y="3100591"/>
                  <a:pt x="5469472" y="3100591"/>
                </a:cubicBezTo>
                <a:lnTo>
                  <a:pt x="146348" y="3100591"/>
                </a:lnTo>
                <a:cubicBezTo>
                  <a:pt x="65522" y="3100591"/>
                  <a:pt x="0" y="3035069"/>
                  <a:pt x="0" y="2954243"/>
                </a:cubicBezTo>
                <a:lnTo>
                  <a:pt x="0" y="146348"/>
                </a:lnTo>
                <a:cubicBezTo>
                  <a:pt x="0" y="65576"/>
                  <a:pt x="65576" y="0"/>
                  <a:pt x="146348" y="0"/>
                </a:cubicBezTo>
                <a:close/>
              </a:path>
            </a:pathLst>
          </a:custGeom>
          <a:solidFill>
            <a:srgbClr val="4C1D95">
              <a:alpha val="30194"/>
            </a:srgbClr>
          </a:solidFill>
          <a:ln w="12700">
            <a:solidFill>
              <a:srgbClr val="7C3AED">
                <a:alpha val="30194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 bwMode="auto">
          <a:xfrm>
            <a:off x="594509" y="1362797"/>
            <a:ext cx="365851" cy="365851"/>
          </a:xfrm>
          <a:custGeom>
            <a:avLst/>
            <a:gdLst/>
            <a:ahLst/>
            <a:cxnLst/>
            <a:rect l="l" t="t" r="r" b="b"/>
            <a:pathLst>
              <a:path w="365851" h="365851" fill="norm" stroke="1" extrusionOk="0">
                <a:moveTo>
                  <a:pt x="73170" y="0"/>
                </a:moveTo>
                <a:lnTo>
                  <a:pt x="292681" y="0"/>
                </a:lnTo>
                <a:cubicBezTo>
                  <a:pt x="333092" y="0"/>
                  <a:pt x="365851" y="32759"/>
                  <a:pt x="365851" y="73170"/>
                </a:cubicBezTo>
                <a:lnTo>
                  <a:pt x="365851" y="292681"/>
                </a:lnTo>
                <a:cubicBezTo>
                  <a:pt x="365851" y="333092"/>
                  <a:pt x="333092" y="365851"/>
                  <a:pt x="292681" y="365851"/>
                </a:cubicBezTo>
                <a:lnTo>
                  <a:pt x="73170" y="365851"/>
                </a:lnTo>
                <a:cubicBezTo>
                  <a:pt x="32759" y="365851"/>
                  <a:pt x="0" y="333092"/>
                  <a:pt x="0" y="29268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/>
        </p:spPr>
      </p:sp>
      <p:sp>
        <p:nvSpPr>
          <p:cNvPr id="8" name="Shape 6"/>
          <p:cNvSpPr/>
          <p:nvPr/>
        </p:nvSpPr>
        <p:spPr bwMode="auto">
          <a:xfrm>
            <a:off x="704264" y="1472552"/>
            <a:ext cx="146341" cy="146341"/>
          </a:xfrm>
          <a:custGeom>
            <a:avLst/>
            <a:gdLst/>
            <a:ahLst/>
            <a:cxnLst/>
            <a:rect l="l" t="t" r="r" b="b"/>
            <a:pathLst>
              <a:path w="146341" h="146341" fill="norm" stroke="1" extrusionOk="0">
                <a:moveTo>
                  <a:pt x="73170" y="0"/>
                </a:moveTo>
                <a:cubicBezTo>
                  <a:pt x="77372" y="0"/>
                  <a:pt x="81230" y="2315"/>
                  <a:pt x="83231" y="6002"/>
                </a:cubicBezTo>
                <a:lnTo>
                  <a:pt x="144969" y="120331"/>
                </a:lnTo>
                <a:cubicBezTo>
                  <a:pt x="146884" y="123875"/>
                  <a:pt x="146798" y="128162"/>
                  <a:pt x="144740" y="131621"/>
                </a:cubicBezTo>
                <a:cubicBezTo>
                  <a:pt x="142682" y="135079"/>
                  <a:pt x="138938" y="137194"/>
                  <a:pt x="134908" y="137194"/>
                </a:cubicBezTo>
                <a:lnTo>
                  <a:pt x="11433" y="137194"/>
                </a:lnTo>
                <a:cubicBezTo>
                  <a:pt x="7403" y="137194"/>
                  <a:pt x="3687" y="135079"/>
                  <a:pt x="1601" y="131621"/>
                </a:cubicBezTo>
                <a:cubicBezTo>
                  <a:pt x="-486" y="128162"/>
                  <a:pt x="-543" y="123875"/>
                  <a:pt x="1372" y="120331"/>
                </a:cubicBezTo>
                <a:lnTo>
                  <a:pt x="63109" y="6002"/>
                </a:lnTo>
                <a:cubicBezTo>
                  <a:pt x="65110" y="2315"/>
                  <a:pt x="68969" y="0"/>
                  <a:pt x="73170" y="0"/>
                </a:cubicBezTo>
                <a:close/>
                <a:moveTo>
                  <a:pt x="73170" y="48018"/>
                </a:moveTo>
                <a:cubicBezTo>
                  <a:pt x="69369" y="48018"/>
                  <a:pt x="66311" y="51076"/>
                  <a:pt x="66311" y="54878"/>
                </a:cubicBezTo>
                <a:lnTo>
                  <a:pt x="66311" y="86890"/>
                </a:lnTo>
                <a:cubicBezTo>
                  <a:pt x="66311" y="90691"/>
                  <a:pt x="69369" y="93749"/>
                  <a:pt x="73170" y="93749"/>
                </a:cubicBezTo>
                <a:cubicBezTo>
                  <a:pt x="76972" y="93749"/>
                  <a:pt x="80030" y="90691"/>
                  <a:pt x="80030" y="86890"/>
                </a:cubicBezTo>
                <a:lnTo>
                  <a:pt x="80030" y="54878"/>
                </a:lnTo>
                <a:cubicBezTo>
                  <a:pt x="80030" y="51076"/>
                  <a:pt x="76972" y="48018"/>
                  <a:pt x="73170" y="48018"/>
                </a:cubicBezTo>
                <a:close/>
                <a:moveTo>
                  <a:pt x="80802" y="109755"/>
                </a:moveTo>
                <a:cubicBezTo>
                  <a:pt x="80975" y="106923"/>
                  <a:pt x="79563" y="104228"/>
                  <a:pt x="77134" y="102759"/>
                </a:cubicBezTo>
                <a:cubicBezTo>
                  <a:pt x="74706" y="101290"/>
                  <a:pt x="71663" y="101290"/>
                  <a:pt x="69235" y="102759"/>
                </a:cubicBezTo>
                <a:cubicBezTo>
                  <a:pt x="66806" y="104228"/>
                  <a:pt x="65394" y="106923"/>
                  <a:pt x="65567" y="109755"/>
                </a:cubicBezTo>
                <a:cubicBezTo>
                  <a:pt x="65394" y="112588"/>
                  <a:pt x="66806" y="115283"/>
                  <a:pt x="69235" y="116752"/>
                </a:cubicBezTo>
                <a:cubicBezTo>
                  <a:pt x="71663" y="118221"/>
                  <a:pt x="74706" y="118221"/>
                  <a:pt x="77134" y="116752"/>
                </a:cubicBezTo>
                <a:cubicBezTo>
                  <a:pt x="79563" y="115283"/>
                  <a:pt x="80975" y="112588"/>
                  <a:pt x="80802" y="109755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9" name="Text 7"/>
          <p:cNvSpPr/>
          <p:nvPr/>
        </p:nvSpPr>
        <p:spPr bwMode="auto">
          <a:xfrm flipH="0" flipV="0">
            <a:off x="1070115" y="1399381"/>
            <a:ext cx="2108218" cy="292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75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The Problem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 bwMode="auto">
          <a:xfrm>
            <a:off x="594509" y="1874989"/>
            <a:ext cx="5240822" cy="713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15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In many organisations, teams receive data files in </a:t>
            </a:r>
            <a:r>
              <a:rPr lang="en-US" sz="115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different formats from various sources</a:t>
            </a:r>
            <a:r>
              <a:rPr lang="en-US" sz="115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. Traditional scripts that work for only one specific file often </a:t>
            </a:r>
            <a:r>
              <a:rPr lang="en-US" sz="115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break when the data structure changes</a:t>
            </a:r>
            <a:r>
              <a:rPr lang="en-US" sz="115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.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 bwMode="auto">
          <a:xfrm>
            <a:off x="612801" y="2734740"/>
            <a:ext cx="5149359" cy="1280479"/>
          </a:xfrm>
          <a:custGeom>
            <a:avLst/>
            <a:gdLst/>
            <a:ahLst/>
            <a:cxnLst/>
            <a:rect l="l" t="t" r="r" b="b"/>
            <a:pathLst>
              <a:path w="5149359" h="1280480" fill="norm" stroke="1" extrusionOk="0">
                <a:moveTo>
                  <a:pt x="36585" y="0"/>
                </a:moveTo>
                <a:lnTo>
                  <a:pt x="5039609" y="0"/>
                </a:lnTo>
                <a:cubicBezTo>
                  <a:pt x="5100223" y="0"/>
                  <a:pt x="5149359" y="49137"/>
                  <a:pt x="5149359" y="109750"/>
                </a:cubicBezTo>
                <a:lnTo>
                  <a:pt x="5149359" y="1170730"/>
                </a:lnTo>
                <a:cubicBezTo>
                  <a:pt x="5149359" y="1231343"/>
                  <a:pt x="5100223" y="1280480"/>
                  <a:pt x="5039609" y="1280480"/>
                </a:cubicBezTo>
                <a:lnTo>
                  <a:pt x="36585" y="1280480"/>
                </a:lnTo>
                <a:cubicBezTo>
                  <a:pt x="16380" y="1280480"/>
                  <a:pt x="0" y="1264100"/>
                  <a:pt x="0" y="1243895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 bwMode="auto">
          <a:xfrm>
            <a:off x="612801" y="2734740"/>
            <a:ext cx="36585" cy="1280479"/>
          </a:xfrm>
          <a:custGeom>
            <a:avLst/>
            <a:gdLst/>
            <a:ahLst/>
            <a:cxnLst/>
            <a:rect l="l" t="t" r="r" b="b"/>
            <a:pathLst>
              <a:path w="36585" h="1280480" fill="norm" stroke="1" extrusionOk="0">
                <a:moveTo>
                  <a:pt x="36585" y="0"/>
                </a:moveTo>
                <a:lnTo>
                  <a:pt x="36585" y="0"/>
                </a:lnTo>
                <a:lnTo>
                  <a:pt x="36585" y="1280480"/>
                </a:lnTo>
                <a:lnTo>
                  <a:pt x="36585" y="1280480"/>
                </a:lnTo>
                <a:cubicBezTo>
                  <a:pt x="16380" y="1280480"/>
                  <a:pt x="0" y="1264100"/>
                  <a:pt x="0" y="1243895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13" name="Text 11"/>
          <p:cNvSpPr/>
          <p:nvPr/>
        </p:nvSpPr>
        <p:spPr bwMode="auto">
          <a:xfrm>
            <a:off x="777434" y="2881080"/>
            <a:ext cx="4911556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Common Pain Points: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 bwMode="auto">
          <a:xfrm>
            <a:off x="795727" y="3210347"/>
            <a:ext cx="128048" cy="128048"/>
          </a:xfrm>
          <a:custGeom>
            <a:avLst/>
            <a:gdLst/>
            <a:ahLst/>
            <a:cxnLst/>
            <a:rect l="l" t="t" r="r" b="b"/>
            <a:pathLst>
              <a:path w="128048" h="128048" fill="norm" stroke="1" extrusionOk="0">
                <a:moveTo>
                  <a:pt x="64024" y="128048"/>
                </a:moveTo>
                <a:cubicBezTo>
                  <a:pt x="99360" y="128048"/>
                  <a:pt x="128048" y="99360"/>
                  <a:pt x="128048" y="64024"/>
                </a:cubicBezTo>
                <a:cubicBezTo>
                  <a:pt x="128048" y="28688"/>
                  <a:pt x="99360" y="0"/>
                  <a:pt x="64024" y="0"/>
                </a:cubicBezTo>
                <a:cubicBezTo>
                  <a:pt x="28688" y="0"/>
                  <a:pt x="0" y="28688"/>
                  <a:pt x="0" y="64024"/>
                </a:cubicBezTo>
                <a:cubicBezTo>
                  <a:pt x="0" y="99360"/>
                  <a:pt x="28688" y="128048"/>
                  <a:pt x="64024" y="128048"/>
                </a:cubicBezTo>
                <a:close/>
                <a:moveTo>
                  <a:pt x="41766" y="41766"/>
                </a:moveTo>
                <a:cubicBezTo>
                  <a:pt x="44117" y="39415"/>
                  <a:pt x="47918" y="39415"/>
                  <a:pt x="50244" y="41766"/>
                </a:cubicBezTo>
                <a:lnTo>
                  <a:pt x="63999" y="55521"/>
                </a:lnTo>
                <a:lnTo>
                  <a:pt x="77754" y="41766"/>
                </a:lnTo>
                <a:cubicBezTo>
                  <a:pt x="80105" y="39415"/>
                  <a:pt x="83906" y="39415"/>
                  <a:pt x="86232" y="41766"/>
                </a:cubicBezTo>
                <a:cubicBezTo>
                  <a:pt x="88558" y="44117"/>
                  <a:pt x="88583" y="47918"/>
                  <a:pt x="86232" y="50244"/>
                </a:cubicBezTo>
                <a:lnTo>
                  <a:pt x="72477" y="63999"/>
                </a:lnTo>
                <a:lnTo>
                  <a:pt x="86232" y="77754"/>
                </a:lnTo>
                <a:cubicBezTo>
                  <a:pt x="88583" y="80105"/>
                  <a:pt x="88583" y="83906"/>
                  <a:pt x="86232" y="86232"/>
                </a:cubicBezTo>
                <a:cubicBezTo>
                  <a:pt x="83881" y="88558"/>
                  <a:pt x="80080" y="88583"/>
                  <a:pt x="77754" y="86232"/>
                </a:cubicBezTo>
                <a:lnTo>
                  <a:pt x="63999" y="72477"/>
                </a:lnTo>
                <a:lnTo>
                  <a:pt x="50244" y="86232"/>
                </a:lnTo>
                <a:cubicBezTo>
                  <a:pt x="47893" y="88583"/>
                  <a:pt x="44092" y="88583"/>
                  <a:pt x="41766" y="86232"/>
                </a:cubicBezTo>
                <a:cubicBezTo>
                  <a:pt x="39440" y="83881"/>
                  <a:pt x="39415" y="80080"/>
                  <a:pt x="41766" y="77754"/>
                </a:cubicBezTo>
                <a:lnTo>
                  <a:pt x="55521" y="63999"/>
                </a:lnTo>
                <a:lnTo>
                  <a:pt x="41766" y="50244"/>
                </a:lnTo>
                <a:cubicBezTo>
                  <a:pt x="39415" y="47893"/>
                  <a:pt x="39415" y="44092"/>
                  <a:pt x="41766" y="41766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15" name="Text 13"/>
          <p:cNvSpPr/>
          <p:nvPr/>
        </p:nvSpPr>
        <p:spPr bwMode="auto">
          <a:xfrm>
            <a:off x="1010665" y="3173761"/>
            <a:ext cx="1801818" cy="18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Scripts fail with format changes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 bwMode="auto">
          <a:xfrm>
            <a:off x="795727" y="3466443"/>
            <a:ext cx="128048" cy="128048"/>
          </a:xfrm>
          <a:custGeom>
            <a:avLst/>
            <a:gdLst/>
            <a:ahLst/>
            <a:cxnLst/>
            <a:rect l="l" t="t" r="r" b="b"/>
            <a:pathLst>
              <a:path w="128048" h="128048" fill="norm" stroke="1" extrusionOk="0">
                <a:moveTo>
                  <a:pt x="64024" y="128048"/>
                </a:moveTo>
                <a:cubicBezTo>
                  <a:pt x="99360" y="128048"/>
                  <a:pt x="128048" y="99360"/>
                  <a:pt x="128048" y="64024"/>
                </a:cubicBezTo>
                <a:cubicBezTo>
                  <a:pt x="128048" y="28688"/>
                  <a:pt x="99360" y="0"/>
                  <a:pt x="64024" y="0"/>
                </a:cubicBezTo>
                <a:cubicBezTo>
                  <a:pt x="28688" y="0"/>
                  <a:pt x="0" y="28688"/>
                  <a:pt x="0" y="64024"/>
                </a:cubicBezTo>
                <a:cubicBezTo>
                  <a:pt x="0" y="99360"/>
                  <a:pt x="28688" y="128048"/>
                  <a:pt x="64024" y="128048"/>
                </a:cubicBezTo>
                <a:close/>
                <a:moveTo>
                  <a:pt x="41766" y="41766"/>
                </a:moveTo>
                <a:cubicBezTo>
                  <a:pt x="44117" y="39415"/>
                  <a:pt x="47918" y="39415"/>
                  <a:pt x="50244" y="41766"/>
                </a:cubicBezTo>
                <a:lnTo>
                  <a:pt x="63999" y="55521"/>
                </a:lnTo>
                <a:lnTo>
                  <a:pt x="77754" y="41766"/>
                </a:lnTo>
                <a:cubicBezTo>
                  <a:pt x="80105" y="39415"/>
                  <a:pt x="83906" y="39415"/>
                  <a:pt x="86232" y="41766"/>
                </a:cubicBezTo>
                <a:cubicBezTo>
                  <a:pt x="88558" y="44117"/>
                  <a:pt x="88583" y="47918"/>
                  <a:pt x="86232" y="50244"/>
                </a:cubicBezTo>
                <a:lnTo>
                  <a:pt x="72477" y="63999"/>
                </a:lnTo>
                <a:lnTo>
                  <a:pt x="86232" y="77754"/>
                </a:lnTo>
                <a:cubicBezTo>
                  <a:pt x="88583" y="80105"/>
                  <a:pt x="88583" y="83906"/>
                  <a:pt x="86232" y="86232"/>
                </a:cubicBezTo>
                <a:cubicBezTo>
                  <a:pt x="83881" y="88558"/>
                  <a:pt x="80080" y="88583"/>
                  <a:pt x="77754" y="86232"/>
                </a:cubicBezTo>
                <a:lnTo>
                  <a:pt x="63999" y="72477"/>
                </a:lnTo>
                <a:lnTo>
                  <a:pt x="50244" y="86232"/>
                </a:lnTo>
                <a:cubicBezTo>
                  <a:pt x="47893" y="88583"/>
                  <a:pt x="44092" y="88583"/>
                  <a:pt x="41766" y="86232"/>
                </a:cubicBezTo>
                <a:cubicBezTo>
                  <a:pt x="39440" y="83881"/>
                  <a:pt x="39415" y="80080"/>
                  <a:pt x="41766" y="77754"/>
                </a:cubicBezTo>
                <a:lnTo>
                  <a:pt x="55521" y="63999"/>
                </a:lnTo>
                <a:lnTo>
                  <a:pt x="41766" y="50244"/>
                </a:lnTo>
                <a:cubicBezTo>
                  <a:pt x="39415" y="47893"/>
                  <a:pt x="39415" y="44092"/>
                  <a:pt x="41766" y="41766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17" name="Text 15"/>
          <p:cNvSpPr/>
          <p:nvPr/>
        </p:nvSpPr>
        <p:spPr bwMode="auto">
          <a:xfrm>
            <a:off x="1010665" y="3429857"/>
            <a:ext cx="2304864" cy="18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Code rewriting required for each dataset</a:t>
            </a:r>
            <a:endParaRPr lang="en-US" sz="1600"/>
          </a:p>
        </p:txBody>
      </p:sp>
      <p:sp>
        <p:nvSpPr>
          <p:cNvPr id="18" name="Shape 16"/>
          <p:cNvSpPr/>
          <p:nvPr/>
        </p:nvSpPr>
        <p:spPr bwMode="auto">
          <a:xfrm>
            <a:off x="795727" y="3722539"/>
            <a:ext cx="128048" cy="128048"/>
          </a:xfrm>
          <a:custGeom>
            <a:avLst/>
            <a:gdLst/>
            <a:ahLst/>
            <a:cxnLst/>
            <a:rect l="l" t="t" r="r" b="b"/>
            <a:pathLst>
              <a:path w="128048" h="128048" fill="norm" stroke="1" extrusionOk="0">
                <a:moveTo>
                  <a:pt x="64024" y="128048"/>
                </a:moveTo>
                <a:cubicBezTo>
                  <a:pt x="99360" y="128048"/>
                  <a:pt x="128048" y="99360"/>
                  <a:pt x="128048" y="64024"/>
                </a:cubicBezTo>
                <a:cubicBezTo>
                  <a:pt x="128048" y="28688"/>
                  <a:pt x="99360" y="0"/>
                  <a:pt x="64024" y="0"/>
                </a:cubicBezTo>
                <a:cubicBezTo>
                  <a:pt x="28688" y="0"/>
                  <a:pt x="0" y="28688"/>
                  <a:pt x="0" y="64024"/>
                </a:cubicBezTo>
                <a:cubicBezTo>
                  <a:pt x="0" y="99360"/>
                  <a:pt x="28688" y="128048"/>
                  <a:pt x="64024" y="128048"/>
                </a:cubicBezTo>
                <a:close/>
                <a:moveTo>
                  <a:pt x="41766" y="41766"/>
                </a:moveTo>
                <a:cubicBezTo>
                  <a:pt x="44117" y="39415"/>
                  <a:pt x="47918" y="39415"/>
                  <a:pt x="50244" y="41766"/>
                </a:cubicBezTo>
                <a:lnTo>
                  <a:pt x="63999" y="55521"/>
                </a:lnTo>
                <a:lnTo>
                  <a:pt x="77754" y="41766"/>
                </a:lnTo>
                <a:cubicBezTo>
                  <a:pt x="80105" y="39415"/>
                  <a:pt x="83906" y="39415"/>
                  <a:pt x="86232" y="41766"/>
                </a:cubicBezTo>
                <a:cubicBezTo>
                  <a:pt x="88558" y="44117"/>
                  <a:pt x="88583" y="47918"/>
                  <a:pt x="86232" y="50244"/>
                </a:cubicBezTo>
                <a:lnTo>
                  <a:pt x="72477" y="63999"/>
                </a:lnTo>
                <a:lnTo>
                  <a:pt x="86232" y="77754"/>
                </a:lnTo>
                <a:cubicBezTo>
                  <a:pt x="88583" y="80105"/>
                  <a:pt x="88583" y="83906"/>
                  <a:pt x="86232" y="86232"/>
                </a:cubicBezTo>
                <a:cubicBezTo>
                  <a:pt x="83881" y="88558"/>
                  <a:pt x="80080" y="88583"/>
                  <a:pt x="77754" y="86232"/>
                </a:cubicBezTo>
                <a:lnTo>
                  <a:pt x="63999" y="72477"/>
                </a:lnTo>
                <a:lnTo>
                  <a:pt x="50244" y="86232"/>
                </a:lnTo>
                <a:cubicBezTo>
                  <a:pt x="47893" y="88583"/>
                  <a:pt x="44092" y="88583"/>
                  <a:pt x="41766" y="86232"/>
                </a:cubicBezTo>
                <a:cubicBezTo>
                  <a:pt x="39440" y="83881"/>
                  <a:pt x="39415" y="80080"/>
                  <a:pt x="41766" y="77754"/>
                </a:cubicBezTo>
                <a:lnTo>
                  <a:pt x="55521" y="63999"/>
                </a:lnTo>
                <a:lnTo>
                  <a:pt x="41766" y="50244"/>
                </a:lnTo>
                <a:cubicBezTo>
                  <a:pt x="39415" y="47893"/>
                  <a:pt x="39415" y="44092"/>
                  <a:pt x="41766" y="41766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19" name="Text 17"/>
          <p:cNvSpPr/>
          <p:nvPr/>
        </p:nvSpPr>
        <p:spPr bwMode="auto">
          <a:xfrm>
            <a:off x="1010665" y="3685953"/>
            <a:ext cx="1820111" cy="18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No unified processing approach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 bwMode="auto">
          <a:xfrm>
            <a:off x="370425" y="4431376"/>
            <a:ext cx="5615820" cy="1673770"/>
          </a:xfrm>
          <a:custGeom>
            <a:avLst/>
            <a:gdLst/>
            <a:ahLst/>
            <a:cxnLst/>
            <a:rect l="l" t="t" r="r" b="b"/>
            <a:pathLst>
              <a:path w="5615820" h="1673770" fill="norm" stroke="1" extrusionOk="0">
                <a:moveTo>
                  <a:pt x="146338" y="0"/>
                </a:moveTo>
                <a:lnTo>
                  <a:pt x="5469482" y="0"/>
                </a:lnTo>
                <a:cubicBezTo>
                  <a:pt x="5550302" y="0"/>
                  <a:pt x="5615820" y="65518"/>
                  <a:pt x="5615820" y="146338"/>
                </a:cubicBezTo>
                <a:lnTo>
                  <a:pt x="5615820" y="1527433"/>
                </a:lnTo>
                <a:cubicBezTo>
                  <a:pt x="5615820" y="1608253"/>
                  <a:pt x="5550302" y="1673770"/>
                  <a:pt x="5469482" y="1673770"/>
                </a:cubicBezTo>
                <a:lnTo>
                  <a:pt x="146338" y="1673770"/>
                </a:lnTo>
                <a:cubicBezTo>
                  <a:pt x="65518" y="1673770"/>
                  <a:pt x="0" y="1608253"/>
                  <a:pt x="0" y="1527433"/>
                </a:cubicBezTo>
                <a:lnTo>
                  <a:pt x="0" y="146338"/>
                </a:lnTo>
                <a:cubicBezTo>
                  <a:pt x="0" y="65518"/>
                  <a:pt x="65518" y="0"/>
                  <a:pt x="146338" y="0"/>
                </a:cubicBezTo>
                <a:close/>
              </a:path>
            </a:pathLst>
          </a:custGeom>
          <a:gradFill>
            <a:gsLst>
              <a:gs pos="0">
                <a:srgbClr val="7C3AED">
                  <a:alpha val="20000"/>
                </a:srgbClr>
              </a:gs>
              <a:gs pos="100000">
                <a:srgbClr val="EC4899">
                  <a:alpha val="20000"/>
                </a:srgbClr>
              </a:gs>
            </a:gsLst>
            <a:lin ang="2700000" scaled="1"/>
          </a:gra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 bwMode="auto">
          <a:xfrm>
            <a:off x="594509" y="4655460"/>
            <a:ext cx="365851" cy="365851"/>
          </a:xfrm>
          <a:custGeom>
            <a:avLst/>
            <a:gdLst/>
            <a:ahLst/>
            <a:cxnLst/>
            <a:rect l="l" t="t" r="r" b="b"/>
            <a:pathLst>
              <a:path w="365851" h="365851" fill="norm" stroke="1" extrusionOk="0">
                <a:moveTo>
                  <a:pt x="73170" y="0"/>
                </a:moveTo>
                <a:lnTo>
                  <a:pt x="292681" y="0"/>
                </a:lnTo>
                <a:cubicBezTo>
                  <a:pt x="333092" y="0"/>
                  <a:pt x="365851" y="32759"/>
                  <a:pt x="365851" y="73170"/>
                </a:cubicBezTo>
                <a:lnTo>
                  <a:pt x="365851" y="292681"/>
                </a:lnTo>
                <a:cubicBezTo>
                  <a:pt x="365851" y="333092"/>
                  <a:pt x="333092" y="365851"/>
                  <a:pt x="292681" y="365851"/>
                </a:cubicBezTo>
                <a:lnTo>
                  <a:pt x="73170" y="365851"/>
                </a:lnTo>
                <a:cubicBezTo>
                  <a:pt x="32759" y="365851"/>
                  <a:pt x="0" y="333092"/>
                  <a:pt x="0" y="29268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22" name="Shape 20"/>
          <p:cNvSpPr/>
          <p:nvPr/>
        </p:nvSpPr>
        <p:spPr bwMode="auto">
          <a:xfrm>
            <a:off x="722557" y="4765215"/>
            <a:ext cx="109755" cy="146341"/>
          </a:xfrm>
          <a:custGeom>
            <a:avLst/>
            <a:gdLst/>
            <a:ahLst/>
            <a:cxnLst/>
            <a:rect l="l" t="t" r="r" b="b"/>
            <a:pathLst>
              <a:path w="109755" h="146341" fill="norm" stroke="1" extrusionOk="0">
                <a:moveTo>
                  <a:pt x="83717" y="109755"/>
                </a:moveTo>
                <a:cubicBezTo>
                  <a:pt x="85804" y="103382"/>
                  <a:pt x="89977" y="97608"/>
                  <a:pt x="94693" y="92635"/>
                </a:cubicBezTo>
                <a:cubicBezTo>
                  <a:pt x="104039" y="82802"/>
                  <a:pt x="109755" y="69512"/>
                  <a:pt x="109755" y="54878"/>
                </a:cubicBezTo>
                <a:cubicBezTo>
                  <a:pt x="109755" y="24581"/>
                  <a:pt x="85175" y="0"/>
                  <a:pt x="54878" y="0"/>
                </a:cubicBezTo>
                <a:cubicBezTo>
                  <a:pt x="24581" y="0"/>
                  <a:pt x="0" y="24581"/>
                  <a:pt x="0" y="54878"/>
                </a:cubicBezTo>
                <a:cubicBezTo>
                  <a:pt x="0" y="69512"/>
                  <a:pt x="5716" y="82802"/>
                  <a:pt x="15063" y="92635"/>
                </a:cubicBezTo>
                <a:cubicBezTo>
                  <a:pt x="19779" y="97608"/>
                  <a:pt x="23980" y="103382"/>
                  <a:pt x="26038" y="109755"/>
                </a:cubicBezTo>
                <a:lnTo>
                  <a:pt x="83689" y="109755"/>
                </a:lnTo>
                <a:close/>
                <a:moveTo>
                  <a:pt x="82317" y="123475"/>
                </a:moveTo>
                <a:lnTo>
                  <a:pt x="27439" y="123475"/>
                </a:lnTo>
                <a:lnTo>
                  <a:pt x="27439" y="128048"/>
                </a:lnTo>
                <a:cubicBezTo>
                  <a:pt x="27439" y="140681"/>
                  <a:pt x="37671" y="150914"/>
                  <a:pt x="50305" y="150914"/>
                </a:cubicBezTo>
                <a:lnTo>
                  <a:pt x="59451" y="150914"/>
                </a:lnTo>
                <a:cubicBezTo>
                  <a:pt x="72084" y="150914"/>
                  <a:pt x="82317" y="140681"/>
                  <a:pt x="82317" y="128048"/>
                </a:cubicBezTo>
                <a:lnTo>
                  <a:pt x="82317" y="123475"/>
                </a:lnTo>
                <a:close/>
                <a:moveTo>
                  <a:pt x="52591" y="32012"/>
                </a:moveTo>
                <a:cubicBezTo>
                  <a:pt x="41215" y="32012"/>
                  <a:pt x="32012" y="41215"/>
                  <a:pt x="32012" y="52591"/>
                </a:cubicBezTo>
                <a:cubicBezTo>
                  <a:pt x="32012" y="56393"/>
                  <a:pt x="28954" y="59451"/>
                  <a:pt x="25152" y="59451"/>
                </a:cubicBezTo>
                <a:cubicBezTo>
                  <a:pt x="21351" y="59451"/>
                  <a:pt x="18293" y="56393"/>
                  <a:pt x="18293" y="52591"/>
                </a:cubicBezTo>
                <a:cubicBezTo>
                  <a:pt x="18293" y="33641"/>
                  <a:pt x="33641" y="18293"/>
                  <a:pt x="52591" y="18293"/>
                </a:cubicBezTo>
                <a:cubicBezTo>
                  <a:pt x="56393" y="18293"/>
                  <a:pt x="59451" y="21351"/>
                  <a:pt x="59451" y="25152"/>
                </a:cubicBezTo>
                <a:cubicBezTo>
                  <a:pt x="59451" y="28954"/>
                  <a:pt x="56393" y="32012"/>
                  <a:pt x="52591" y="32012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 bwMode="auto">
          <a:xfrm flipH="0" flipV="0">
            <a:off x="1070115" y="4692044"/>
            <a:ext cx="1760659" cy="292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75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The Solution</a:t>
            </a:r>
            <a:endParaRPr lang="en-US" sz="1600"/>
          </a:p>
        </p:txBody>
      </p:sp>
      <p:sp>
        <p:nvSpPr>
          <p:cNvPr id="24" name="Text 22"/>
          <p:cNvSpPr/>
          <p:nvPr/>
        </p:nvSpPr>
        <p:spPr bwMode="auto">
          <a:xfrm>
            <a:off x="594509" y="5167652"/>
            <a:ext cx="5240822" cy="713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15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SkyPipe creates a </a:t>
            </a:r>
            <a:r>
              <a:rPr lang="en-US" sz="115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single, flexible pipeline</a:t>
            </a:r>
            <a:r>
              <a:rPr lang="en-US" sz="115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that can accept many types of structured datasets and process them </a:t>
            </a:r>
            <a:r>
              <a:rPr lang="en-US" sz="115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automatically without rewriting code</a:t>
            </a:r>
            <a:r>
              <a:rPr lang="en-US" sz="115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each time.</a:t>
            </a:r>
            <a:endParaRPr lang="en-US" sz="1600"/>
          </a:p>
        </p:txBody>
      </p:sp>
      <p:sp>
        <p:nvSpPr>
          <p:cNvPr id="25" name="Shape 23"/>
          <p:cNvSpPr/>
          <p:nvPr/>
        </p:nvSpPr>
        <p:spPr bwMode="auto">
          <a:xfrm>
            <a:off x="6211758" y="1138713"/>
            <a:ext cx="5615820" cy="3429857"/>
          </a:xfrm>
          <a:custGeom>
            <a:avLst/>
            <a:gdLst/>
            <a:ahLst/>
            <a:cxnLst/>
            <a:rect l="l" t="t" r="r" b="b"/>
            <a:pathLst>
              <a:path w="5615820" h="3429857" fill="norm" stroke="1" extrusionOk="0">
                <a:moveTo>
                  <a:pt x="146352" y="0"/>
                </a:moveTo>
                <a:lnTo>
                  <a:pt x="5469468" y="0"/>
                </a:lnTo>
                <a:cubicBezTo>
                  <a:pt x="5550296" y="0"/>
                  <a:pt x="5615820" y="65524"/>
                  <a:pt x="5615820" y="146352"/>
                </a:cubicBezTo>
                <a:lnTo>
                  <a:pt x="5615820" y="3283505"/>
                </a:lnTo>
                <a:cubicBezTo>
                  <a:pt x="5615820" y="3364333"/>
                  <a:pt x="5550296" y="3429857"/>
                  <a:pt x="5469468" y="3429857"/>
                </a:cubicBezTo>
                <a:lnTo>
                  <a:pt x="146352" y="3429857"/>
                </a:lnTo>
                <a:cubicBezTo>
                  <a:pt x="65524" y="3429857"/>
                  <a:pt x="0" y="3364333"/>
                  <a:pt x="0" y="3283505"/>
                </a:cubicBezTo>
                <a:lnTo>
                  <a:pt x="0" y="146352"/>
                </a:lnTo>
                <a:cubicBezTo>
                  <a:pt x="0" y="65578"/>
                  <a:pt x="65578" y="0"/>
                  <a:pt x="146352" y="0"/>
                </a:cubicBezTo>
                <a:close/>
              </a:path>
            </a:pathLst>
          </a:custGeom>
          <a:solidFill>
            <a:srgbClr val="4C1D95">
              <a:alpha val="30194"/>
            </a:srgbClr>
          </a:solidFill>
          <a:ln w="12700">
            <a:solidFill>
              <a:srgbClr val="7C3AED">
                <a:alpha val="30194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 bwMode="auto">
          <a:xfrm>
            <a:off x="6435842" y="1362797"/>
            <a:ext cx="365851" cy="365851"/>
          </a:xfrm>
          <a:custGeom>
            <a:avLst/>
            <a:gdLst/>
            <a:ahLst/>
            <a:cxnLst/>
            <a:rect l="l" t="t" r="r" b="b"/>
            <a:pathLst>
              <a:path w="365851" h="365851" fill="norm" stroke="1" extrusionOk="0">
                <a:moveTo>
                  <a:pt x="73170" y="0"/>
                </a:moveTo>
                <a:lnTo>
                  <a:pt x="292681" y="0"/>
                </a:lnTo>
                <a:cubicBezTo>
                  <a:pt x="333092" y="0"/>
                  <a:pt x="365851" y="32759"/>
                  <a:pt x="365851" y="73170"/>
                </a:cubicBezTo>
                <a:lnTo>
                  <a:pt x="365851" y="292681"/>
                </a:lnTo>
                <a:cubicBezTo>
                  <a:pt x="365851" y="333092"/>
                  <a:pt x="333092" y="365851"/>
                  <a:pt x="292681" y="365851"/>
                </a:cubicBezTo>
                <a:lnTo>
                  <a:pt x="73170" y="365851"/>
                </a:lnTo>
                <a:cubicBezTo>
                  <a:pt x="32759" y="365851"/>
                  <a:pt x="0" y="333092"/>
                  <a:pt x="0" y="29268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27" name="Shape 25"/>
          <p:cNvSpPr/>
          <p:nvPr/>
        </p:nvSpPr>
        <p:spPr bwMode="auto">
          <a:xfrm>
            <a:off x="6536451" y="1472552"/>
            <a:ext cx="164633" cy="146341"/>
          </a:xfrm>
          <a:custGeom>
            <a:avLst/>
            <a:gdLst/>
            <a:ahLst/>
            <a:cxnLst/>
            <a:rect l="l" t="t" r="r" b="b"/>
            <a:pathLst>
              <a:path w="164633" h="146341" fill="norm" stroke="1" extrusionOk="0">
                <a:moveTo>
                  <a:pt x="82317" y="-4573"/>
                </a:moveTo>
                <a:cubicBezTo>
                  <a:pt x="87376" y="-4573"/>
                  <a:pt x="91463" y="-486"/>
                  <a:pt x="91463" y="4573"/>
                </a:cubicBezTo>
                <a:lnTo>
                  <a:pt x="91463" y="9804"/>
                </a:lnTo>
                <a:cubicBezTo>
                  <a:pt x="119502" y="13805"/>
                  <a:pt x="141682" y="35985"/>
                  <a:pt x="145683" y="64024"/>
                </a:cubicBezTo>
                <a:lnTo>
                  <a:pt x="150914" y="64024"/>
                </a:lnTo>
                <a:cubicBezTo>
                  <a:pt x="155973" y="64024"/>
                  <a:pt x="160060" y="68111"/>
                  <a:pt x="160060" y="73170"/>
                </a:cubicBezTo>
                <a:cubicBezTo>
                  <a:pt x="160060" y="78229"/>
                  <a:pt x="155973" y="82317"/>
                  <a:pt x="150914" y="82317"/>
                </a:cubicBezTo>
                <a:lnTo>
                  <a:pt x="145683" y="82317"/>
                </a:lnTo>
                <a:cubicBezTo>
                  <a:pt x="141682" y="110356"/>
                  <a:pt x="119502" y="132535"/>
                  <a:pt x="91463" y="136537"/>
                </a:cubicBezTo>
                <a:lnTo>
                  <a:pt x="91463" y="141767"/>
                </a:lnTo>
                <a:cubicBezTo>
                  <a:pt x="91463" y="146826"/>
                  <a:pt x="87376" y="150914"/>
                  <a:pt x="82317" y="150914"/>
                </a:cubicBezTo>
                <a:cubicBezTo>
                  <a:pt x="77258" y="150914"/>
                  <a:pt x="73170" y="146826"/>
                  <a:pt x="73170" y="141767"/>
                </a:cubicBezTo>
                <a:lnTo>
                  <a:pt x="73170" y="136537"/>
                </a:lnTo>
                <a:cubicBezTo>
                  <a:pt x="45131" y="132535"/>
                  <a:pt x="22951" y="110356"/>
                  <a:pt x="18950" y="82317"/>
                </a:cubicBezTo>
                <a:lnTo>
                  <a:pt x="13719" y="82317"/>
                </a:lnTo>
                <a:cubicBezTo>
                  <a:pt x="8660" y="82317"/>
                  <a:pt x="4573" y="78229"/>
                  <a:pt x="4573" y="73170"/>
                </a:cubicBezTo>
                <a:cubicBezTo>
                  <a:pt x="4573" y="68111"/>
                  <a:pt x="8660" y="64024"/>
                  <a:pt x="13719" y="64024"/>
                </a:cubicBezTo>
                <a:lnTo>
                  <a:pt x="18950" y="64024"/>
                </a:lnTo>
                <a:cubicBezTo>
                  <a:pt x="22951" y="35985"/>
                  <a:pt x="45131" y="13805"/>
                  <a:pt x="73170" y="9804"/>
                </a:cubicBezTo>
                <a:lnTo>
                  <a:pt x="73170" y="4573"/>
                </a:lnTo>
                <a:cubicBezTo>
                  <a:pt x="73170" y="-486"/>
                  <a:pt x="77258" y="-4573"/>
                  <a:pt x="82317" y="-4573"/>
                </a:cubicBezTo>
                <a:close/>
                <a:moveTo>
                  <a:pt x="37500" y="82317"/>
                </a:moveTo>
                <a:cubicBezTo>
                  <a:pt x="41130" y="100238"/>
                  <a:pt x="55249" y="114357"/>
                  <a:pt x="73170" y="117987"/>
                </a:cubicBezTo>
                <a:lnTo>
                  <a:pt x="73170" y="114329"/>
                </a:lnTo>
                <a:cubicBezTo>
                  <a:pt x="73170" y="109270"/>
                  <a:pt x="77258" y="105182"/>
                  <a:pt x="82317" y="105182"/>
                </a:cubicBezTo>
                <a:cubicBezTo>
                  <a:pt x="87376" y="105182"/>
                  <a:pt x="91463" y="109270"/>
                  <a:pt x="91463" y="114329"/>
                </a:cubicBezTo>
                <a:lnTo>
                  <a:pt x="91463" y="117987"/>
                </a:lnTo>
                <a:cubicBezTo>
                  <a:pt x="109384" y="114357"/>
                  <a:pt x="123503" y="100238"/>
                  <a:pt x="127133" y="82317"/>
                </a:cubicBezTo>
                <a:lnTo>
                  <a:pt x="123475" y="82317"/>
                </a:lnTo>
                <a:cubicBezTo>
                  <a:pt x="118416" y="82317"/>
                  <a:pt x="114329" y="78229"/>
                  <a:pt x="114329" y="73170"/>
                </a:cubicBezTo>
                <a:cubicBezTo>
                  <a:pt x="114329" y="68111"/>
                  <a:pt x="118416" y="64024"/>
                  <a:pt x="123475" y="64024"/>
                </a:cubicBezTo>
                <a:lnTo>
                  <a:pt x="127133" y="64024"/>
                </a:lnTo>
                <a:cubicBezTo>
                  <a:pt x="123503" y="46103"/>
                  <a:pt x="109384" y="31983"/>
                  <a:pt x="91463" y="28353"/>
                </a:cubicBezTo>
                <a:lnTo>
                  <a:pt x="91463" y="32012"/>
                </a:lnTo>
                <a:cubicBezTo>
                  <a:pt x="91463" y="37071"/>
                  <a:pt x="87376" y="41158"/>
                  <a:pt x="82317" y="41158"/>
                </a:cubicBezTo>
                <a:cubicBezTo>
                  <a:pt x="77258" y="41158"/>
                  <a:pt x="73170" y="37071"/>
                  <a:pt x="73170" y="32012"/>
                </a:cubicBezTo>
                <a:lnTo>
                  <a:pt x="73170" y="28353"/>
                </a:lnTo>
                <a:cubicBezTo>
                  <a:pt x="55249" y="31983"/>
                  <a:pt x="41130" y="46103"/>
                  <a:pt x="37500" y="64024"/>
                </a:cubicBezTo>
                <a:lnTo>
                  <a:pt x="41158" y="64024"/>
                </a:lnTo>
                <a:cubicBezTo>
                  <a:pt x="46217" y="64024"/>
                  <a:pt x="50305" y="68111"/>
                  <a:pt x="50305" y="73170"/>
                </a:cubicBezTo>
                <a:cubicBezTo>
                  <a:pt x="50305" y="78229"/>
                  <a:pt x="46217" y="82317"/>
                  <a:pt x="41158" y="82317"/>
                </a:cubicBezTo>
                <a:lnTo>
                  <a:pt x="37500" y="82317"/>
                </a:lnTo>
                <a:close/>
                <a:moveTo>
                  <a:pt x="82317" y="59451"/>
                </a:moveTo>
                <a:cubicBezTo>
                  <a:pt x="89889" y="59451"/>
                  <a:pt x="96036" y="65598"/>
                  <a:pt x="96036" y="73170"/>
                </a:cubicBezTo>
                <a:cubicBezTo>
                  <a:pt x="96036" y="80742"/>
                  <a:pt x="89889" y="86890"/>
                  <a:pt x="82317" y="86890"/>
                </a:cubicBezTo>
                <a:cubicBezTo>
                  <a:pt x="74745" y="86890"/>
                  <a:pt x="68597" y="80742"/>
                  <a:pt x="68597" y="73170"/>
                </a:cubicBezTo>
                <a:cubicBezTo>
                  <a:pt x="68597" y="65598"/>
                  <a:pt x="74745" y="59451"/>
                  <a:pt x="82317" y="59451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 bwMode="auto">
          <a:xfrm flipH="0" flipV="0">
            <a:off x="6911448" y="1399381"/>
            <a:ext cx="2326157" cy="292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75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Core Objective</a:t>
            </a:r>
            <a:endParaRPr lang="en-US" sz="1600"/>
          </a:p>
        </p:txBody>
      </p:sp>
      <p:sp>
        <p:nvSpPr>
          <p:cNvPr id="29" name="Text 27"/>
          <p:cNvSpPr/>
          <p:nvPr/>
        </p:nvSpPr>
        <p:spPr bwMode="auto">
          <a:xfrm>
            <a:off x="6435842" y="1874989"/>
            <a:ext cx="5240822" cy="237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15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Build a </a:t>
            </a:r>
            <a:r>
              <a:rPr lang="en-US" sz="115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reliable distributed data processing pipeline</a:t>
            </a:r>
            <a:r>
              <a:rPr lang="en-US" sz="115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with three distinct stages:</a:t>
            </a:r>
            <a:endParaRPr lang="en-US" sz="1600"/>
          </a:p>
        </p:txBody>
      </p:sp>
      <p:sp>
        <p:nvSpPr>
          <p:cNvPr id="30" name="Shape 28"/>
          <p:cNvSpPr/>
          <p:nvPr/>
        </p:nvSpPr>
        <p:spPr bwMode="auto">
          <a:xfrm>
            <a:off x="6435842" y="2259133"/>
            <a:ext cx="5167652" cy="621947"/>
          </a:xfrm>
          <a:custGeom>
            <a:avLst/>
            <a:gdLst/>
            <a:ahLst/>
            <a:cxnLst/>
            <a:rect l="l" t="t" r="r" b="b"/>
            <a:pathLst>
              <a:path w="5167652" h="621947" fill="norm" stroke="1" extrusionOk="0">
                <a:moveTo>
                  <a:pt x="73172" y="0"/>
                </a:moveTo>
                <a:lnTo>
                  <a:pt x="5094480" y="0"/>
                </a:lnTo>
                <a:cubicBezTo>
                  <a:pt x="5134892" y="0"/>
                  <a:pt x="5167652" y="32760"/>
                  <a:pt x="5167652" y="73172"/>
                </a:cubicBezTo>
                <a:lnTo>
                  <a:pt x="5167652" y="548775"/>
                </a:lnTo>
                <a:cubicBezTo>
                  <a:pt x="5167652" y="589187"/>
                  <a:pt x="5134892" y="621947"/>
                  <a:pt x="5094480" y="621947"/>
                </a:cubicBezTo>
                <a:lnTo>
                  <a:pt x="73172" y="621947"/>
                </a:lnTo>
                <a:cubicBezTo>
                  <a:pt x="32787" y="621947"/>
                  <a:pt x="0" y="589160"/>
                  <a:pt x="0" y="548775"/>
                </a:cubicBezTo>
                <a:lnTo>
                  <a:pt x="0" y="73172"/>
                </a:lnTo>
                <a:cubicBezTo>
                  <a:pt x="0" y="32760"/>
                  <a:pt x="32760" y="0"/>
                  <a:pt x="73172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 bwMode="auto">
          <a:xfrm>
            <a:off x="6545597" y="2387180"/>
            <a:ext cx="365851" cy="365851"/>
          </a:xfrm>
          <a:custGeom>
            <a:avLst/>
            <a:gdLst/>
            <a:ahLst/>
            <a:cxnLst/>
            <a:rect l="l" t="t" r="r" b="b"/>
            <a:pathLst>
              <a:path w="365851" h="365851" fill="norm" stroke="1" extrusionOk="0">
                <a:moveTo>
                  <a:pt x="73170" y="0"/>
                </a:moveTo>
                <a:lnTo>
                  <a:pt x="292681" y="0"/>
                </a:lnTo>
                <a:cubicBezTo>
                  <a:pt x="333092" y="0"/>
                  <a:pt x="365851" y="32759"/>
                  <a:pt x="365851" y="73170"/>
                </a:cubicBezTo>
                <a:lnTo>
                  <a:pt x="365851" y="292681"/>
                </a:lnTo>
                <a:cubicBezTo>
                  <a:pt x="365851" y="333092"/>
                  <a:pt x="333092" y="365851"/>
                  <a:pt x="292681" y="365851"/>
                </a:cubicBezTo>
                <a:lnTo>
                  <a:pt x="73170" y="365851"/>
                </a:lnTo>
                <a:cubicBezTo>
                  <a:pt x="32759" y="365851"/>
                  <a:pt x="0" y="333092"/>
                  <a:pt x="0" y="29268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32" name="Shape 30"/>
          <p:cNvSpPr/>
          <p:nvPr/>
        </p:nvSpPr>
        <p:spPr bwMode="auto">
          <a:xfrm>
            <a:off x="6646206" y="2496936"/>
            <a:ext cx="164633" cy="146341"/>
          </a:xfrm>
          <a:custGeom>
            <a:avLst/>
            <a:gdLst/>
            <a:ahLst/>
            <a:cxnLst/>
            <a:rect l="l" t="t" r="r" b="b"/>
            <a:pathLst>
              <a:path w="164633" h="146341" fill="norm" stroke="1" extrusionOk="0">
                <a:moveTo>
                  <a:pt x="41158" y="137194"/>
                </a:moveTo>
                <a:cubicBezTo>
                  <a:pt x="18435" y="137194"/>
                  <a:pt x="0" y="118759"/>
                  <a:pt x="0" y="96036"/>
                </a:cubicBezTo>
                <a:cubicBezTo>
                  <a:pt x="0" y="77915"/>
                  <a:pt x="11719" y="62538"/>
                  <a:pt x="27982" y="57021"/>
                </a:cubicBezTo>
                <a:cubicBezTo>
                  <a:pt x="27610" y="54821"/>
                  <a:pt x="27439" y="52591"/>
                  <a:pt x="27439" y="50305"/>
                </a:cubicBezTo>
                <a:cubicBezTo>
                  <a:pt x="27439" y="27582"/>
                  <a:pt x="45874" y="9146"/>
                  <a:pt x="68597" y="9146"/>
                </a:cubicBezTo>
                <a:cubicBezTo>
                  <a:pt x="84432" y="9146"/>
                  <a:pt x="98180" y="18092"/>
                  <a:pt x="105068" y="31183"/>
                </a:cubicBezTo>
                <a:cubicBezTo>
                  <a:pt x="109127" y="28811"/>
                  <a:pt x="113871" y="27439"/>
                  <a:pt x="118902" y="27439"/>
                </a:cubicBezTo>
                <a:cubicBezTo>
                  <a:pt x="134050" y="27439"/>
                  <a:pt x="146341" y="39729"/>
                  <a:pt x="146341" y="54878"/>
                </a:cubicBezTo>
                <a:cubicBezTo>
                  <a:pt x="146341" y="59365"/>
                  <a:pt x="145254" y="63624"/>
                  <a:pt x="143339" y="67368"/>
                </a:cubicBezTo>
                <a:cubicBezTo>
                  <a:pt x="155916" y="73170"/>
                  <a:pt x="164633" y="85861"/>
                  <a:pt x="164633" y="100609"/>
                </a:cubicBezTo>
                <a:cubicBezTo>
                  <a:pt x="164633" y="120817"/>
                  <a:pt x="148256" y="137194"/>
                  <a:pt x="128048" y="137194"/>
                </a:cubicBezTo>
                <a:lnTo>
                  <a:pt x="41158" y="137194"/>
                </a:lnTo>
                <a:close/>
                <a:moveTo>
                  <a:pt x="87176" y="54592"/>
                </a:moveTo>
                <a:cubicBezTo>
                  <a:pt x="84489" y="51905"/>
                  <a:pt x="80144" y="51905"/>
                  <a:pt x="77486" y="54592"/>
                </a:cubicBezTo>
                <a:lnTo>
                  <a:pt x="56907" y="75171"/>
                </a:lnTo>
                <a:cubicBezTo>
                  <a:pt x="54220" y="77858"/>
                  <a:pt x="54220" y="82202"/>
                  <a:pt x="56907" y="84860"/>
                </a:cubicBezTo>
                <a:cubicBezTo>
                  <a:pt x="59594" y="87519"/>
                  <a:pt x="63938" y="87547"/>
                  <a:pt x="66596" y="84860"/>
                </a:cubicBezTo>
                <a:lnTo>
                  <a:pt x="75457" y="76000"/>
                </a:lnTo>
                <a:lnTo>
                  <a:pt x="75457" y="105182"/>
                </a:lnTo>
                <a:cubicBezTo>
                  <a:pt x="75457" y="108984"/>
                  <a:pt x="78515" y="112042"/>
                  <a:pt x="82317" y="112042"/>
                </a:cubicBezTo>
                <a:cubicBezTo>
                  <a:pt x="86118" y="112042"/>
                  <a:pt x="89176" y="108984"/>
                  <a:pt x="89176" y="105182"/>
                </a:cubicBezTo>
                <a:lnTo>
                  <a:pt x="89176" y="76000"/>
                </a:lnTo>
                <a:lnTo>
                  <a:pt x="98037" y="84860"/>
                </a:lnTo>
                <a:cubicBezTo>
                  <a:pt x="100723" y="87547"/>
                  <a:pt x="105068" y="87547"/>
                  <a:pt x="107726" y="84860"/>
                </a:cubicBezTo>
                <a:cubicBezTo>
                  <a:pt x="110384" y="82174"/>
                  <a:pt x="110413" y="77829"/>
                  <a:pt x="107726" y="75171"/>
                </a:cubicBezTo>
                <a:lnTo>
                  <a:pt x="87147" y="54592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 bwMode="auto">
          <a:xfrm flipH="0" flipV="0">
            <a:off x="7021202" y="2368887"/>
            <a:ext cx="2279431" cy="219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Input in Distributed Storage</a:t>
            </a:r>
            <a:endParaRPr lang="en-US" sz="1600"/>
          </a:p>
        </p:txBody>
      </p:sp>
      <p:sp>
        <p:nvSpPr>
          <p:cNvPr id="34" name="Text 32"/>
          <p:cNvSpPr/>
          <p:nvPr/>
        </p:nvSpPr>
        <p:spPr bwMode="auto">
          <a:xfrm flipH="0" flipV="0">
            <a:off x="7021202" y="2588398"/>
            <a:ext cx="2683033" cy="18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Files stored safely and accessibly</a:t>
            </a:r>
            <a:endParaRPr lang="en-US" sz="1600"/>
          </a:p>
        </p:txBody>
      </p:sp>
      <p:sp>
        <p:nvSpPr>
          <p:cNvPr id="35" name="Shape 33"/>
          <p:cNvSpPr/>
          <p:nvPr/>
        </p:nvSpPr>
        <p:spPr bwMode="auto">
          <a:xfrm>
            <a:off x="6435842" y="2990836"/>
            <a:ext cx="5167652" cy="621947"/>
          </a:xfrm>
          <a:custGeom>
            <a:avLst/>
            <a:gdLst/>
            <a:ahLst/>
            <a:cxnLst/>
            <a:rect l="l" t="t" r="r" b="b"/>
            <a:pathLst>
              <a:path w="5167652" h="621947" fill="norm" stroke="1" extrusionOk="0">
                <a:moveTo>
                  <a:pt x="73172" y="0"/>
                </a:moveTo>
                <a:lnTo>
                  <a:pt x="5094480" y="0"/>
                </a:lnTo>
                <a:cubicBezTo>
                  <a:pt x="5134892" y="0"/>
                  <a:pt x="5167652" y="32760"/>
                  <a:pt x="5167652" y="73172"/>
                </a:cubicBezTo>
                <a:lnTo>
                  <a:pt x="5167652" y="548775"/>
                </a:lnTo>
                <a:cubicBezTo>
                  <a:pt x="5167652" y="589187"/>
                  <a:pt x="5134892" y="621947"/>
                  <a:pt x="5094480" y="621947"/>
                </a:cubicBezTo>
                <a:lnTo>
                  <a:pt x="73172" y="621947"/>
                </a:lnTo>
                <a:cubicBezTo>
                  <a:pt x="32787" y="621947"/>
                  <a:pt x="0" y="589160"/>
                  <a:pt x="0" y="548775"/>
                </a:cubicBezTo>
                <a:lnTo>
                  <a:pt x="0" y="73172"/>
                </a:lnTo>
                <a:cubicBezTo>
                  <a:pt x="0" y="32760"/>
                  <a:pt x="32760" y="0"/>
                  <a:pt x="73172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 bwMode="auto">
          <a:xfrm>
            <a:off x="6545597" y="3118884"/>
            <a:ext cx="365851" cy="365851"/>
          </a:xfrm>
          <a:custGeom>
            <a:avLst/>
            <a:gdLst/>
            <a:ahLst/>
            <a:cxnLst/>
            <a:rect l="l" t="t" r="r" b="b"/>
            <a:pathLst>
              <a:path w="365851" h="365851" fill="norm" stroke="1" extrusionOk="0">
                <a:moveTo>
                  <a:pt x="73170" y="0"/>
                </a:moveTo>
                <a:lnTo>
                  <a:pt x="292681" y="0"/>
                </a:lnTo>
                <a:cubicBezTo>
                  <a:pt x="333092" y="0"/>
                  <a:pt x="365851" y="32759"/>
                  <a:pt x="365851" y="73170"/>
                </a:cubicBezTo>
                <a:lnTo>
                  <a:pt x="365851" y="292681"/>
                </a:lnTo>
                <a:cubicBezTo>
                  <a:pt x="365851" y="333092"/>
                  <a:pt x="333092" y="365851"/>
                  <a:pt x="292681" y="365851"/>
                </a:cubicBezTo>
                <a:lnTo>
                  <a:pt x="73170" y="365851"/>
                </a:lnTo>
                <a:cubicBezTo>
                  <a:pt x="32759" y="365851"/>
                  <a:pt x="0" y="333092"/>
                  <a:pt x="0" y="29268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/>
        </p:spPr>
      </p:sp>
      <p:sp>
        <p:nvSpPr>
          <p:cNvPr id="37" name="Shape 35"/>
          <p:cNvSpPr/>
          <p:nvPr/>
        </p:nvSpPr>
        <p:spPr bwMode="auto">
          <a:xfrm>
            <a:off x="6637060" y="3228639"/>
            <a:ext cx="182925" cy="146341"/>
          </a:xfrm>
          <a:custGeom>
            <a:avLst/>
            <a:gdLst/>
            <a:ahLst/>
            <a:cxnLst/>
            <a:rect l="l" t="t" r="r" b="b"/>
            <a:pathLst>
              <a:path w="182926" h="146341" fill="norm" stroke="1" extrusionOk="0">
                <a:moveTo>
                  <a:pt x="118873" y="60165"/>
                </a:moveTo>
                <a:cubicBezTo>
                  <a:pt x="122360" y="59222"/>
                  <a:pt x="126019" y="60880"/>
                  <a:pt x="127591" y="64110"/>
                </a:cubicBezTo>
                <a:lnTo>
                  <a:pt x="132907" y="74857"/>
                </a:lnTo>
                <a:cubicBezTo>
                  <a:pt x="135851" y="75257"/>
                  <a:pt x="138738" y="76057"/>
                  <a:pt x="141453" y="77172"/>
                </a:cubicBezTo>
                <a:lnTo>
                  <a:pt x="151457" y="70512"/>
                </a:lnTo>
                <a:cubicBezTo>
                  <a:pt x="154458" y="68511"/>
                  <a:pt x="158431" y="68912"/>
                  <a:pt x="160975" y="71455"/>
                </a:cubicBezTo>
                <a:lnTo>
                  <a:pt x="166462" y="76943"/>
                </a:lnTo>
                <a:cubicBezTo>
                  <a:pt x="169006" y="79487"/>
                  <a:pt x="169406" y="83488"/>
                  <a:pt x="167406" y="86461"/>
                </a:cubicBezTo>
                <a:lnTo>
                  <a:pt x="160746" y="96436"/>
                </a:lnTo>
                <a:cubicBezTo>
                  <a:pt x="161289" y="97780"/>
                  <a:pt x="161775" y="99180"/>
                  <a:pt x="162175" y="100638"/>
                </a:cubicBezTo>
                <a:cubicBezTo>
                  <a:pt x="162575" y="102095"/>
                  <a:pt x="162832" y="103525"/>
                  <a:pt x="163033" y="104982"/>
                </a:cubicBezTo>
                <a:lnTo>
                  <a:pt x="173808" y="110298"/>
                </a:lnTo>
                <a:cubicBezTo>
                  <a:pt x="177038" y="111899"/>
                  <a:pt x="178696" y="115558"/>
                  <a:pt x="177752" y="119016"/>
                </a:cubicBezTo>
                <a:lnTo>
                  <a:pt x="175752" y="126505"/>
                </a:lnTo>
                <a:cubicBezTo>
                  <a:pt x="174808" y="129963"/>
                  <a:pt x="171579" y="132307"/>
                  <a:pt x="167977" y="132078"/>
                </a:cubicBezTo>
                <a:lnTo>
                  <a:pt x="155973" y="131306"/>
                </a:lnTo>
                <a:cubicBezTo>
                  <a:pt x="154172" y="133622"/>
                  <a:pt x="152086" y="135765"/>
                  <a:pt x="149713" y="137594"/>
                </a:cubicBezTo>
                <a:lnTo>
                  <a:pt x="150485" y="149570"/>
                </a:lnTo>
                <a:cubicBezTo>
                  <a:pt x="150714" y="153172"/>
                  <a:pt x="148370" y="156430"/>
                  <a:pt x="144911" y="157345"/>
                </a:cubicBezTo>
                <a:lnTo>
                  <a:pt x="137423" y="159345"/>
                </a:lnTo>
                <a:cubicBezTo>
                  <a:pt x="133936" y="160289"/>
                  <a:pt x="130306" y="158631"/>
                  <a:pt x="128705" y="155401"/>
                </a:cubicBezTo>
                <a:lnTo>
                  <a:pt x="123389" y="144654"/>
                </a:lnTo>
                <a:cubicBezTo>
                  <a:pt x="120445" y="144254"/>
                  <a:pt x="117558" y="143454"/>
                  <a:pt x="114843" y="142339"/>
                </a:cubicBezTo>
                <a:lnTo>
                  <a:pt x="104839" y="148999"/>
                </a:lnTo>
                <a:cubicBezTo>
                  <a:pt x="101838" y="150999"/>
                  <a:pt x="97865" y="150599"/>
                  <a:pt x="95321" y="148056"/>
                </a:cubicBezTo>
                <a:lnTo>
                  <a:pt x="89834" y="142568"/>
                </a:lnTo>
                <a:cubicBezTo>
                  <a:pt x="87290" y="140024"/>
                  <a:pt x="86890" y="136051"/>
                  <a:pt x="88890" y="133050"/>
                </a:cubicBezTo>
                <a:lnTo>
                  <a:pt x="95550" y="123046"/>
                </a:lnTo>
                <a:cubicBezTo>
                  <a:pt x="95007" y="121703"/>
                  <a:pt x="94521" y="120302"/>
                  <a:pt x="94121" y="118845"/>
                </a:cubicBezTo>
                <a:cubicBezTo>
                  <a:pt x="93721" y="117387"/>
                  <a:pt x="93464" y="115929"/>
                  <a:pt x="93264" y="114500"/>
                </a:cubicBezTo>
                <a:lnTo>
                  <a:pt x="82488" y="109184"/>
                </a:lnTo>
                <a:cubicBezTo>
                  <a:pt x="79258" y="107583"/>
                  <a:pt x="77629" y="103925"/>
                  <a:pt x="78544" y="100466"/>
                </a:cubicBezTo>
                <a:lnTo>
                  <a:pt x="80544" y="92978"/>
                </a:lnTo>
                <a:cubicBezTo>
                  <a:pt x="81488" y="89519"/>
                  <a:pt x="84717" y="87176"/>
                  <a:pt x="88319" y="87404"/>
                </a:cubicBezTo>
                <a:lnTo>
                  <a:pt x="100295" y="88176"/>
                </a:lnTo>
                <a:cubicBezTo>
                  <a:pt x="102095" y="85861"/>
                  <a:pt x="104182" y="83717"/>
                  <a:pt x="106554" y="81888"/>
                </a:cubicBezTo>
                <a:lnTo>
                  <a:pt x="105783" y="69941"/>
                </a:lnTo>
                <a:cubicBezTo>
                  <a:pt x="105554" y="66339"/>
                  <a:pt x="107898" y="63081"/>
                  <a:pt x="111356" y="62166"/>
                </a:cubicBezTo>
                <a:lnTo>
                  <a:pt x="118845" y="60165"/>
                </a:lnTo>
                <a:close/>
                <a:moveTo>
                  <a:pt x="128162" y="97179"/>
                </a:moveTo>
                <a:cubicBezTo>
                  <a:pt x="121221" y="97187"/>
                  <a:pt x="115593" y="102829"/>
                  <a:pt x="115600" y="109770"/>
                </a:cubicBezTo>
                <a:cubicBezTo>
                  <a:pt x="115608" y="116711"/>
                  <a:pt x="121250" y="122339"/>
                  <a:pt x="128191" y="122332"/>
                </a:cubicBezTo>
                <a:cubicBezTo>
                  <a:pt x="135132" y="122324"/>
                  <a:pt x="140761" y="116682"/>
                  <a:pt x="140753" y="109741"/>
                </a:cubicBezTo>
                <a:cubicBezTo>
                  <a:pt x="140745" y="102800"/>
                  <a:pt x="135103" y="97171"/>
                  <a:pt x="128162" y="97179"/>
                </a:cubicBezTo>
                <a:close/>
                <a:moveTo>
                  <a:pt x="64281" y="-13005"/>
                </a:moveTo>
                <a:lnTo>
                  <a:pt x="71770" y="-11004"/>
                </a:lnTo>
                <a:cubicBezTo>
                  <a:pt x="75228" y="-10061"/>
                  <a:pt x="77572" y="-6803"/>
                  <a:pt x="77343" y="-3230"/>
                </a:cubicBezTo>
                <a:lnTo>
                  <a:pt x="76572" y="8718"/>
                </a:lnTo>
                <a:cubicBezTo>
                  <a:pt x="78944" y="10547"/>
                  <a:pt x="81030" y="12662"/>
                  <a:pt x="82831" y="15006"/>
                </a:cubicBezTo>
                <a:lnTo>
                  <a:pt x="94836" y="14234"/>
                </a:lnTo>
                <a:cubicBezTo>
                  <a:pt x="98408" y="14005"/>
                  <a:pt x="101667" y="16349"/>
                  <a:pt x="102610" y="19807"/>
                </a:cubicBezTo>
                <a:lnTo>
                  <a:pt x="104611" y="27296"/>
                </a:lnTo>
                <a:cubicBezTo>
                  <a:pt x="105525" y="30754"/>
                  <a:pt x="103896" y="34413"/>
                  <a:pt x="100666" y="36014"/>
                </a:cubicBezTo>
                <a:lnTo>
                  <a:pt x="89891" y="41330"/>
                </a:lnTo>
                <a:cubicBezTo>
                  <a:pt x="89691" y="42787"/>
                  <a:pt x="89405" y="44245"/>
                  <a:pt x="89033" y="45674"/>
                </a:cubicBezTo>
                <a:cubicBezTo>
                  <a:pt x="88662" y="47103"/>
                  <a:pt x="88147" y="48532"/>
                  <a:pt x="87604" y="49876"/>
                </a:cubicBezTo>
                <a:lnTo>
                  <a:pt x="94264" y="59880"/>
                </a:lnTo>
                <a:cubicBezTo>
                  <a:pt x="96265" y="62881"/>
                  <a:pt x="95865" y="66854"/>
                  <a:pt x="93321" y="69397"/>
                </a:cubicBezTo>
                <a:lnTo>
                  <a:pt x="87833" y="74885"/>
                </a:lnTo>
                <a:cubicBezTo>
                  <a:pt x="85289" y="77429"/>
                  <a:pt x="81316" y="77829"/>
                  <a:pt x="78315" y="75828"/>
                </a:cubicBezTo>
                <a:lnTo>
                  <a:pt x="68311" y="69169"/>
                </a:lnTo>
                <a:cubicBezTo>
                  <a:pt x="65596" y="70283"/>
                  <a:pt x="62709" y="71084"/>
                  <a:pt x="59765" y="71484"/>
                </a:cubicBezTo>
                <a:lnTo>
                  <a:pt x="54449" y="82231"/>
                </a:lnTo>
                <a:cubicBezTo>
                  <a:pt x="52848" y="85461"/>
                  <a:pt x="49190" y="87090"/>
                  <a:pt x="45731" y="86175"/>
                </a:cubicBezTo>
                <a:lnTo>
                  <a:pt x="38243" y="84174"/>
                </a:lnTo>
                <a:cubicBezTo>
                  <a:pt x="34756" y="83231"/>
                  <a:pt x="32441" y="79973"/>
                  <a:pt x="32669" y="76400"/>
                </a:cubicBezTo>
                <a:lnTo>
                  <a:pt x="33441" y="64424"/>
                </a:lnTo>
                <a:cubicBezTo>
                  <a:pt x="31069" y="62595"/>
                  <a:pt x="28982" y="60480"/>
                  <a:pt x="27182" y="58136"/>
                </a:cubicBezTo>
                <a:lnTo>
                  <a:pt x="15177" y="58908"/>
                </a:lnTo>
                <a:cubicBezTo>
                  <a:pt x="11604" y="59136"/>
                  <a:pt x="8346" y="56793"/>
                  <a:pt x="7403" y="53334"/>
                </a:cubicBezTo>
                <a:lnTo>
                  <a:pt x="5402" y="45846"/>
                </a:lnTo>
                <a:cubicBezTo>
                  <a:pt x="4487" y="42387"/>
                  <a:pt x="6117" y="38729"/>
                  <a:pt x="9346" y="37128"/>
                </a:cubicBezTo>
                <a:lnTo>
                  <a:pt x="20122" y="31812"/>
                </a:lnTo>
                <a:cubicBezTo>
                  <a:pt x="20322" y="30354"/>
                  <a:pt x="20608" y="28925"/>
                  <a:pt x="20979" y="27467"/>
                </a:cubicBezTo>
                <a:cubicBezTo>
                  <a:pt x="21379" y="26010"/>
                  <a:pt x="21837" y="24609"/>
                  <a:pt x="22408" y="23266"/>
                </a:cubicBezTo>
                <a:lnTo>
                  <a:pt x="15749" y="13291"/>
                </a:lnTo>
                <a:cubicBezTo>
                  <a:pt x="13748" y="10290"/>
                  <a:pt x="14148" y="6317"/>
                  <a:pt x="16692" y="3773"/>
                </a:cubicBezTo>
                <a:lnTo>
                  <a:pt x="22180" y="-1715"/>
                </a:lnTo>
                <a:cubicBezTo>
                  <a:pt x="24724" y="-4259"/>
                  <a:pt x="28696" y="-4659"/>
                  <a:pt x="31698" y="-2658"/>
                </a:cubicBezTo>
                <a:lnTo>
                  <a:pt x="41701" y="4002"/>
                </a:lnTo>
                <a:cubicBezTo>
                  <a:pt x="44417" y="2887"/>
                  <a:pt x="47303" y="2086"/>
                  <a:pt x="50247" y="1686"/>
                </a:cubicBezTo>
                <a:lnTo>
                  <a:pt x="55564" y="-9061"/>
                </a:lnTo>
                <a:cubicBezTo>
                  <a:pt x="57164" y="-12290"/>
                  <a:pt x="60794" y="-13920"/>
                  <a:pt x="64281" y="-13005"/>
                </a:cubicBezTo>
                <a:close/>
                <a:moveTo>
                  <a:pt x="54992" y="24009"/>
                </a:moveTo>
                <a:cubicBezTo>
                  <a:pt x="48051" y="24009"/>
                  <a:pt x="42416" y="29644"/>
                  <a:pt x="42416" y="36585"/>
                </a:cubicBezTo>
                <a:cubicBezTo>
                  <a:pt x="42416" y="43526"/>
                  <a:pt x="48051" y="49161"/>
                  <a:pt x="54992" y="49161"/>
                </a:cubicBezTo>
                <a:cubicBezTo>
                  <a:pt x="61933" y="49161"/>
                  <a:pt x="67568" y="43526"/>
                  <a:pt x="67568" y="36585"/>
                </a:cubicBezTo>
                <a:cubicBezTo>
                  <a:pt x="67568" y="29644"/>
                  <a:pt x="61933" y="24009"/>
                  <a:pt x="54992" y="24009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8" name="Text 36"/>
          <p:cNvSpPr/>
          <p:nvPr/>
        </p:nvSpPr>
        <p:spPr bwMode="auto">
          <a:xfrm>
            <a:off x="7021204" y="3100591"/>
            <a:ext cx="2396327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Parallel Processing</a:t>
            </a:r>
            <a:endParaRPr lang="en-US" sz="1600"/>
          </a:p>
        </p:txBody>
      </p:sp>
      <p:sp>
        <p:nvSpPr>
          <p:cNvPr id="39" name="Text 37"/>
          <p:cNvSpPr/>
          <p:nvPr/>
        </p:nvSpPr>
        <p:spPr bwMode="auto">
          <a:xfrm>
            <a:off x="7021204" y="3320102"/>
            <a:ext cx="2387180" cy="18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Apache Spark handles heavy computation</a:t>
            </a:r>
            <a:endParaRPr lang="en-US" sz="1600"/>
          </a:p>
        </p:txBody>
      </p:sp>
      <p:sp>
        <p:nvSpPr>
          <p:cNvPr id="40" name="Shape 38"/>
          <p:cNvSpPr/>
          <p:nvPr/>
        </p:nvSpPr>
        <p:spPr bwMode="auto">
          <a:xfrm>
            <a:off x="6435842" y="3722539"/>
            <a:ext cx="5167652" cy="621947"/>
          </a:xfrm>
          <a:custGeom>
            <a:avLst/>
            <a:gdLst/>
            <a:ahLst/>
            <a:cxnLst/>
            <a:rect l="l" t="t" r="r" b="b"/>
            <a:pathLst>
              <a:path w="5167652" h="621947" fill="norm" stroke="1" extrusionOk="0">
                <a:moveTo>
                  <a:pt x="73172" y="0"/>
                </a:moveTo>
                <a:lnTo>
                  <a:pt x="5094480" y="0"/>
                </a:lnTo>
                <a:cubicBezTo>
                  <a:pt x="5134892" y="0"/>
                  <a:pt x="5167652" y="32760"/>
                  <a:pt x="5167652" y="73172"/>
                </a:cubicBezTo>
                <a:lnTo>
                  <a:pt x="5167652" y="548775"/>
                </a:lnTo>
                <a:cubicBezTo>
                  <a:pt x="5167652" y="589187"/>
                  <a:pt x="5134892" y="621947"/>
                  <a:pt x="5094480" y="621947"/>
                </a:cubicBezTo>
                <a:lnTo>
                  <a:pt x="73172" y="621947"/>
                </a:lnTo>
                <a:cubicBezTo>
                  <a:pt x="32787" y="621947"/>
                  <a:pt x="0" y="589160"/>
                  <a:pt x="0" y="548775"/>
                </a:cubicBezTo>
                <a:lnTo>
                  <a:pt x="0" y="73172"/>
                </a:lnTo>
                <a:cubicBezTo>
                  <a:pt x="0" y="32760"/>
                  <a:pt x="32760" y="0"/>
                  <a:pt x="73172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 bwMode="auto">
          <a:xfrm>
            <a:off x="6545597" y="3850587"/>
            <a:ext cx="365851" cy="365851"/>
          </a:xfrm>
          <a:custGeom>
            <a:avLst/>
            <a:gdLst/>
            <a:ahLst/>
            <a:cxnLst/>
            <a:rect l="l" t="t" r="r" b="b"/>
            <a:pathLst>
              <a:path w="365851" h="365851" fill="norm" stroke="1" extrusionOk="0">
                <a:moveTo>
                  <a:pt x="73170" y="0"/>
                </a:moveTo>
                <a:lnTo>
                  <a:pt x="292681" y="0"/>
                </a:lnTo>
                <a:cubicBezTo>
                  <a:pt x="333092" y="0"/>
                  <a:pt x="365851" y="32759"/>
                  <a:pt x="365851" y="73170"/>
                </a:cubicBezTo>
                <a:lnTo>
                  <a:pt x="365851" y="292681"/>
                </a:lnTo>
                <a:cubicBezTo>
                  <a:pt x="365851" y="333092"/>
                  <a:pt x="333092" y="365851"/>
                  <a:pt x="292681" y="365851"/>
                </a:cubicBezTo>
                <a:lnTo>
                  <a:pt x="73170" y="365851"/>
                </a:lnTo>
                <a:cubicBezTo>
                  <a:pt x="32759" y="365851"/>
                  <a:pt x="0" y="333092"/>
                  <a:pt x="0" y="29268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42" name="Shape 40"/>
          <p:cNvSpPr/>
          <p:nvPr/>
        </p:nvSpPr>
        <p:spPr bwMode="auto">
          <a:xfrm>
            <a:off x="6646206" y="3960342"/>
            <a:ext cx="164633" cy="146341"/>
          </a:xfrm>
          <a:custGeom>
            <a:avLst/>
            <a:gdLst/>
            <a:ahLst/>
            <a:cxnLst/>
            <a:rect l="l" t="t" r="r" b="b"/>
            <a:pathLst>
              <a:path w="164633" h="146341" fill="norm" stroke="1" extrusionOk="0">
                <a:moveTo>
                  <a:pt x="0" y="40615"/>
                </a:moveTo>
                <a:lnTo>
                  <a:pt x="0" y="137194"/>
                </a:lnTo>
                <a:cubicBezTo>
                  <a:pt x="0" y="142253"/>
                  <a:pt x="4087" y="146341"/>
                  <a:pt x="9146" y="146341"/>
                </a:cubicBezTo>
                <a:cubicBezTo>
                  <a:pt x="14205" y="146341"/>
                  <a:pt x="18293" y="142253"/>
                  <a:pt x="18293" y="137194"/>
                </a:cubicBezTo>
                <a:lnTo>
                  <a:pt x="18293" y="68597"/>
                </a:lnTo>
                <a:cubicBezTo>
                  <a:pt x="18293" y="63538"/>
                  <a:pt x="22380" y="59451"/>
                  <a:pt x="27439" y="59451"/>
                </a:cubicBezTo>
                <a:lnTo>
                  <a:pt x="137194" y="59451"/>
                </a:lnTo>
                <a:cubicBezTo>
                  <a:pt x="142253" y="59451"/>
                  <a:pt x="146341" y="63538"/>
                  <a:pt x="146341" y="68597"/>
                </a:cubicBezTo>
                <a:lnTo>
                  <a:pt x="146341" y="137194"/>
                </a:lnTo>
                <a:cubicBezTo>
                  <a:pt x="146341" y="142253"/>
                  <a:pt x="150428" y="146341"/>
                  <a:pt x="155487" y="146341"/>
                </a:cubicBezTo>
                <a:cubicBezTo>
                  <a:pt x="160546" y="146341"/>
                  <a:pt x="164633" y="142253"/>
                  <a:pt x="164633" y="137194"/>
                </a:cubicBezTo>
                <a:lnTo>
                  <a:pt x="164633" y="40615"/>
                </a:lnTo>
                <a:cubicBezTo>
                  <a:pt x="164633" y="32755"/>
                  <a:pt x="159603" y="25753"/>
                  <a:pt x="152114" y="23266"/>
                </a:cubicBezTo>
                <a:lnTo>
                  <a:pt x="86661" y="1458"/>
                </a:lnTo>
                <a:cubicBezTo>
                  <a:pt x="83831" y="514"/>
                  <a:pt x="80802" y="514"/>
                  <a:pt x="77972" y="1458"/>
                </a:cubicBezTo>
                <a:lnTo>
                  <a:pt x="12519" y="23266"/>
                </a:lnTo>
                <a:cubicBezTo>
                  <a:pt x="5030" y="25753"/>
                  <a:pt x="0" y="32755"/>
                  <a:pt x="0" y="40615"/>
                </a:cubicBezTo>
                <a:close/>
                <a:moveTo>
                  <a:pt x="132621" y="73170"/>
                </a:moveTo>
                <a:lnTo>
                  <a:pt x="32012" y="73170"/>
                </a:lnTo>
                <a:lnTo>
                  <a:pt x="32012" y="91463"/>
                </a:lnTo>
                <a:lnTo>
                  <a:pt x="132621" y="91463"/>
                </a:lnTo>
                <a:lnTo>
                  <a:pt x="132621" y="73170"/>
                </a:lnTo>
                <a:close/>
                <a:moveTo>
                  <a:pt x="32012" y="118902"/>
                </a:moveTo>
                <a:lnTo>
                  <a:pt x="132621" y="118902"/>
                </a:lnTo>
                <a:lnTo>
                  <a:pt x="132621" y="100609"/>
                </a:lnTo>
                <a:lnTo>
                  <a:pt x="32012" y="100609"/>
                </a:lnTo>
                <a:lnTo>
                  <a:pt x="32012" y="118902"/>
                </a:lnTo>
                <a:close/>
                <a:moveTo>
                  <a:pt x="132621" y="128048"/>
                </a:moveTo>
                <a:lnTo>
                  <a:pt x="32012" y="128048"/>
                </a:lnTo>
                <a:lnTo>
                  <a:pt x="32012" y="146341"/>
                </a:lnTo>
                <a:lnTo>
                  <a:pt x="132621" y="146341"/>
                </a:lnTo>
                <a:lnTo>
                  <a:pt x="132621" y="128048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43" name="Text 41"/>
          <p:cNvSpPr/>
          <p:nvPr/>
        </p:nvSpPr>
        <p:spPr bwMode="auto">
          <a:xfrm>
            <a:off x="7021204" y="3832294"/>
            <a:ext cx="2515229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Organized Results Storage</a:t>
            </a:r>
            <a:endParaRPr lang="en-US" sz="1600"/>
          </a:p>
        </p:txBody>
      </p:sp>
      <p:sp>
        <p:nvSpPr>
          <p:cNvPr id="44" name="Text 42"/>
          <p:cNvSpPr/>
          <p:nvPr/>
        </p:nvSpPr>
        <p:spPr bwMode="auto">
          <a:xfrm>
            <a:off x="7021204" y="4051805"/>
            <a:ext cx="2506083" cy="18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Structured data warehouse with clear layers</a:t>
            </a:r>
            <a:endParaRPr lang="en-US" sz="1600"/>
          </a:p>
        </p:txBody>
      </p:sp>
      <p:sp>
        <p:nvSpPr>
          <p:cNvPr id="45" name="Shape 43"/>
          <p:cNvSpPr/>
          <p:nvPr/>
        </p:nvSpPr>
        <p:spPr bwMode="auto">
          <a:xfrm>
            <a:off x="6211758" y="4760642"/>
            <a:ext cx="5615820" cy="2094500"/>
          </a:xfrm>
          <a:custGeom>
            <a:avLst/>
            <a:gdLst/>
            <a:ahLst/>
            <a:cxnLst/>
            <a:rect l="l" t="t" r="r" b="b"/>
            <a:pathLst>
              <a:path w="5615820" h="2094500" fill="norm" stroke="1" extrusionOk="0">
                <a:moveTo>
                  <a:pt x="146343" y="0"/>
                </a:moveTo>
                <a:lnTo>
                  <a:pt x="5469477" y="0"/>
                </a:lnTo>
                <a:cubicBezTo>
                  <a:pt x="5550300" y="0"/>
                  <a:pt x="5615820" y="65520"/>
                  <a:pt x="5615820" y="146343"/>
                </a:cubicBezTo>
                <a:lnTo>
                  <a:pt x="5615820" y="1948157"/>
                </a:lnTo>
                <a:cubicBezTo>
                  <a:pt x="5615820" y="2028980"/>
                  <a:pt x="5550300" y="2094500"/>
                  <a:pt x="5469477" y="2094500"/>
                </a:cubicBezTo>
                <a:lnTo>
                  <a:pt x="146343" y="2094500"/>
                </a:lnTo>
                <a:cubicBezTo>
                  <a:pt x="65520" y="2094500"/>
                  <a:pt x="0" y="2028980"/>
                  <a:pt x="0" y="1948157"/>
                </a:cubicBezTo>
                <a:lnTo>
                  <a:pt x="0" y="146343"/>
                </a:lnTo>
                <a:cubicBezTo>
                  <a:pt x="0" y="65520"/>
                  <a:pt x="65520" y="0"/>
                  <a:pt x="146343" y="0"/>
                </a:cubicBezTo>
                <a:close/>
              </a:path>
            </a:pathLst>
          </a:custGeom>
          <a:solidFill>
            <a:srgbClr val="4C1D95">
              <a:alpha val="30194"/>
            </a:srgbClr>
          </a:solidFill>
          <a:ln w="12700">
            <a:solidFill>
              <a:srgbClr val="7C3AED">
                <a:alpha val="30194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 bwMode="auto">
          <a:xfrm>
            <a:off x="6399256" y="4948140"/>
            <a:ext cx="365851" cy="365851"/>
          </a:xfrm>
          <a:custGeom>
            <a:avLst/>
            <a:gdLst/>
            <a:ahLst/>
            <a:cxnLst/>
            <a:rect l="l" t="t" r="r" b="b"/>
            <a:pathLst>
              <a:path w="365851" h="365851" fill="norm" stroke="1" extrusionOk="0">
                <a:moveTo>
                  <a:pt x="73170" y="0"/>
                </a:moveTo>
                <a:lnTo>
                  <a:pt x="292681" y="0"/>
                </a:lnTo>
                <a:cubicBezTo>
                  <a:pt x="333092" y="0"/>
                  <a:pt x="365851" y="32759"/>
                  <a:pt x="365851" y="73170"/>
                </a:cubicBezTo>
                <a:lnTo>
                  <a:pt x="365851" y="292681"/>
                </a:lnTo>
                <a:cubicBezTo>
                  <a:pt x="365851" y="333092"/>
                  <a:pt x="333092" y="365851"/>
                  <a:pt x="292681" y="365851"/>
                </a:cubicBezTo>
                <a:lnTo>
                  <a:pt x="73170" y="365851"/>
                </a:lnTo>
                <a:cubicBezTo>
                  <a:pt x="32759" y="365851"/>
                  <a:pt x="0" y="333092"/>
                  <a:pt x="0" y="29268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/>
        </p:spPr>
      </p:sp>
      <p:sp>
        <p:nvSpPr>
          <p:cNvPr id="47" name="Shape 45"/>
          <p:cNvSpPr/>
          <p:nvPr/>
        </p:nvSpPr>
        <p:spPr bwMode="auto">
          <a:xfrm>
            <a:off x="6509012" y="5057896"/>
            <a:ext cx="146341" cy="146341"/>
          </a:xfrm>
          <a:custGeom>
            <a:avLst/>
            <a:gdLst/>
            <a:ahLst/>
            <a:cxnLst/>
            <a:rect l="l" t="t" r="r" b="b"/>
            <a:pathLst>
              <a:path w="146341" h="146341" fill="norm" stroke="1" extrusionOk="0">
                <a:moveTo>
                  <a:pt x="38243" y="10375"/>
                </a:moveTo>
                <a:cubicBezTo>
                  <a:pt x="41358" y="12548"/>
                  <a:pt x="42102" y="16835"/>
                  <a:pt x="39929" y="19922"/>
                </a:cubicBezTo>
                <a:lnTo>
                  <a:pt x="23923" y="42787"/>
                </a:lnTo>
                <a:cubicBezTo>
                  <a:pt x="22751" y="44445"/>
                  <a:pt x="20922" y="45503"/>
                  <a:pt x="18893" y="45674"/>
                </a:cubicBezTo>
                <a:cubicBezTo>
                  <a:pt x="16863" y="45846"/>
                  <a:pt x="14863" y="45160"/>
                  <a:pt x="13434" y="43731"/>
                </a:cubicBezTo>
                <a:lnTo>
                  <a:pt x="2001" y="32298"/>
                </a:lnTo>
                <a:cubicBezTo>
                  <a:pt x="-657" y="29611"/>
                  <a:pt x="-657" y="25267"/>
                  <a:pt x="2001" y="22580"/>
                </a:cubicBezTo>
                <a:cubicBezTo>
                  <a:pt x="4659" y="19893"/>
                  <a:pt x="9032" y="19922"/>
                  <a:pt x="11719" y="22580"/>
                </a:cubicBezTo>
                <a:lnTo>
                  <a:pt x="17378" y="28239"/>
                </a:lnTo>
                <a:lnTo>
                  <a:pt x="28696" y="12062"/>
                </a:lnTo>
                <a:cubicBezTo>
                  <a:pt x="30869" y="8946"/>
                  <a:pt x="35156" y="8203"/>
                  <a:pt x="38243" y="10375"/>
                </a:cubicBezTo>
                <a:close/>
                <a:moveTo>
                  <a:pt x="38243" y="56107"/>
                </a:moveTo>
                <a:cubicBezTo>
                  <a:pt x="41358" y="58279"/>
                  <a:pt x="42102" y="62566"/>
                  <a:pt x="39929" y="65653"/>
                </a:cubicBezTo>
                <a:lnTo>
                  <a:pt x="23923" y="88519"/>
                </a:lnTo>
                <a:cubicBezTo>
                  <a:pt x="22751" y="90177"/>
                  <a:pt x="20922" y="91234"/>
                  <a:pt x="18893" y="91406"/>
                </a:cubicBezTo>
                <a:cubicBezTo>
                  <a:pt x="16863" y="91577"/>
                  <a:pt x="14863" y="90891"/>
                  <a:pt x="13434" y="89462"/>
                </a:cubicBezTo>
                <a:lnTo>
                  <a:pt x="2001" y="78029"/>
                </a:lnTo>
                <a:cubicBezTo>
                  <a:pt x="-686" y="75343"/>
                  <a:pt x="-686" y="70998"/>
                  <a:pt x="2001" y="68340"/>
                </a:cubicBezTo>
                <a:cubicBezTo>
                  <a:pt x="4687" y="65682"/>
                  <a:pt x="9032" y="65653"/>
                  <a:pt x="11690" y="68340"/>
                </a:cubicBezTo>
                <a:lnTo>
                  <a:pt x="17349" y="73999"/>
                </a:lnTo>
                <a:lnTo>
                  <a:pt x="28668" y="57822"/>
                </a:lnTo>
                <a:cubicBezTo>
                  <a:pt x="30840" y="54706"/>
                  <a:pt x="35127" y="53963"/>
                  <a:pt x="38214" y="56135"/>
                </a:cubicBezTo>
                <a:close/>
                <a:moveTo>
                  <a:pt x="64024" y="27439"/>
                </a:moveTo>
                <a:cubicBezTo>
                  <a:pt x="64024" y="22380"/>
                  <a:pt x="68111" y="18293"/>
                  <a:pt x="73170" y="18293"/>
                </a:cubicBezTo>
                <a:lnTo>
                  <a:pt x="137194" y="18293"/>
                </a:lnTo>
                <a:cubicBezTo>
                  <a:pt x="142253" y="18293"/>
                  <a:pt x="146341" y="22380"/>
                  <a:pt x="146341" y="27439"/>
                </a:cubicBezTo>
                <a:cubicBezTo>
                  <a:pt x="146341" y="32498"/>
                  <a:pt x="142253" y="36585"/>
                  <a:pt x="137194" y="36585"/>
                </a:cubicBezTo>
                <a:lnTo>
                  <a:pt x="73170" y="36585"/>
                </a:lnTo>
                <a:cubicBezTo>
                  <a:pt x="68111" y="36585"/>
                  <a:pt x="64024" y="32498"/>
                  <a:pt x="64024" y="27439"/>
                </a:cubicBezTo>
                <a:close/>
                <a:moveTo>
                  <a:pt x="64024" y="73170"/>
                </a:moveTo>
                <a:cubicBezTo>
                  <a:pt x="64024" y="68111"/>
                  <a:pt x="68111" y="64024"/>
                  <a:pt x="73170" y="64024"/>
                </a:cubicBezTo>
                <a:lnTo>
                  <a:pt x="137194" y="64024"/>
                </a:lnTo>
                <a:cubicBezTo>
                  <a:pt x="142253" y="64024"/>
                  <a:pt x="146341" y="68111"/>
                  <a:pt x="146341" y="73170"/>
                </a:cubicBezTo>
                <a:cubicBezTo>
                  <a:pt x="146341" y="78229"/>
                  <a:pt x="142253" y="82317"/>
                  <a:pt x="137194" y="82317"/>
                </a:cubicBezTo>
                <a:lnTo>
                  <a:pt x="73170" y="82317"/>
                </a:lnTo>
                <a:cubicBezTo>
                  <a:pt x="68111" y="82317"/>
                  <a:pt x="64024" y="78229"/>
                  <a:pt x="64024" y="73170"/>
                </a:cubicBezTo>
                <a:close/>
                <a:moveTo>
                  <a:pt x="45731" y="118902"/>
                </a:moveTo>
                <a:cubicBezTo>
                  <a:pt x="45731" y="113843"/>
                  <a:pt x="49819" y="109755"/>
                  <a:pt x="54878" y="109755"/>
                </a:cubicBezTo>
                <a:lnTo>
                  <a:pt x="137194" y="109755"/>
                </a:lnTo>
                <a:cubicBezTo>
                  <a:pt x="142253" y="109755"/>
                  <a:pt x="146341" y="113843"/>
                  <a:pt x="146341" y="118902"/>
                </a:cubicBezTo>
                <a:cubicBezTo>
                  <a:pt x="146341" y="123961"/>
                  <a:pt x="142253" y="128048"/>
                  <a:pt x="137194" y="128048"/>
                </a:cubicBezTo>
                <a:lnTo>
                  <a:pt x="54878" y="128048"/>
                </a:lnTo>
                <a:cubicBezTo>
                  <a:pt x="49819" y="128048"/>
                  <a:pt x="45731" y="123961"/>
                  <a:pt x="45731" y="118902"/>
                </a:cubicBezTo>
                <a:close/>
                <a:moveTo>
                  <a:pt x="18293" y="107469"/>
                </a:moveTo>
                <a:cubicBezTo>
                  <a:pt x="24603" y="107469"/>
                  <a:pt x="29725" y="112592"/>
                  <a:pt x="29725" y="118902"/>
                </a:cubicBezTo>
                <a:cubicBezTo>
                  <a:pt x="29725" y="125212"/>
                  <a:pt x="24603" y="130335"/>
                  <a:pt x="18293" y="130335"/>
                </a:cubicBezTo>
                <a:cubicBezTo>
                  <a:pt x="11983" y="130335"/>
                  <a:pt x="6860" y="125212"/>
                  <a:pt x="6860" y="118902"/>
                </a:cubicBezTo>
                <a:cubicBezTo>
                  <a:pt x="6860" y="112592"/>
                  <a:pt x="11983" y="107469"/>
                  <a:pt x="18293" y="107469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48" name="Text 46"/>
          <p:cNvSpPr/>
          <p:nvPr/>
        </p:nvSpPr>
        <p:spPr bwMode="auto">
          <a:xfrm flipH="0" flipV="0">
            <a:off x="6874862" y="5003018"/>
            <a:ext cx="1602424" cy="256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5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Specific Goals</a:t>
            </a:r>
            <a:endParaRPr lang="en-US" sz="1600"/>
          </a:p>
        </p:txBody>
      </p:sp>
      <p:sp>
        <p:nvSpPr>
          <p:cNvPr id="49" name="Shape 47"/>
          <p:cNvSpPr/>
          <p:nvPr/>
        </p:nvSpPr>
        <p:spPr bwMode="auto">
          <a:xfrm>
            <a:off x="6399256" y="5423748"/>
            <a:ext cx="2579253" cy="365851"/>
          </a:xfrm>
          <a:custGeom>
            <a:avLst/>
            <a:gdLst/>
            <a:ahLst/>
            <a:cxnLst/>
            <a:rect l="l" t="t" r="r" b="b"/>
            <a:pathLst>
              <a:path w="2579253" h="365851" fill="norm" stroke="1" extrusionOk="0">
                <a:moveTo>
                  <a:pt x="73170" y="0"/>
                </a:moveTo>
                <a:lnTo>
                  <a:pt x="2506083" y="0"/>
                </a:lnTo>
                <a:cubicBezTo>
                  <a:pt x="2546493" y="0"/>
                  <a:pt x="2579253" y="32759"/>
                  <a:pt x="2579253" y="73170"/>
                </a:cubicBezTo>
                <a:lnTo>
                  <a:pt x="2579253" y="292681"/>
                </a:lnTo>
                <a:cubicBezTo>
                  <a:pt x="2579253" y="333092"/>
                  <a:pt x="2546493" y="365851"/>
                  <a:pt x="2506083" y="365851"/>
                </a:cubicBezTo>
                <a:lnTo>
                  <a:pt x="73170" y="365851"/>
                </a:lnTo>
                <a:cubicBezTo>
                  <a:pt x="32759" y="365851"/>
                  <a:pt x="0" y="333092"/>
                  <a:pt x="0" y="29268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50" name="Shape 48"/>
          <p:cNvSpPr/>
          <p:nvPr/>
        </p:nvSpPr>
        <p:spPr bwMode="auto">
          <a:xfrm>
            <a:off x="6472427" y="5496918"/>
            <a:ext cx="219511" cy="219511"/>
          </a:xfrm>
          <a:custGeom>
            <a:avLst/>
            <a:gdLst/>
            <a:ahLst/>
            <a:cxnLst/>
            <a:rect l="l" t="t" r="r" b="b"/>
            <a:pathLst>
              <a:path w="219511" h="219511" fill="norm" stroke="1" extrusionOk="0">
                <a:moveTo>
                  <a:pt x="109755" y="0"/>
                </a:moveTo>
                <a:lnTo>
                  <a:pt x="109755" y="0"/>
                </a:lnTo>
                <a:cubicBezTo>
                  <a:pt x="170331" y="0"/>
                  <a:pt x="219511" y="49180"/>
                  <a:pt x="219511" y="109755"/>
                </a:cubicBezTo>
                <a:lnTo>
                  <a:pt x="219511" y="109755"/>
                </a:lnTo>
                <a:cubicBezTo>
                  <a:pt x="219511" y="170331"/>
                  <a:pt x="170331" y="219511"/>
                  <a:pt x="109755" y="219511"/>
                </a:cubicBezTo>
                <a:lnTo>
                  <a:pt x="109755" y="219511"/>
                </a:lnTo>
                <a:cubicBezTo>
                  <a:pt x="49180" y="219511"/>
                  <a:pt x="0" y="170331"/>
                  <a:pt x="0" y="109755"/>
                </a:cubicBezTo>
                <a:lnTo>
                  <a:pt x="0" y="109755"/>
                </a:lnTo>
                <a:cubicBezTo>
                  <a:pt x="0" y="49180"/>
                  <a:pt x="49180" y="0"/>
                  <a:pt x="109755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51" name="Text 49"/>
          <p:cNvSpPr/>
          <p:nvPr/>
        </p:nvSpPr>
        <p:spPr bwMode="auto">
          <a:xfrm>
            <a:off x="6444988" y="5496918"/>
            <a:ext cx="274389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8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1</a:t>
            </a:r>
            <a:endParaRPr lang="en-US" sz="1600"/>
          </a:p>
        </p:txBody>
      </p:sp>
      <p:sp>
        <p:nvSpPr>
          <p:cNvPr id="52" name="Text 50"/>
          <p:cNvSpPr/>
          <p:nvPr/>
        </p:nvSpPr>
        <p:spPr bwMode="auto">
          <a:xfrm>
            <a:off x="6765108" y="5515211"/>
            <a:ext cx="1189017" cy="18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Multi format upload</a:t>
            </a:r>
            <a:endParaRPr lang="en-US" sz="1600"/>
          </a:p>
        </p:txBody>
      </p:sp>
      <p:sp>
        <p:nvSpPr>
          <p:cNvPr id="53" name="Shape 51"/>
          <p:cNvSpPr/>
          <p:nvPr/>
        </p:nvSpPr>
        <p:spPr bwMode="auto">
          <a:xfrm>
            <a:off x="9054681" y="5423748"/>
            <a:ext cx="2579253" cy="365851"/>
          </a:xfrm>
          <a:custGeom>
            <a:avLst/>
            <a:gdLst/>
            <a:ahLst/>
            <a:cxnLst/>
            <a:rect l="l" t="t" r="r" b="b"/>
            <a:pathLst>
              <a:path w="2579253" h="365851" fill="norm" stroke="1" extrusionOk="0">
                <a:moveTo>
                  <a:pt x="73170" y="0"/>
                </a:moveTo>
                <a:lnTo>
                  <a:pt x="2506083" y="0"/>
                </a:lnTo>
                <a:cubicBezTo>
                  <a:pt x="2546493" y="0"/>
                  <a:pt x="2579253" y="32759"/>
                  <a:pt x="2579253" y="73170"/>
                </a:cubicBezTo>
                <a:lnTo>
                  <a:pt x="2579253" y="292681"/>
                </a:lnTo>
                <a:cubicBezTo>
                  <a:pt x="2579253" y="333092"/>
                  <a:pt x="2546493" y="365851"/>
                  <a:pt x="2506083" y="365851"/>
                </a:cubicBezTo>
                <a:lnTo>
                  <a:pt x="73170" y="365851"/>
                </a:lnTo>
                <a:cubicBezTo>
                  <a:pt x="32759" y="365851"/>
                  <a:pt x="0" y="333092"/>
                  <a:pt x="0" y="29268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54" name="Shape 52"/>
          <p:cNvSpPr/>
          <p:nvPr/>
        </p:nvSpPr>
        <p:spPr bwMode="auto">
          <a:xfrm>
            <a:off x="9127851" y="5496918"/>
            <a:ext cx="219511" cy="219511"/>
          </a:xfrm>
          <a:custGeom>
            <a:avLst/>
            <a:gdLst/>
            <a:ahLst/>
            <a:cxnLst/>
            <a:rect l="l" t="t" r="r" b="b"/>
            <a:pathLst>
              <a:path w="219511" h="219511" fill="norm" stroke="1" extrusionOk="0">
                <a:moveTo>
                  <a:pt x="109755" y="0"/>
                </a:moveTo>
                <a:lnTo>
                  <a:pt x="109755" y="0"/>
                </a:lnTo>
                <a:cubicBezTo>
                  <a:pt x="170331" y="0"/>
                  <a:pt x="219511" y="49180"/>
                  <a:pt x="219511" y="109755"/>
                </a:cubicBezTo>
                <a:lnTo>
                  <a:pt x="219511" y="109755"/>
                </a:lnTo>
                <a:cubicBezTo>
                  <a:pt x="219511" y="170331"/>
                  <a:pt x="170331" y="219511"/>
                  <a:pt x="109755" y="219511"/>
                </a:cubicBezTo>
                <a:lnTo>
                  <a:pt x="109755" y="219511"/>
                </a:lnTo>
                <a:cubicBezTo>
                  <a:pt x="49180" y="219511"/>
                  <a:pt x="0" y="170331"/>
                  <a:pt x="0" y="109755"/>
                </a:cubicBezTo>
                <a:lnTo>
                  <a:pt x="0" y="109755"/>
                </a:lnTo>
                <a:cubicBezTo>
                  <a:pt x="0" y="49180"/>
                  <a:pt x="49180" y="0"/>
                  <a:pt x="109755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55" name="Text 53"/>
          <p:cNvSpPr/>
          <p:nvPr/>
        </p:nvSpPr>
        <p:spPr bwMode="auto">
          <a:xfrm>
            <a:off x="9100412" y="5496918"/>
            <a:ext cx="274389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8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2</a:t>
            </a:r>
            <a:endParaRPr lang="en-US" sz="1600"/>
          </a:p>
        </p:txBody>
      </p:sp>
      <p:sp>
        <p:nvSpPr>
          <p:cNvPr id="56" name="Text 54"/>
          <p:cNvSpPr/>
          <p:nvPr/>
        </p:nvSpPr>
        <p:spPr bwMode="auto">
          <a:xfrm>
            <a:off x="9420532" y="5515211"/>
            <a:ext cx="1115847" cy="18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Distributed storage</a:t>
            </a:r>
            <a:endParaRPr lang="en-US" sz="1600"/>
          </a:p>
        </p:txBody>
      </p:sp>
      <p:sp>
        <p:nvSpPr>
          <p:cNvPr id="57" name="Shape 55"/>
          <p:cNvSpPr/>
          <p:nvPr/>
        </p:nvSpPr>
        <p:spPr bwMode="auto">
          <a:xfrm>
            <a:off x="6399256" y="5862770"/>
            <a:ext cx="2579253" cy="365851"/>
          </a:xfrm>
          <a:custGeom>
            <a:avLst/>
            <a:gdLst/>
            <a:ahLst/>
            <a:cxnLst/>
            <a:rect l="l" t="t" r="r" b="b"/>
            <a:pathLst>
              <a:path w="2579253" h="365851" fill="norm" stroke="1" extrusionOk="0">
                <a:moveTo>
                  <a:pt x="73170" y="0"/>
                </a:moveTo>
                <a:lnTo>
                  <a:pt x="2506083" y="0"/>
                </a:lnTo>
                <a:cubicBezTo>
                  <a:pt x="2546493" y="0"/>
                  <a:pt x="2579253" y="32759"/>
                  <a:pt x="2579253" y="73170"/>
                </a:cubicBezTo>
                <a:lnTo>
                  <a:pt x="2579253" y="292681"/>
                </a:lnTo>
                <a:cubicBezTo>
                  <a:pt x="2579253" y="333092"/>
                  <a:pt x="2546493" y="365851"/>
                  <a:pt x="2506083" y="365851"/>
                </a:cubicBezTo>
                <a:lnTo>
                  <a:pt x="73170" y="365851"/>
                </a:lnTo>
                <a:cubicBezTo>
                  <a:pt x="32759" y="365851"/>
                  <a:pt x="0" y="333092"/>
                  <a:pt x="0" y="29268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58" name="Shape 56"/>
          <p:cNvSpPr/>
          <p:nvPr/>
        </p:nvSpPr>
        <p:spPr bwMode="auto">
          <a:xfrm>
            <a:off x="6472427" y="5935940"/>
            <a:ext cx="219511" cy="219511"/>
          </a:xfrm>
          <a:custGeom>
            <a:avLst/>
            <a:gdLst/>
            <a:ahLst/>
            <a:cxnLst/>
            <a:rect l="l" t="t" r="r" b="b"/>
            <a:pathLst>
              <a:path w="219511" h="219511" fill="norm" stroke="1" extrusionOk="0">
                <a:moveTo>
                  <a:pt x="109755" y="0"/>
                </a:moveTo>
                <a:lnTo>
                  <a:pt x="109755" y="0"/>
                </a:lnTo>
                <a:cubicBezTo>
                  <a:pt x="170331" y="0"/>
                  <a:pt x="219511" y="49180"/>
                  <a:pt x="219511" y="109755"/>
                </a:cubicBezTo>
                <a:lnTo>
                  <a:pt x="219511" y="109755"/>
                </a:lnTo>
                <a:cubicBezTo>
                  <a:pt x="219511" y="170331"/>
                  <a:pt x="170331" y="219511"/>
                  <a:pt x="109755" y="219511"/>
                </a:cubicBezTo>
                <a:lnTo>
                  <a:pt x="109755" y="219511"/>
                </a:lnTo>
                <a:cubicBezTo>
                  <a:pt x="49180" y="219511"/>
                  <a:pt x="0" y="170331"/>
                  <a:pt x="0" y="109755"/>
                </a:cubicBezTo>
                <a:lnTo>
                  <a:pt x="0" y="109755"/>
                </a:lnTo>
                <a:cubicBezTo>
                  <a:pt x="0" y="49180"/>
                  <a:pt x="49180" y="0"/>
                  <a:pt x="109755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59" name="Text 57"/>
          <p:cNvSpPr/>
          <p:nvPr/>
        </p:nvSpPr>
        <p:spPr bwMode="auto">
          <a:xfrm>
            <a:off x="6444988" y="5935940"/>
            <a:ext cx="274389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8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3</a:t>
            </a:r>
            <a:endParaRPr lang="en-US" sz="1600"/>
          </a:p>
        </p:txBody>
      </p:sp>
      <p:sp>
        <p:nvSpPr>
          <p:cNvPr id="60" name="Text 58"/>
          <p:cNvSpPr/>
          <p:nvPr/>
        </p:nvSpPr>
        <p:spPr bwMode="auto">
          <a:xfrm>
            <a:off x="6765108" y="5954233"/>
            <a:ext cx="1088408" cy="18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Parallel processing</a:t>
            </a:r>
            <a:endParaRPr lang="en-US" sz="1600"/>
          </a:p>
        </p:txBody>
      </p:sp>
      <p:sp>
        <p:nvSpPr>
          <p:cNvPr id="61" name="Shape 59"/>
          <p:cNvSpPr/>
          <p:nvPr/>
        </p:nvSpPr>
        <p:spPr bwMode="auto">
          <a:xfrm>
            <a:off x="9054681" y="5862770"/>
            <a:ext cx="2579253" cy="365851"/>
          </a:xfrm>
          <a:custGeom>
            <a:avLst/>
            <a:gdLst/>
            <a:ahLst/>
            <a:cxnLst/>
            <a:rect l="l" t="t" r="r" b="b"/>
            <a:pathLst>
              <a:path w="2579253" h="365851" fill="norm" stroke="1" extrusionOk="0">
                <a:moveTo>
                  <a:pt x="73170" y="0"/>
                </a:moveTo>
                <a:lnTo>
                  <a:pt x="2506083" y="0"/>
                </a:lnTo>
                <a:cubicBezTo>
                  <a:pt x="2546493" y="0"/>
                  <a:pt x="2579253" y="32759"/>
                  <a:pt x="2579253" y="73170"/>
                </a:cubicBezTo>
                <a:lnTo>
                  <a:pt x="2579253" y="292681"/>
                </a:lnTo>
                <a:cubicBezTo>
                  <a:pt x="2579253" y="333092"/>
                  <a:pt x="2546493" y="365851"/>
                  <a:pt x="2506083" y="365851"/>
                </a:cubicBezTo>
                <a:lnTo>
                  <a:pt x="73170" y="365851"/>
                </a:lnTo>
                <a:cubicBezTo>
                  <a:pt x="32759" y="365851"/>
                  <a:pt x="0" y="333092"/>
                  <a:pt x="0" y="29268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62" name="Shape 60"/>
          <p:cNvSpPr/>
          <p:nvPr/>
        </p:nvSpPr>
        <p:spPr bwMode="auto">
          <a:xfrm>
            <a:off x="9127851" y="5935940"/>
            <a:ext cx="219511" cy="219511"/>
          </a:xfrm>
          <a:custGeom>
            <a:avLst/>
            <a:gdLst/>
            <a:ahLst/>
            <a:cxnLst/>
            <a:rect l="l" t="t" r="r" b="b"/>
            <a:pathLst>
              <a:path w="219511" h="219511" fill="norm" stroke="1" extrusionOk="0">
                <a:moveTo>
                  <a:pt x="109755" y="0"/>
                </a:moveTo>
                <a:lnTo>
                  <a:pt x="109755" y="0"/>
                </a:lnTo>
                <a:cubicBezTo>
                  <a:pt x="170331" y="0"/>
                  <a:pt x="219511" y="49180"/>
                  <a:pt x="219511" y="109755"/>
                </a:cubicBezTo>
                <a:lnTo>
                  <a:pt x="219511" y="109755"/>
                </a:lnTo>
                <a:cubicBezTo>
                  <a:pt x="219511" y="170331"/>
                  <a:pt x="170331" y="219511"/>
                  <a:pt x="109755" y="219511"/>
                </a:cubicBezTo>
                <a:lnTo>
                  <a:pt x="109755" y="219511"/>
                </a:lnTo>
                <a:cubicBezTo>
                  <a:pt x="49180" y="219511"/>
                  <a:pt x="0" y="170331"/>
                  <a:pt x="0" y="109755"/>
                </a:cubicBezTo>
                <a:lnTo>
                  <a:pt x="0" y="109755"/>
                </a:lnTo>
                <a:cubicBezTo>
                  <a:pt x="0" y="49180"/>
                  <a:pt x="49180" y="0"/>
                  <a:pt x="109755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63" name="Text 61"/>
          <p:cNvSpPr/>
          <p:nvPr/>
        </p:nvSpPr>
        <p:spPr bwMode="auto">
          <a:xfrm>
            <a:off x="9100412" y="5935940"/>
            <a:ext cx="274389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8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4</a:t>
            </a:r>
            <a:endParaRPr lang="en-US" sz="1600"/>
          </a:p>
        </p:txBody>
      </p:sp>
      <p:sp>
        <p:nvSpPr>
          <p:cNvPr id="64" name="Text 62"/>
          <p:cNvSpPr/>
          <p:nvPr/>
        </p:nvSpPr>
        <p:spPr bwMode="auto">
          <a:xfrm>
            <a:off x="9420532" y="5954233"/>
            <a:ext cx="1152432" cy="18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Layered warehouse</a:t>
            </a:r>
            <a:endParaRPr lang="en-US" sz="1600"/>
          </a:p>
        </p:txBody>
      </p:sp>
      <p:sp>
        <p:nvSpPr>
          <p:cNvPr id="65" name="Shape 63"/>
          <p:cNvSpPr/>
          <p:nvPr/>
        </p:nvSpPr>
        <p:spPr bwMode="auto">
          <a:xfrm>
            <a:off x="6399256" y="6301791"/>
            <a:ext cx="2579253" cy="365851"/>
          </a:xfrm>
          <a:custGeom>
            <a:avLst/>
            <a:gdLst/>
            <a:ahLst/>
            <a:cxnLst/>
            <a:rect l="l" t="t" r="r" b="b"/>
            <a:pathLst>
              <a:path w="2579253" h="365851" fill="norm" stroke="1" extrusionOk="0">
                <a:moveTo>
                  <a:pt x="73170" y="0"/>
                </a:moveTo>
                <a:lnTo>
                  <a:pt x="2506083" y="0"/>
                </a:lnTo>
                <a:cubicBezTo>
                  <a:pt x="2546493" y="0"/>
                  <a:pt x="2579253" y="32759"/>
                  <a:pt x="2579253" y="73170"/>
                </a:cubicBezTo>
                <a:lnTo>
                  <a:pt x="2579253" y="292681"/>
                </a:lnTo>
                <a:cubicBezTo>
                  <a:pt x="2579253" y="333092"/>
                  <a:pt x="2546493" y="365851"/>
                  <a:pt x="2506083" y="365851"/>
                </a:cubicBezTo>
                <a:lnTo>
                  <a:pt x="73170" y="365851"/>
                </a:lnTo>
                <a:cubicBezTo>
                  <a:pt x="32759" y="365851"/>
                  <a:pt x="0" y="333092"/>
                  <a:pt x="0" y="29268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66" name="Shape 64"/>
          <p:cNvSpPr/>
          <p:nvPr/>
        </p:nvSpPr>
        <p:spPr bwMode="auto">
          <a:xfrm>
            <a:off x="6472427" y="6374962"/>
            <a:ext cx="219511" cy="219511"/>
          </a:xfrm>
          <a:custGeom>
            <a:avLst/>
            <a:gdLst/>
            <a:ahLst/>
            <a:cxnLst/>
            <a:rect l="l" t="t" r="r" b="b"/>
            <a:pathLst>
              <a:path w="219511" h="219511" fill="norm" stroke="1" extrusionOk="0">
                <a:moveTo>
                  <a:pt x="109755" y="0"/>
                </a:moveTo>
                <a:lnTo>
                  <a:pt x="109755" y="0"/>
                </a:lnTo>
                <a:cubicBezTo>
                  <a:pt x="170331" y="0"/>
                  <a:pt x="219511" y="49180"/>
                  <a:pt x="219511" y="109755"/>
                </a:cubicBezTo>
                <a:lnTo>
                  <a:pt x="219511" y="109755"/>
                </a:lnTo>
                <a:cubicBezTo>
                  <a:pt x="219511" y="170331"/>
                  <a:pt x="170331" y="219511"/>
                  <a:pt x="109755" y="219511"/>
                </a:cubicBezTo>
                <a:lnTo>
                  <a:pt x="109755" y="219511"/>
                </a:lnTo>
                <a:cubicBezTo>
                  <a:pt x="49180" y="219511"/>
                  <a:pt x="0" y="170331"/>
                  <a:pt x="0" y="109755"/>
                </a:cubicBezTo>
                <a:lnTo>
                  <a:pt x="0" y="109755"/>
                </a:lnTo>
                <a:cubicBezTo>
                  <a:pt x="0" y="49180"/>
                  <a:pt x="49180" y="0"/>
                  <a:pt x="109755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67" name="Text 65"/>
          <p:cNvSpPr/>
          <p:nvPr/>
        </p:nvSpPr>
        <p:spPr bwMode="auto">
          <a:xfrm>
            <a:off x="6444988" y="6374962"/>
            <a:ext cx="274389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8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5</a:t>
            </a:r>
            <a:endParaRPr lang="en-US" sz="1600"/>
          </a:p>
        </p:txBody>
      </p:sp>
      <p:sp>
        <p:nvSpPr>
          <p:cNvPr id="68" name="Text 66"/>
          <p:cNvSpPr/>
          <p:nvPr/>
        </p:nvSpPr>
        <p:spPr bwMode="auto">
          <a:xfrm>
            <a:off x="6765108" y="6393254"/>
            <a:ext cx="1143286" cy="18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User authentication</a:t>
            </a:r>
            <a:endParaRPr lang="en-US" sz="1600"/>
          </a:p>
        </p:txBody>
      </p:sp>
      <p:sp>
        <p:nvSpPr>
          <p:cNvPr id="69" name="Shape 67"/>
          <p:cNvSpPr/>
          <p:nvPr/>
        </p:nvSpPr>
        <p:spPr bwMode="auto">
          <a:xfrm>
            <a:off x="9054681" y="6301791"/>
            <a:ext cx="2579253" cy="365851"/>
          </a:xfrm>
          <a:custGeom>
            <a:avLst/>
            <a:gdLst/>
            <a:ahLst/>
            <a:cxnLst/>
            <a:rect l="l" t="t" r="r" b="b"/>
            <a:pathLst>
              <a:path w="2579253" h="365851" fill="norm" stroke="1" extrusionOk="0">
                <a:moveTo>
                  <a:pt x="73170" y="0"/>
                </a:moveTo>
                <a:lnTo>
                  <a:pt x="2506083" y="0"/>
                </a:lnTo>
                <a:cubicBezTo>
                  <a:pt x="2546493" y="0"/>
                  <a:pt x="2579253" y="32759"/>
                  <a:pt x="2579253" y="73170"/>
                </a:cubicBezTo>
                <a:lnTo>
                  <a:pt x="2579253" y="292681"/>
                </a:lnTo>
                <a:cubicBezTo>
                  <a:pt x="2579253" y="333092"/>
                  <a:pt x="2546493" y="365851"/>
                  <a:pt x="2506083" y="365851"/>
                </a:cubicBezTo>
                <a:lnTo>
                  <a:pt x="73170" y="365851"/>
                </a:lnTo>
                <a:cubicBezTo>
                  <a:pt x="32759" y="365851"/>
                  <a:pt x="0" y="333092"/>
                  <a:pt x="0" y="29268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70" name="Shape 68"/>
          <p:cNvSpPr/>
          <p:nvPr/>
        </p:nvSpPr>
        <p:spPr bwMode="auto">
          <a:xfrm>
            <a:off x="9127851" y="6374962"/>
            <a:ext cx="219511" cy="219511"/>
          </a:xfrm>
          <a:custGeom>
            <a:avLst/>
            <a:gdLst/>
            <a:ahLst/>
            <a:cxnLst/>
            <a:rect l="l" t="t" r="r" b="b"/>
            <a:pathLst>
              <a:path w="219511" h="219511" fill="norm" stroke="1" extrusionOk="0">
                <a:moveTo>
                  <a:pt x="109755" y="0"/>
                </a:moveTo>
                <a:lnTo>
                  <a:pt x="109755" y="0"/>
                </a:lnTo>
                <a:cubicBezTo>
                  <a:pt x="170331" y="0"/>
                  <a:pt x="219511" y="49180"/>
                  <a:pt x="219511" y="109755"/>
                </a:cubicBezTo>
                <a:lnTo>
                  <a:pt x="219511" y="109755"/>
                </a:lnTo>
                <a:cubicBezTo>
                  <a:pt x="219511" y="170331"/>
                  <a:pt x="170331" y="219511"/>
                  <a:pt x="109755" y="219511"/>
                </a:cubicBezTo>
                <a:lnTo>
                  <a:pt x="109755" y="219511"/>
                </a:lnTo>
                <a:cubicBezTo>
                  <a:pt x="49180" y="219511"/>
                  <a:pt x="0" y="170331"/>
                  <a:pt x="0" y="109755"/>
                </a:cubicBezTo>
                <a:lnTo>
                  <a:pt x="0" y="109755"/>
                </a:lnTo>
                <a:cubicBezTo>
                  <a:pt x="0" y="49180"/>
                  <a:pt x="49180" y="0"/>
                  <a:pt x="109755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71" name="Text 69"/>
          <p:cNvSpPr/>
          <p:nvPr/>
        </p:nvSpPr>
        <p:spPr bwMode="auto">
          <a:xfrm>
            <a:off x="9100412" y="6374962"/>
            <a:ext cx="274389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8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6</a:t>
            </a:r>
            <a:endParaRPr lang="en-US" sz="1600"/>
          </a:p>
        </p:txBody>
      </p:sp>
      <p:sp>
        <p:nvSpPr>
          <p:cNvPr id="72" name="Text 70"/>
          <p:cNvSpPr/>
          <p:nvPr/>
        </p:nvSpPr>
        <p:spPr bwMode="auto">
          <a:xfrm>
            <a:off x="9420532" y="6393254"/>
            <a:ext cx="1079262" cy="18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Real time tracking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4">
    <p:bg>
      <p:bgPr shadeToTitle="0">
        <a:solidFill>
          <a:srgbClr val="1A0F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317500" y="33337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 fill="norm" stroke="1" extrusionOk="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 bwMode="auto">
          <a:xfrm>
            <a:off x="468313" y="4603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 fill="norm" stroke="1" extrusionOk="0">
                <a:moveTo>
                  <a:pt x="115863" y="11906"/>
                </a:moveTo>
                <a:lnTo>
                  <a:pt x="119063" y="11906"/>
                </a:lnTo>
                <a:cubicBezTo>
                  <a:pt x="132197" y="11906"/>
                  <a:pt x="142875" y="22585"/>
                  <a:pt x="142875" y="35719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27012" y="11906"/>
                </a:lnTo>
                <a:cubicBezTo>
                  <a:pt x="31105" y="4800"/>
                  <a:pt x="38807" y="0"/>
                  <a:pt x="47625" y="0"/>
                </a:cubicBezTo>
                <a:lnTo>
                  <a:pt x="95250" y="0"/>
                </a:lnTo>
                <a:cubicBezTo>
                  <a:pt x="104068" y="0"/>
                  <a:pt x="111770" y="4800"/>
                  <a:pt x="115863" y="11906"/>
                </a:cubicBezTo>
                <a:close/>
                <a:moveTo>
                  <a:pt x="92273" y="41672"/>
                </a:moveTo>
                <a:cubicBezTo>
                  <a:pt x="97222" y="41672"/>
                  <a:pt x="101203" y="37691"/>
                  <a:pt x="101203" y="32742"/>
                </a:cubicBezTo>
                <a:cubicBezTo>
                  <a:pt x="101203" y="27794"/>
                  <a:pt x="97222" y="23812"/>
                  <a:pt x="92273" y="23812"/>
                </a:cubicBezTo>
                <a:lnTo>
                  <a:pt x="50602" y="23812"/>
                </a:lnTo>
                <a:cubicBezTo>
                  <a:pt x="45653" y="23812"/>
                  <a:pt x="41672" y="27794"/>
                  <a:pt x="41672" y="32742"/>
                </a:cubicBezTo>
                <a:cubicBezTo>
                  <a:pt x="41672" y="37691"/>
                  <a:pt x="45653" y="41672"/>
                  <a:pt x="50602" y="41672"/>
                </a:cubicBezTo>
                <a:lnTo>
                  <a:pt x="92273" y="41672"/>
                </a:lnTo>
                <a:close/>
                <a:moveTo>
                  <a:pt x="47625" y="95250"/>
                </a:move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ubicBezTo>
                  <a:pt x="42290" y="107156"/>
                  <a:pt x="47625" y="101821"/>
                  <a:pt x="47625" y="95250"/>
                </a:cubicBezTo>
                <a:close/>
                <a:moveTo>
                  <a:pt x="59531" y="95250"/>
                </a:moveTo>
                <a:cubicBezTo>
                  <a:pt x="59531" y="100199"/>
                  <a:pt x="63512" y="104180"/>
                  <a:pt x="68461" y="104180"/>
                </a:cubicBezTo>
                <a:lnTo>
                  <a:pt x="110133" y="104180"/>
                </a:lnTo>
                <a:cubicBezTo>
                  <a:pt x="115081" y="104180"/>
                  <a:pt x="119063" y="100199"/>
                  <a:pt x="119063" y="95250"/>
                </a:cubicBezTo>
                <a:cubicBezTo>
                  <a:pt x="119063" y="90301"/>
                  <a:pt x="115081" y="86320"/>
                  <a:pt x="110133" y="86320"/>
                </a:cubicBezTo>
                <a:lnTo>
                  <a:pt x="68461" y="86320"/>
                </a:lnTo>
                <a:cubicBezTo>
                  <a:pt x="63512" y="86320"/>
                  <a:pt x="59531" y="90301"/>
                  <a:pt x="59531" y="95250"/>
                </a:cubicBezTo>
                <a:close/>
                <a:moveTo>
                  <a:pt x="59531" y="142875"/>
                </a:moveTo>
                <a:cubicBezTo>
                  <a:pt x="59531" y="147824"/>
                  <a:pt x="63512" y="151805"/>
                  <a:pt x="68461" y="151805"/>
                </a:cubicBezTo>
                <a:lnTo>
                  <a:pt x="110133" y="151805"/>
                </a:lnTo>
                <a:cubicBezTo>
                  <a:pt x="115081" y="151805"/>
                  <a:pt x="119063" y="147824"/>
                  <a:pt x="119063" y="142875"/>
                </a:cubicBezTo>
                <a:cubicBezTo>
                  <a:pt x="119063" y="137926"/>
                  <a:pt x="115081" y="133945"/>
                  <a:pt x="110133" y="133945"/>
                </a:cubicBezTo>
                <a:lnTo>
                  <a:pt x="68461" y="133945"/>
                </a:lnTo>
                <a:cubicBezTo>
                  <a:pt x="63512" y="133945"/>
                  <a:pt x="59531" y="137926"/>
                  <a:pt x="59531" y="142875"/>
                </a:cubicBezTo>
                <a:close/>
                <a:moveTo>
                  <a:pt x="35719" y="154781"/>
                </a:moveTo>
                <a:cubicBezTo>
                  <a:pt x="42290" y="154781"/>
                  <a:pt x="47625" y="149446"/>
                  <a:pt x="47625" y="142875"/>
                </a:cubicBezTo>
                <a:cubicBezTo>
                  <a:pt x="47625" y="136304"/>
                  <a:pt x="42290" y="130969"/>
                  <a:pt x="35719" y="130969"/>
                </a:cubicBezTo>
                <a:cubicBezTo>
                  <a:pt x="29148" y="130969"/>
                  <a:pt x="23812" y="136304"/>
                  <a:pt x="23812" y="142875"/>
                </a:cubicBezTo>
                <a:cubicBezTo>
                  <a:pt x="23812" y="149446"/>
                  <a:pt x="29148" y="154781"/>
                  <a:pt x="35719" y="15478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 bwMode="auto">
          <a:xfrm flipH="0" flipV="0">
            <a:off x="888999" y="317499"/>
            <a:ext cx="4779220" cy="380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00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System Requirements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 bwMode="auto">
          <a:xfrm>
            <a:off x="889000" y="762000"/>
            <a:ext cx="1016000" cy="31750"/>
          </a:xfrm>
          <a:custGeom>
            <a:avLst/>
            <a:gdLst/>
            <a:ahLst/>
            <a:cxnLst/>
            <a:rect l="l" t="t" r="r" b="b"/>
            <a:pathLst>
              <a:path w="1016000" h="31750" fill="norm" stroke="1" extrusionOk="0">
                <a:moveTo>
                  <a:pt x="15875" y="0"/>
                </a:moveTo>
                <a:lnTo>
                  <a:pt x="1000125" y="0"/>
                </a:lnTo>
                <a:cubicBezTo>
                  <a:pt x="1008887" y="0"/>
                  <a:pt x="1016000" y="7113"/>
                  <a:pt x="1016000" y="15875"/>
                </a:cubicBezTo>
                <a:lnTo>
                  <a:pt x="1016000" y="15875"/>
                </a:lnTo>
                <a:cubicBezTo>
                  <a:pt x="1016000" y="24637"/>
                  <a:pt x="1008887" y="31750"/>
                  <a:pt x="1000125" y="31750"/>
                </a:cubicBezTo>
                <a:lnTo>
                  <a:pt x="15875" y="31750"/>
                </a:lnTo>
                <a:cubicBezTo>
                  <a:pt x="7113" y="31750"/>
                  <a:pt x="0" y="24637"/>
                  <a:pt x="0" y="15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 bwMode="auto">
          <a:xfrm>
            <a:off x="321469" y="988219"/>
            <a:ext cx="5675313" cy="5691188"/>
          </a:xfrm>
          <a:custGeom>
            <a:avLst/>
            <a:gdLst/>
            <a:ahLst/>
            <a:cxnLst/>
            <a:rect l="l" t="t" r="r" b="b"/>
            <a:pathLst>
              <a:path w="5675313" h="5691188" fill="norm" stroke="1" extrusionOk="0">
                <a:moveTo>
                  <a:pt x="127013" y="0"/>
                </a:moveTo>
                <a:lnTo>
                  <a:pt x="5548299" y="0"/>
                </a:lnTo>
                <a:cubicBezTo>
                  <a:pt x="5618447" y="0"/>
                  <a:pt x="5675313" y="56866"/>
                  <a:pt x="5675313" y="127013"/>
                </a:cubicBezTo>
                <a:lnTo>
                  <a:pt x="5675313" y="5564174"/>
                </a:lnTo>
                <a:cubicBezTo>
                  <a:pt x="5675313" y="5634322"/>
                  <a:pt x="5618447" y="5691188"/>
                  <a:pt x="5548299" y="5691188"/>
                </a:cubicBezTo>
                <a:lnTo>
                  <a:pt x="127013" y="5691188"/>
                </a:lnTo>
                <a:cubicBezTo>
                  <a:pt x="56866" y="5691188"/>
                  <a:pt x="0" y="5634322"/>
                  <a:pt x="0" y="5564174"/>
                </a:cubicBezTo>
                <a:lnTo>
                  <a:pt x="0" y="127013"/>
                </a:lnTo>
                <a:cubicBezTo>
                  <a:pt x="0" y="56913"/>
                  <a:pt x="56913" y="0"/>
                  <a:pt x="127013" y="0"/>
                </a:cubicBezTo>
                <a:close/>
              </a:path>
            </a:pathLst>
          </a:custGeom>
          <a:solidFill>
            <a:srgbClr val="4C1D95">
              <a:alpha val="30194"/>
            </a:srgbClr>
          </a:solidFill>
          <a:ln w="12700">
            <a:solidFill>
              <a:srgbClr val="7C3AED">
                <a:alpha val="30194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 bwMode="auto">
          <a:xfrm>
            <a:off x="515938" y="11826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fill="norm" stroke="1" extrusionOk="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8" name="Shape 6"/>
          <p:cNvSpPr/>
          <p:nvPr/>
        </p:nvSpPr>
        <p:spPr bwMode="auto">
          <a:xfrm>
            <a:off x="627063" y="12938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 fill="norm" stroke="1" extrusionOk="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105544" y="65949"/>
                </a:moveTo>
                <a:lnTo>
                  <a:pt x="80739" y="105637"/>
                </a:lnTo>
                <a:cubicBezTo>
                  <a:pt x="79437" y="107714"/>
                  <a:pt x="77205" y="109017"/>
                  <a:pt x="74755" y="109141"/>
                </a:cubicBezTo>
                <a:cubicBezTo>
                  <a:pt x="72306" y="109265"/>
                  <a:pt x="69949" y="108148"/>
                  <a:pt x="68492" y="106164"/>
                </a:cubicBezTo>
                <a:lnTo>
                  <a:pt x="53609" y="86320"/>
                </a:lnTo>
                <a:cubicBezTo>
                  <a:pt x="51129" y="83034"/>
                  <a:pt x="51811" y="78383"/>
                  <a:pt x="55097" y="75902"/>
                </a:cubicBezTo>
                <a:cubicBezTo>
                  <a:pt x="58384" y="73422"/>
                  <a:pt x="63035" y="74104"/>
                  <a:pt x="65515" y="77391"/>
                </a:cubicBezTo>
                <a:lnTo>
                  <a:pt x="73887" y="88553"/>
                </a:lnTo>
                <a:lnTo>
                  <a:pt x="92925" y="58074"/>
                </a:lnTo>
                <a:cubicBezTo>
                  <a:pt x="95095" y="54601"/>
                  <a:pt x="99684" y="53516"/>
                  <a:pt x="103188" y="55718"/>
                </a:cubicBezTo>
                <a:cubicBezTo>
                  <a:pt x="106691" y="57919"/>
                  <a:pt x="107745" y="62477"/>
                  <a:pt x="105544" y="6598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 bwMode="auto">
          <a:xfrm flipH="0" flipV="0">
            <a:off x="992187" y="1230312"/>
            <a:ext cx="349751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Functional Requirements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 bwMode="auto">
          <a:xfrm>
            <a:off x="531813" y="1722438"/>
            <a:ext cx="5270500" cy="698500"/>
          </a:xfrm>
          <a:custGeom>
            <a:avLst/>
            <a:gdLst/>
            <a:ahLst/>
            <a:cxnLst/>
            <a:rect l="l" t="t" r="r" b="b"/>
            <a:pathLst>
              <a:path w="5270500" h="698500" fill="norm" stroke="1" extrusionOk="0">
                <a:moveTo>
                  <a:pt x="31750" y="0"/>
                </a:moveTo>
                <a:lnTo>
                  <a:pt x="5175253" y="0"/>
                </a:lnTo>
                <a:cubicBezTo>
                  <a:pt x="5227856" y="0"/>
                  <a:pt x="5270500" y="42644"/>
                  <a:pt x="5270500" y="95247"/>
                </a:cubicBezTo>
                <a:lnTo>
                  <a:pt x="5270500" y="603253"/>
                </a:lnTo>
                <a:cubicBezTo>
                  <a:pt x="5270500" y="655856"/>
                  <a:pt x="5227856" y="698500"/>
                  <a:pt x="5175253" y="698500"/>
                </a:cubicBezTo>
                <a:lnTo>
                  <a:pt x="31750" y="698500"/>
                </a:lnTo>
                <a:cubicBezTo>
                  <a:pt x="14215" y="698500"/>
                  <a:pt x="0" y="684285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11" name="Shape 9"/>
          <p:cNvSpPr/>
          <p:nvPr/>
        </p:nvSpPr>
        <p:spPr bwMode="auto">
          <a:xfrm>
            <a:off x="531813" y="1722438"/>
            <a:ext cx="31750" cy="698500"/>
          </a:xfrm>
          <a:custGeom>
            <a:avLst/>
            <a:gdLst/>
            <a:ahLst/>
            <a:cxnLst/>
            <a:rect l="l" t="t" r="r" b="b"/>
            <a:pathLst>
              <a:path w="31750" h="698500" fill="norm" stroke="1" extrusionOk="0">
                <a:moveTo>
                  <a:pt x="31750" y="0"/>
                </a:moveTo>
                <a:lnTo>
                  <a:pt x="31750" y="0"/>
                </a:lnTo>
                <a:lnTo>
                  <a:pt x="31750" y="698500"/>
                </a:lnTo>
                <a:lnTo>
                  <a:pt x="31750" y="698500"/>
                </a:lnTo>
                <a:cubicBezTo>
                  <a:pt x="14227" y="698500"/>
                  <a:pt x="0" y="684273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 bwMode="auto">
          <a:xfrm>
            <a:off x="674688" y="188118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 fill="norm" stroke="1" extrusionOk="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13" name="Shape 11"/>
          <p:cNvSpPr/>
          <p:nvPr/>
        </p:nvSpPr>
        <p:spPr bwMode="auto">
          <a:xfrm>
            <a:off x="755055" y="195262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 fill="norm" stroke="1" extrusionOk="0">
                <a:moveTo>
                  <a:pt x="55563" y="23723"/>
                </a:moveTo>
                <a:lnTo>
                  <a:pt x="55563" y="69453"/>
                </a:lnTo>
                <a:cubicBezTo>
                  <a:pt x="55563" y="73295"/>
                  <a:pt x="52459" y="76398"/>
                  <a:pt x="48617" y="76398"/>
                </a:cubicBezTo>
                <a:cubicBezTo>
                  <a:pt x="44776" y="76398"/>
                  <a:pt x="41672" y="73295"/>
                  <a:pt x="41672" y="69453"/>
                </a:cubicBezTo>
                <a:lnTo>
                  <a:pt x="41672" y="23723"/>
                </a:lnTo>
                <a:lnTo>
                  <a:pt x="32686" y="32708"/>
                </a:lnTo>
                <a:cubicBezTo>
                  <a:pt x="29973" y="35421"/>
                  <a:pt x="25567" y="35421"/>
                  <a:pt x="22854" y="32708"/>
                </a:cubicBezTo>
                <a:cubicBezTo>
                  <a:pt x="20141" y="29995"/>
                  <a:pt x="20141" y="25589"/>
                  <a:pt x="22854" y="22876"/>
                </a:cubicBezTo>
                <a:lnTo>
                  <a:pt x="43690" y="2040"/>
                </a:lnTo>
                <a:cubicBezTo>
                  <a:pt x="46403" y="-673"/>
                  <a:pt x="50809" y="-673"/>
                  <a:pt x="53522" y="2040"/>
                </a:cubicBezTo>
                <a:lnTo>
                  <a:pt x="74358" y="22876"/>
                </a:lnTo>
                <a:cubicBezTo>
                  <a:pt x="77071" y="25589"/>
                  <a:pt x="77071" y="29995"/>
                  <a:pt x="74358" y="32708"/>
                </a:cubicBezTo>
                <a:cubicBezTo>
                  <a:pt x="71645" y="35421"/>
                  <a:pt x="67239" y="35421"/>
                  <a:pt x="64526" y="32708"/>
                </a:cubicBezTo>
                <a:lnTo>
                  <a:pt x="55563" y="23723"/>
                </a:lnTo>
                <a:close/>
                <a:moveTo>
                  <a:pt x="48617" y="86816"/>
                </a:moveTo>
                <a:cubicBezTo>
                  <a:pt x="58210" y="86816"/>
                  <a:pt x="65980" y="79046"/>
                  <a:pt x="65980" y="69453"/>
                </a:cubicBezTo>
                <a:lnTo>
                  <a:pt x="83344" y="69453"/>
                </a:lnTo>
                <a:cubicBezTo>
                  <a:pt x="91005" y="69453"/>
                  <a:pt x="97234" y="75682"/>
                  <a:pt x="97234" y="83344"/>
                </a:cubicBezTo>
                <a:lnTo>
                  <a:pt x="97234" y="90289"/>
                </a:lnTo>
                <a:cubicBezTo>
                  <a:pt x="97234" y="97951"/>
                  <a:pt x="91005" y="104180"/>
                  <a:pt x="83344" y="104180"/>
                </a:cubicBezTo>
                <a:lnTo>
                  <a:pt x="13891" y="104180"/>
                </a:lnTo>
                <a:cubicBezTo>
                  <a:pt x="6229" y="104180"/>
                  <a:pt x="0" y="97951"/>
                  <a:pt x="0" y="90289"/>
                </a:cubicBezTo>
                <a:lnTo>
                  <a:pt x="0" y="83344"/>
                </a:lnTo>
                <a:cubicBezTo>
                  <a:pt x="0" y="75682"/>
                  <a:pt x="6229" y="69453"/>
                  <a:pt x="13891" y="69453"/>
                </a:cubicBezTo>
                <a:lnTo>
                  <a:pt x="31254" y="69453"/>
                </a:lnTo>
                <a:cubicBezTo>
                  <a:pt x="31254" y="79046"/>
                  <a:pt x="39024" y="86816"/>
                  <a:pt x="48617" y="86816"/>
                </a:cubicBezTo>
                <a:close/>
                <a:moveTo>
                  <a:pt x="79871" y="92025"/>
                </a:moveTo>
                <a:cubicBezTo>
                  <a:pt x="82746" y="92025"/>
                  <a:pt x="85080" y="89691"/>
                  <a:pt x="85080" y="86816"/>
                </a:cubicBezTo>
                <a:cubicBezTo>
                  <a:pt x="85080" y="83941"/>
                  <a:pt x="82746" y="81607"/>
                  <a:pt x="79871" y="81607"/>
                </a:cubicBezTo>
                <a:cubicBezTo>
                  <a:pt x="76996" y="81607"/>
                  <a:pt x="74662" y="83941"/>
                  <a:pt x="74662" y="86816"/>
                </a:cubicBezTo>
                <a:cubicBezTo>
                  <a:pt x="74662" y="89691"/>
                  <a:pt x="76996" y="92025"/>
                  <a:pt x="79871" y="92025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 bwMode="auto">
          <a:xfrm>
            <a:off x="1023938" y="1849438"/>
            <a:ext cx="4381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Multi Format Upload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 bwMode="auto">
          <a:xfrm flipH="0" flipV="0">
            <a:off x="1023937" y="2103437"/>
            <a:ext cx="4644282" cy="190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Users can upload structured datasets in CSV, JSON, Excel, and Parquet formats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 bwMode="auto">
          <a:xfrm>
            <a:off x="531813" y="2547938"/>
            <a:ext cx="5270500" cy="698500"/>
          </a:xfrm>
          <a:custGeom>
            <a:avLst/>
            <a:gdLst/>
            <a:ahLst/>
            <a:cxnLst/>
            <a:rect l="l" t="t" r="r" b="b"/>
            <a:pathLst>
              <a:path w="5270500" h="698500" fill="norm" stroke="1" extrusionOk="0">
                <a:moveTo>
                  <a:pt x="31750" y="0"/>
                </a:moveTo>
                <a:lnTo>
                  <a:pt x="5175253" y="0"/>
                </a:lnTo>
                <a:cubicBezTo>
                  <a:pt x="5227856" y="0"/>
                  <a:pt x="5270500" y="42644"/>
                  <a:pt x="5270500" y="95247"/>
                </a:cubicBezTo>
                <a:lnTo>
                  <a:pt x="5270500" y="603253"/>
                </a:lnTo>
                <a:cubicBezTo>
                  <a:pt x="5270500" y="655856"/>
                  <a:pt x="5227856" y="698500"/>
                  <a:pt x="5175253" y="698500"/>
                </a:cubicBezTo>
                <a:lnTo>
                  <a:pt x="31750" y="698500"/>
                </a:lnTo>
                <a:cubicBezTo>
                  <a:pt x="14215" y="698500"/>
                  <a:pt x="0" y="684285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 bwMode="auto">
          <a:xfrm>
            <a:off x="531813" y="2547938"/>
            <a:ext cx="31750" cy="698500"/>
          </a:xfrm>
          <a:custGeom>
            <a:avLst/>
            <a:gdLst/>
            <a:ahLst/>
            <a:cxnLst/>
            <a:rect l="l" t="t" r="r" b="b"/>
            <a:pathLst>
              <a:path w="31750" h="698500" fill="norm" stroke="1" extrusionOk="0">
                <a:moveTo>
                  <a:pt x="31750" y="0"/>
                </a:moveTo>
                <a:lnTo>
                  <a:pt x="31750" y="0"/>
                </a:lnTo>
                <a:lnTo>
                  <a:pt x="31750" y="698500"/>
                </a:lnTo>
                <a:lnTo>
                  <a:pt x="31750" y="698500"/>
                </a:lnTo>
                <a:cubicBezTo>
                  <a:pt x="14227" y="698500"/>
                  <a:pt x="0" y="684273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18" name="Shape 16"/>
          <p:cNvSpPr/>
          <p:nvPr/>
        </p:nvSpPr>
        <p:spPr bwMode="auto">
          <a:xfrm>
            <a:off x="674688" y="270668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 fill="norm" stroke="1" extrusionOk="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/>
        </p:spPr>
      </p:sp>
      <p:sp>
        <p:nvSpPr>
          <p:cNvPr id="19" name="Shape 17"/>
          <p:cNvSpPr/>
          <p:nvPr/>
        </p:nvSpPr>
        <p:spPr bwMode="auto">
          <a:xfrm>
            <a:off x="748109" y="277812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 fill="norm" stroke="1" extrusionOk="0">
                <a:moveTo>
                  <a:pt x="55563" y="0"/>
                </a:moveTo>
                <a:cubicBezTo>
                  <a:pt x="56561" y="0"/>
                  <a:pt x="57559" y="217"/>
                  <a:pt x="58471" y="629"/>
                </a:cubicBezTo>
                <a:lnTo>
                  <a:pt x="99361" y="17971"/>
                </a:lnTo>
                <a:cubicBezTo>
                  <a:pt x="104136" y="19989"/>
                  <a:pt x="107696" y="24699"/>
                  <a:pt x="107674" y="30386"/>
                </a:cubicBezTo>
                <a:cubicBezTo>
                  <a:pt x="107566" y="51916"/>
                  <a:pt x="98710" y="91309"/>
                  <a:pt x="61314" y="109215"/>
                </a:cubicBezTo>
                <a:cubicBezTo>
                  <a:pt x="57690" y="110951"/>
                  <a:pt x="53479" y="110951"/>
                  <a:pt x="49854" y="109215"/>
                </a:cubicBezTo>
                <a:cubicBezTo>
                  <a:pt x="12436" y="91309"/>
                  <a:pt x="3603" y="51916"/>
                  <a:pt x="3494" y="30386"/>
                </a:cubicBezTo>
                <a:cubicBezTo>
                  <a:pt x="3473" y="24699"/>
                  <a:pt x="7032" y="19989"/>
                  <a:pt x="11807" y="17971"/>
                </a:cubicBezTo>
                <a:lnTo>
                  <a:pt x="52676" y="629"/>
                </a:lnTo>
                <a:cubicBezTo>
                  <a:pt x="53587" y="217"/>
                  <a:pt x="54564" y="0"/>
                  <a:pt x="55563" y="0"/>
                </a:cubicBezTo>
                <a:close/>
                <a:moveTo>
                  <a:pt x="55563" y="14498"/>
                </a:moveTo>
                <a:lnTo>
                  <a:pt x="55563" y="96562"/>
                </a:lnTo>
                <a:cubicBezTo>
                  <a:pt x="85514" y="82063"/>
                  <a:pt x="93566" y="49941"/>
                  <a:pt x="93762" y="30711"/>
                </a:cubicBezTo>
                <a:lnTo>
                  <a:pt x="55563" y="14520"/>
                </a:lnTo>
                <a:lnTo>
                  <a:pt x="55563" y="14520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20" name="Text 18"/>
          <p:cNvSpPr/>
          <p:nvPr/>
        </p:nvSpPr>
        <p:spPr bwMode="auto">
          <a:xfrm>
            <a:off x="1023938" y="2674938"/>
            <a:ext cx="416718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Automatic Validation &amp; Storage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 bwMode="auto">
          <a:xfrm flipH="0" flipV="0">
            <a:off x="1023937" y="2928937"/>
            <a:ext cx="4381499" cy="190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System validates files and stores them in distributed object storage (MinIO)</a:t>
            </a:r>
            <a:endParaRPr lang="en-US" sz="1600"/>
          </a:p>
        </p:txBody>
      </p:sp>
      <p:sp>
        <p:nvSpPr>
          <p:cNvPr id="22" name="Shape 20"/>
          <p:cNvSpPr/>
          <p:nvPr/>
        </p:nvSpPr>
        <p:spPr bwMode="auto">
          <a:xfrm>
            <a:off x="531813" y="3373438"/>
            <a:ext cx="5270500" cy="698500"/>
          </a:xfrm>
          <a:custGeom>
            <a:avLst/>
            <a:gdLst/>
            <a:ahLst/>
            <a:cxnLst/>
            <a:rect l="l" t="t" r="r" b="b"/>
            <a:pathLst>
              <a:path w="5270500" h="698500" fill="norm" stroke="1" extrusionOk="0">
                <a:moveTo>
                  <a:pt x="31750" y="0"/>
                </a:moveTo>
                <a:lnTo>
                  <a:pt x="5175253" y="0"/>
                </a:lnTo>
                <a:cubicBezTo>
                  <a:pt x="5227856" y="0"/>
                  <a:pt x="5270500" y="42644"/>
                  <a:pt x="5270500" y="95247"/>
                </a:cubicBezTo>
                <a:lnTo>
                  <a:pt x="5270500" y="603253"/>
                </a:lnTo>
                <a:cubicBezTo>
                  <a:pt x="5270500" y="655856"/>
                  <a:pt x="5227856" y="698500"/>
                  <a:pt x="5175253" y="698500"/>
                </a:cubicBezTo>
                <a:lnTo>
                  <a:pt x="31750" y="698500"/>
                </a:lnTo>
                <a:cubicBezTo>
                  <a:pt x="14215" y="698500"/>
                  <a:pt x="0" y="684285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23" name="Shape 21"/>
          <p:cNvSpPr/>
          <p:nvPr/>
        </p:nvSpPr>
        <p:spPr bwMode="auto">
          <a:xfrm>
            <a:off x="531813" y="3373438"/>
            <a:ext cx="31750" cy="698500"/>
          </a:xfrm>
          <a:custGeom>
            <a:avLst/>
            <a:gdLst/>
            <a:ahLst/>
            <a:cxnLst/>
            <a:rect l="l" t="t" r="r" b="b"/>
            <a:pathLst>
              <a:path w="31750" h="698500" fill="norm" stroke="1" extrusionOk="0">
                <a:moveTo>
                  <a:pt x="31750" y="0"/>
                </a:moveTo>
                <a:lnTo>
                  <a:pt x="31750" y="0"/>
                </a:lnTo>
                <a:lnTo>
                  <a:pt x="31750" y="698500"/>
                </a:lnTo>
                <a:lnTo>
                  <a:pt x="31750" y="698500"/>
                </a:lnTo>
                <a:cubicBezTo>
                  <a:pt x="14227" y="698500"/>
                  <a:pt x="0" y="684273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4" name="Shape 22"/>
          <p:cNvSpPr/>
          <p:nvPr/>
        </p:nvSpPr>
        <p:spPr bwMode="auto">
          <a:xfrm>
            <a:off x="674688" y="353218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 fill="norm" stroke="1" extrusionOk="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25" name="Shape 23"/>
          <p:cNvSpPr/>
          <p:nvPr/>
        </p:nvSpPr>
        <p:spPr bwMode="auto">
          <a:xfrm>
            <a:off x="734219" y="3603625"/>
            <a:ext cx="138906" cy="111125"/>
          </a:xfrm>
          <a:custGeom>
            <a:avLst/>
            <a:gdLst/>
            <a:ahLst/>
            <a:cxnLst/>
            <a:rect l="l" t="t" r="r" b="b"/>
            <a:pathLst>
              <a:path w="138906" h="111125" fill="norm" stroke="1" extrusionOk="0">
                <a:moveTo>
                  <a:pt x="90267" y="45687"/>
                </a:moveTo>
                <a:cubicBezTo>
                  <a:pt x="92915" y="44971"/>
                  <a:pt x="95693" y="46230"/>
                  <a:pt x="96887" y="48682"/>
                </a:cubicBezTo>
                <a:lnTo>
                  <a:pt x="100924" y="56843"/>
                </a:lnTo>
                <a:cubicBezTo>
                  <a:pt x="103160" y="57147"/>
                  <a:pt x="105352" y="57755"/>
                  <a:pt x="107414" y="58601"/>
                </a:cubicBezTo>
                <a:lnTo>
                  <a:pt x="115010" y="53544"/>
                </a:lnTo>
                <a:cubicBezTo>
                  <a:pt x="117289" y="52025"/>
                  <a:pt x="120306" y="52329"/>
                  <a:pt x="122237" y="54260"/>
                </a:cubicBezTo>
                <a:lnTo>
                  <a:pt x="126405" y="58427"/>
                </a:lnTo>
                <a:cubicBezTo>
                  <a:pt x="128336" y="60359"/>
                  <a:pt x="128640" y="63398"/>
                  <a:pt x="127121" y="65655"/>
                </a:cubicBezTo>
                <a:lnTo>
                  <a:pt x="122064" y="73230"/>
                </a:lnTo>
                <a:cubicBezTo>
                  <a:pt x="122476" y="74250"/>
                  <a:pt x="122845" y="75313"/>
                  <a:pt x="123149" y="76420"/>
                </a:cubicBezTo>
                <a:cubicBezTo>
                  <a:pt x="123453" y="77527"/>
                  <a:pt x="123648" y="78612"/>
                  <a:pt x="123800" y="79719"/>
                </a:cubicBezTo>
                <a:lnTo>
                  <a:pt x="131983" y="83756"/>
                </a:lnTo>
                <a:cubicBezTo>
                  <a:pt x="134435" y="84972"/>
                  <a:pt x="135694" y="87750"/>
                  <a:pt x="134978" y="90376"/>
                </a:cubicBezTo>
                <a:lnTo>
                  <a:pt x="133459" y="96062"/>
                </a:lnTo>
                <a:cubicBezTo>
                  <a:pt x="132742" y="98689"/>
                  <a:pt x="130290" y="100468"/>
                  <a:pt x="127555" y="100295"/>
                </a:cubicBezTo>
                <a:lnTo>
                  <a:pt x="118439" y="99709"/>
                </a:lnTo>
                <a:cubicBezTo>
                  <a:pt x="117072" y="101467"/>
                  <a:pt x="115488" y="103094"/>
                  <a:pt x="113686" y="104484"/>
                </a:cubicBezTo>
                <a:lnTo>
                  <a:pt x="114272" y="113578"/>
                </a:lnTo>
                <a:cubicBezTo>
                  <a:pt x="114446" y="116312"/>
                  <a:pt x="112666" y="118787"/>
                  <a:pt x="110040" y="119481"/>
                </a:cubicBezTo>
                <a:lnTo>
                  <a:pt x="104353" y="121000"/>
                </a:lnTo>
                <a:cubicBezTo>
                  <a:pt x="101705" y="121717"/>
                  <a:pt x="98949" y="120458"/>
                  <a:pt x="97734" y="118005"/>
                </a:cubicBezTo>
                <a:lnTo>
                  <a:pt x="93697" y="109844"/>
                </a:lnTo>
                <a:cubicBezTo>
                  <a:pt x="91461" y="109541"/>
                  <a:pt x="89269" y="108933"/>
                  <a:pt x="87207" y="108086"/>
                </a:cubicBezTo>
                <a:lnTo>
                  <a:pt x="79611" y="113143"/>
                </a:lnTo>
                <a:cubicBezTo>
                  <a:pt x="77332" y="114663"/>
                  <a:pt x="74315" y="114359"/>
                  <a:pt x="72383" y="112427"/>
                </a:cubicBezTo>
                <a:lnTo>
                  <a:pt x="68216" y="108260"/>
                </a:lnTo>
                <a:cubicBezTo>
                  <a:pt x="66284" y="106328"/>
                  <a:pt x="65980" y="103312"/>
                  <a:pt x="67500" y="101033"/>
                </a:cubicBezTo>
                <a:lnTo>
                  <a:pt x="72557" y="93436"/>
                </a:lnTo>
                <a:cubicBezTo>
                  <a:pt x="72144" y="92416"/>
                  <a:pt x="71775" y="91353"/>
                  <a:pt x="71472" y="90246"/>
                </a:cubicBezTo>
                <a:cubicBezTo>
                  <a:pt x="71168" y="89139"/>
                  <a:pt x="70972" y="88032"/>
                  <a:pt x="70820" y="86947"/>
                </a:cubicBezTo>
                <a:lnTo>
                  <a:pt x="62638" y="82910"/>
                </a:lnTo>
                <a:cubicBezTo>
                  <a:pt x="60185" y="81694"/>
                  <a:pt x="58948" y="78916"/>
                  <a:pt x="59643" y="76290"/>
                </a:cubicBezTo>
                <a:lnTo>
                  <a:pt x="61162" y="70603"/>
                </a:lnTo>
                <a:cubicBezTo>
                  <a:pt x="61878" y="67977"/>
                  <a:pt x="64331" y="66198"/>
                  <a:pt x="67066" y="66371"/>
                </a:cubicBezTo>
                <a:lnTo>
                  <a:pt x="76160" y="66957"/>
                </a:lnTo>
                <a:cubicBezTo>
                  <a:pt x="77527" y="65199"/>
                  <a:pt x="79111" y="63571"/>
                  <a:pt x="80913" y="62182"/>
                </a:cubicBezTo>
                <a:lnTo>
                  <a:pt x="80327" y="53110"/>
                </a:lnTo>
                <a:cubicBezTo>
                  <a:pt x="80153" y="50375"/>
                  <a:pt x="81933" y="47901"/>
                  <a:pt x="84559" y="47206"/>
                </a:cubicBezTo>
                <a:lnTo>
                  <a:pt x="90246" y="45687"/>
                </a:lnTo>
                <a:close/>
                <a:moveTo>
                  <a:pt x="97321" y="73794"/>
                </a:moveTo>
                <a:cubicBezTo>
                  <a:pt x="92051" y="73800"/>
                  <a:pt x="87776" y="78084"/>
                  <a:pt x="87782" y="83355"/>
                </a:cubicBezTo>
                <a:cubicBezTo>
                  <a:pt x="87788" y="88625"/>
                  <a:pt x="92072" y="92900"/>
                  <a:pt x="97343" y="92894"/>
                </a:cubicBezTo>
                <a:cubicBezTo>
                  <a:pt x="102614" y="92888"/>
                  <a:pt x="106888" y="88604"/>
                  <a:pt x="106882" y="83333"/>
                </a:cubicBezTo>
                <a:cubicBezTo>
                  <a:pt x="106876" y="78062"/>
                  <a:pt x="102592" y="73788"/>
                  <a:pt x="97321" y="73794"/>
                </a:cubicBezTo>
                <a:close/>
                <a:moveTo>
                  <a:pt x="48813" y="-9875"/>
                </a:moveTo>
                <a:lnTo>
                  <a:pt x="54499" y="-8356"/>
                </a:lnTo>
                <a:cubicBezTo>
                  <a:pt x="57125" y="-7640"/>
                  <a:pt x="58905" y="-5166"/>
                  <a:pt x="58731" y="-2453"/>
                </a:cubicBezTo>
                <a:lnTo>
                  <a:pt x="58145" y="6620"/>
                </a:lnTo>
                <a:cubicBezTo>
                  <a:pt x="59947" y="8009"/>
                  <a:pt x="61531" y="9615"/>
                  <a:pt x="62898" y="11395"/>
                </a:cubicBezTo>
                <a:lnTo>
                  <a:pt x="72014" y="10809"/>
                </a:lnTo>
                <a:cubicBezTo>
                  <a:pt x="74727" y="10635"/>
                  <a:pt x="77201" y="12415"/>
                  <a:pt x="77918" y="15041"/>
                </a:cubicBezTo>
                <a:lnTo>
                  <a:pt x="79437" y="20727"/>
                </a:lnTo>
                <a:cubicBezTo>
                  <a:pt x="80132" y="23354"/>
                  <a:pt x="78894" y="26132"/>
                  <a:pt x="76442" y="27347"/>
                </a:cubicBezTo>
                <a:lnTo>
                  <a:pt x="68259" y="31384"/>
                </a:lnTo>
                <a:cubicBezTo>
                  <a:pt x="68107" y="32491"/>
                  <a:pt x="67890" y="33598"/>
                  <a:pt x="67608" y="34683"/>
                </a:cubicBezTo>
                <a:cubicBezTo>
                  <a:pt x="67326" y="35768"/>
                  <a:pt x="66935" y="36854"/>
                  <a:pt x="66523" y="37874"/>
                </a:cubicBezTo>
                <a:lnTo>
                  <a:pt x="71580" y="45470"/>
                </a:lnTo>
                <a:cubicBezTo>
                  <a:pt x="73099" y="47749"/>
                  <a:pt x="72796" y="50766"/>
                  <a:pt x="70864" y="52698"/>
                </a:cubicBezTo>
                <a:lnTo>
                  <a:pt x="66697" y="56865"/>
                </a:lnTo>
                <a:cubicBezTo>
                  <a:pt x="64765" y="58796"/>
                  <a:pt x="61748" y="59100"/>
                  <a:pt x="59469" y="57581"/>
                </a:cubicBezTo>
                <a:lnTo>
                  <a:pt x="51873" y="52524"/>
                </a:lnTo>
                <a:cubicBezTo>
                  <a:pt x="49811" y="53370"/>
                  <a:pt x="47619" y="53978"/>
                  <a:pt x="45383" y="54282"/>
                </a:cubicBezTo>
                <a:lnTo>
                  <a:pt x="41346" y="62443"/>
                </a:lnTo>
                <a:cubicBezTo>
                  <a:pt x="40131" y="64895"/>
                  <a:pt x="37353" y="66132"/>
                  <a:pt x="34727" y="65438"/>
                </a:cubicBezTo>
                <a:lnTo>
                  <a:pt x="29040" y="63919"/>
                </a:lnTo>
                <a:cubicBezTo>
                  <a:pt x="26392" y="63202"/>
                  <a:pt x="24634" y="60728"/>
                  <a:pt x="24808" y="58015"/>
                </a:cubicBezTo>
                <a:lnTo>
                  <a:pt x="25394" y="48921"/>
                </a:lnTo>
                <a:cubicBezTo>
                  <a:pt x="23592" y="47532"/>
                  <a:pt x="22008" y="45926"/>
                  <a:pt x="20641" y="44146"/>
                </a:cubicBezTo>
                <a:lnTo>
                  <a:pt x="11525" y="44732"/>
                </a:lnTo>
                <a:cubicBezTo>
                  <a:pt x="8812" y="44906"/>
                  <a:pt x="6338" y="43126"/>
                  <a:pt x="5621" y="40500"/>
                </a:cubicBezTo>
                <a:lnTo>
                  <a:pt x="4102" y="34813"/>
                </a:lnTo>
                <a:cubicBezTo>
                  <a:pt x="3408" y="32187"/>
                  <a:pt x="4645" y="29409"/>
                  <a:pt x="7097" y="28194"/>
                </a:cubicBezTo>
                <a:lnTo>
                  <a:pt x="15280" y="24157"/>
                </a:lnTo>
                <a:cubicBezTo>
                  <a:pt x="15432" y="23050"/>
                  <a:pt x="15649" y="21965"/>
                  <a:pt x="15931" y="20858"/>
                </a:cubicBezTo>
                <a:cubicBezTo>
                  <a:pt x="16235" y="19751"/>
                  <a:pt x="16582" y="18687"/>
                  <a:pt x="17016" y="17667"/>
                </a:cubicBezTo>
                <a:lnTo>
                  <a:pt x="11959" y="10092"/>
                </a:lnTo>
                <a:cubicBezTo>
                  <a:pt x="10440" y="7813"/>
                  <a:pt x="10744" y="4797"/>
                  <a:pt x="12675" y="2865"/>
                </a:cubicBezTo>
                <a:lnTo>
                  <a:pt x="16842" y="-1302"/>
                </a:lnTo>
                <a:cubicBezTo>
                  <a:pt x="18774" y="-3234"/>
                  <a:pt x="21791" y="-3538"/>
                  <a:pt x="24070" y="-2018"/>
                </a:cubicBezTo>
                <a:lnTo>
                  <a:pt x="31666" y="3039"/>
                </a:lnTo>
                <a:cubicBezTo>
                  <a:pt x="33728" y="2192"/>
                  <a:pt x="35920" y="1584"/>
                  <a:pt x="38156" y="1281"/>
                </a:cubicBezTo>
                <a:lnTo>
                  <a:pt x="42193" y="-6880"/>
                </a:lnTo>
                <a:cubicBezTo>
                  <a:pt x="43408" y="-9333"/>
                  <a:pt x="46165" y="-10570"/>
                  <a:pt x="48813" y="-9875"/>
                </a:cubicBezTo>
                <a:close/>
                <a:moveTo>
                  <a:pt x="41759" y="18231"/>
                </a:moveTo>
                <a:cubicBezTo>
                  <a:pt x="36488" y="18231"/>
                  <a:pt x="32209" y="22511"/>
                  <a:pt x="32209" y="27781"/>
                </a:cubicBezTo>
                <a:cubicBezTo>
                  <a:pt x="32209" y="33052"/>
                  <a:pt x="36488" y="37331"/>
                  <a:pt x="41759" y="37331"/>
                </a:cubicBezTo>
                <a:cubicBezTo>
                  <a:pt x="47029" y="37331"/>
                  <a:pt x="51308" y="33052"/>
                  <a:pt x="51308" y="27781"/>
                </a:cubicBezTo>
                <a:cubicBezTo>
                  <a:pt x="51308" y="22511"/>
                  <a:pt x="47029" y="18231"/>
                  <a:pt x="41759" y="18231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 bwMode="auto">
          <a:xfrm>
            <a:off x="1023938" y="3500438"/>
            <a:ext cx="408781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Parallel Processing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 bwMode="auto">
          <a:xfrm flipH="0" flipV="0">
            <a:off x="1023937" y="3754437"/>
            <a:ext cx="4321400" cy="190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Data processed in parallel with adaptive analytics based on column types</a:t>
            </a:r>
            <a:endParaRPr lang="en-US" sz="1600"/>
          </a:p>
        </p:txBody>
      </p:sp>
      <p:sp>
        <p:nvSpPr>
          <p:cNvPr id="28" name="Shape 26"/>
          <p:cNvSpPr/>
          <p:nvPr/>
        </p:nvSpPr>
        <p:spPr bwMode="auto">
          <a:xfrm>
            <a:off x="515937" y="4230687"/>
            <a:ext cx="5270500" cy="698500"/>
          </a:xfrm>
          <a:custGeom>
            <a:avLst/>
            <a:gdLst/>
            <a:ahLst/>
            <a:cxnLst/>
            <a:rect l="l" t="t" r="r" b="b"/>
            <a:pathLst>
              <a:path w="5270500" h="698500" fill="norm" stroke="1" extrusionOk="0">
                <a:moveTo>
                  <a:pt x="31750" y="0"/>
                </a:moveTo>
                <a:lnTo>
                  <a:pt x="5175253" y="0"/>
                </a:lnTo>
                <a:cubicBezTo>
                  <a:pt x="5227856" y="0"/>
                  <a:pt x="5270500" y="42644"/>
                  <a:pt x="5270500" y="95247"/>
                </a:cubicBezTo>
                <a:lnTo>
                  <a:pt x="5270500" y="603253"/>
                </a:lnTo>
                <a:cubicBezTo>
                  <a:pt x="5270500" y="655856"/>
                  <a:pt x="5227856" y="698500"/>
                  <a:pt x="5175253" y="698500"/>
                </a:cubicBezTo>
                <a:lnTo>
                  <a:pt x="31750" y="698500"/>
                </a:lnTo>
                <a:cubicBezTo>
                  <a:pt x="14215" y="698500"/>
                  <a:pt x="0" y="684285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29" name="Shape 27"/>
          <p:cNvSpPr/>
          <p:nvPr/>
        </p:nvSpPr>
        <p:spPr bwMode="auto">
          <a:xfrm>
            <a:off x="531813" y="4198938"/>
            <a:ext cx="31750" cy="698500"/>
          </a:xfrm>
          <a:custGeom>
            <a:avLst/>
            <a:gdLst/>
            <a:ahLst/>
            <a:cxnLst/>
            <a:rect l="l" t="t" r="r" b="b"/>
            <a:pathLst>
              <a:path w="31750" h="698500" fill="norm" stroke="1" extrusionOk="0">
                <a:moveTo>
                  <a:pt x="31750" y="0"/>
                </a:moveTo>
                <a:lnTo>
                  <a:pt x="31750" y="0"/>
                </a:lnTo>
                <a:lnTo>
                  <a:pt x="31750" y="698500"/>
                </a:lnTo>
                <a:lnTo>
                  <a:pt x="31750" y="698500"/>
                </a:lnTo>
                <a:cubicBezTo>
                  <a:pt x="14227" y="698500"/>
                  <a:pt x="0" y="684273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0" name="Shape 28"/>
          <p:cNvSpPr/>
          <p:nvPr/>
        </p:nvSpPr>
        <p:spPr bwMode="auto">
          <a:xfrm>
            <a:off x="674688" y="435768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 fill="norm" stroke="1" extrusionOk="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/>
        </p:spPr>
      </p:sp>
      <p:sp>
        <p:nvSpPr>
          <p:cNvPr id="31" name="Shape 29"/>
          <p:cNvSpPr/>
          <p:nvPr/>
        </p:nvSpPr>
        <p:spPr bwMode="auto">
          <a:xfrm>
            <a:off x="748109" y="442912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 fill="norm" stroke="1" extrusionOk="0">
                <a:moveTo>
                  <a:pt x="50462" y="1129"/>
                </a:moveTo>
                <a:cubicBezTo>
                  <a:pt x="53696" y="-369"/>
                  <a:pt x="57429" y="-369"/>
                  <a:pt x="60663" y="1129"/>
                </a:cubicBezTo>
                <a:lnTo>
                  <a:pt x="108108" y="23050"/>
                </a:lnTo>
                <a:cubicBezTo>
                  <a:pt x="109953" y="23896"/>
                  <a:pt x="111125" y="25741"/>
                  <a:pt x="111125" y="27781"/>
                </a:cubicBezTo>
                <a:cubicBezTo>
                  <a:pt x="111125" y="29821"/>
                  <a:pt x="109953" y="31666"/>
                  <a:pt x="108108" y="32513"/>
                </a:cubicBezTo>
                <a:lnTo>
                  <a:pt x="60663" y="54434"/>
                </a:lnTo>
                <a:cubicBezTo>
                  <a:pt x="57429" y="55931"/>
                  <a:pt x="53696" y="55931"/>
                  <a:pt x="50462" y="54434"/>
                </a:cubicBezTo>
                <a:lnTo>
                  <a:pt x="3017" y="32513"/>
                </a:lnTo>
                <a:cubicBezTo>
                  <a:pt x="1172" y="31645"/>
                  <a:pt x="0" y="29800"/>
                  <a:pt x="0" y="27781"/>
                </a:cubicBezTo>
                <a:cubicBezTo>
                  <a:pt x="0" y="25763"/>
                  <a:pt x="1172" y="23896"/>
                  <a:pt x="3017" y="23050"/>
                </a:cubicBezTo>
                <a:lnTo>
                  <a:pt x="50462" y="1129"/>
                </a:lnTo>
                <a:close/>
                <a:moveTo>
                  <a:pt x="10440" y="47402"/>
                </a:moveTo>
                <a:lnTo>
                  <a:pt x="46100" y="63875"/>
                </a:lnTo>
                <a:cubicBezTo>
                  <a:pt x="52112" y="66653"/>
                  <a:pt x="59035" y="66653"/>
                  <a:pt x="65047" y="63875"/>
                </a:cubicBezTo>
                <a:lnTo>
                  <a:pt x="100707" y="47402"/>
                </a:lnTo>
                <a:lnTo>
                  <a:pt x="108108" y="50831"/>
                </a:lnTo>
                <a:cubicBezTo>
                  <a:pt x="109953" y="51677"/>
                  <a:pt x="111125" y="53522"/>
                  <a:pt x="111125" y="55563"/>
                </a:cubicBezTo>
                <a:cubicBezTo>
                  <a:pt x="111125" y="57603"/>
                  <a:pt x="109953" y="59448"/>
                  <a:pt x="108108" y="60294"/>
                </a:cubicBezTo>
                <a:lnTo>
                  <a:pt x="60663" y="82215"/>
                </a:lnTo>
                <a:cubicBezTo>
                  <a:pt x="57429" y="83713"/>
                  <a:pt x="53696" y="83713"/>
                  <a:pt x="50462" y="82215"/>
                </a:cubicBezTo>
                <a:lnTo>
                  <a:pt x="3017" y="60294"/>
                </a:lnTo>
                <a:cubicBezTo>
                  <a:pt x="1172" y="59426"/>
                  <a:pt x="0" y="57581"/>
                  <a:pt x="0" y="55563"/>
                </a:cubicBezTo>
                <a:cubicBezTo>
                  <a:pt x="0" y="53544"/>
                  <a:pt x="1172" y="51677"/>
                  <a:pt x="3017" y="50831"/>
                </a:cubicBezTo>
                <a:lnTo>
                  <a:pt x="10418" y="47402"/>
                </a:lnTo>
                <a:close/>
                <a:moveTo>
                  <a:pt x="3017" y="78612"/>
                </a:moveTo>
                <a:lnTo>
                  <a:pt x="10418" y="75183"/>
                </a:lnTo>
                <a:lnTo>
                  <a:pt x="46078" y="91656"/>
                </a:lnTo>
                <a:cubicBezTo>
                  <a:pt x="52090" y="94435"/>
                  <a:pt x="59013" y="94435"/>
                  <a:pt x="65025" y="91656"/>
                </a:cubicBezTo>
                <a:lnTo>
                  <a:pt x="100685" y="75183"/>
                </a:lnTo>
                <a:lnTo>
                  <a:pt x="108086" y="78612"/>
                </a:lnTo>
                <a:cubicBezTo>
                  <a:pt x="109931" y="79459"/>
                  <a:pt x="111103" y="81304"/>
                  <a:pt x="111103" y="83344"/>
                </a:cubicBezTo>
                <a:cubicBezTo>
                  <a:pt x="111103" y="85384"/>
                  <a:pt x="109931" y="87229"/>
                  <a:pt x="108086" y="88075"/>
                </a:cubicBezTo>
                <a:lnTo>
                  <a:pt x="60641" y="109996"/>
                </a:lnTo>
                <a:cubicBezTo>
                  <a:pt x="57407" y="111494"/>
                  <a:pt x="53674" y="111494"/>
                  <a:pt x="50440" y="109996"/>
                </a:cubicBezTo>
                <a:lnTo>
                  <a:pt x="3017" y="88075"/>
                </a:lnTo>
                <a:cubicBezTo>
                  <a:pt x="1172" y="87207"/>
                  <a:pt x="0" y="85362"/>
                  <a:pt x="0" y="83344"/>
                </a:cubicBezTo>
                <a:cubicBezTo>
                  <a:pt x="0" y="81325"/>
                  <a:pt x="1172" y="79459"/>
                  <a:pt x="3017" y="78612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2" name="Text 30"/>
          <p:cNvSpPr/>
          <p:nvPr/>
        </p:nvSpPr>
        <p:spPr bwMode="auto">
          <a:xfrm>
            <a:off x="1023938" y="4325938"/>
            <a:ext cx="3865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Layered Data Warehouse</a:t>
            </a:r>
            <a:endParaRPr lang="en-US" sz="1600"/>
          </a:p>
        </p:txBody>
      </p:sp>
      <p:sp>
        <p:nvSpPr>
          <p:cNvPr id="33" name="Text 31"/>
          <p:cNvSpPr/>
          <p:nvPr/>
        </p:nvSpPr>
        <p:spPr bwMode="auto">
          <a:xfrm flipH="0" flipV="0">
            <a:off x="1023937" y="4579938"/>
            <a:ext cx="4167187" cy="190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Results saved in structured, queryable warehouse for easy inspection</a:t>
            </a:r>
            <a:endParaRPr lang="en-US" sz="1600"/>
          </a:p>
        </p:txBody>
      </p:sp>
      <p:sp>
        <p:nvSpPr>
          <p:cNvPr id="34" name="Shape 32"/>
          <p:cNvSpPr/>
          <p:nvPr/>
        </p:nvSpPr>
        <p:spPr bwMode="auto">
          <a:xfrm>
            <a:off x="531813" y="5024438"/>
            <a:ext cx="5270500" cy="698500"/>
          </a:xfrm>
          <a:custGeom>
            <a:avLst/>
            <a:gdLst/>
            <a:ahLst/>
            <a:cxnLst/>
            <a:rect l="l" t="t" r="r" b="b"/>
            <a:pathLst>
              <a:path w="5270500" h="698500" fill="norm" stroke="1" extrusionOk="0">
                <a:moveTo>
                  <a:pt x="31750" y="0"/>
                </a:moveTo>
                <a:lnTo>
                  <a:pt x="5175253" y="0"/>
                </a:lnTo>
                <a:cubicBezTo>
                  <a:pt x="5227856" y="0"/>
                  <a:pt x="5270500" y="42644"/>
                  <a:pt x="5270500" y="95247"/>
                </a:cubicBezTo>
                <a:lnTo>
                  <a:pt x="5270500" y="603253"/>
                </a:lnTo>
                <a:cubicBezTo>
                  <a:pt x="5270500" y="655856"/>
                  <a:pt x="5227856" y="698500"/>
                  <a:pt x="5175253" y="698500"/>
                </a:cubicBezTo>
                <a:lnTo>
                  <a:pt x="31750" y="698500"/>
                </a:lnTo>
                <a:cubicBezTo>
                  <a:pt x="14215" y="698500"/>
                  <a:pt x="0" y="684285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 bwMode="auto">
          <a:xfrm>
            <a:off x="531813" y="5024438"/>
            <a:ext cx="31750" cy="698500"/>
          </a:xfrm>
          <a:custGeom>
            <a:avLst/>
            <a:gdLst/>
            <a:ahLst/>
            <a:cxnLst/>
            <a:rect l="l" t="t" r="r" b="b"/>
            <a:pathLst>
              <a:path w="31750" h="698500" fill="norm" stroke="1" extrusionOk="0">
                <a:moveTo>
                  <a:pt x="31750" y="0"/>
                </a:moveTo>
                <a:lnTo>
                  <a:pt x="31750" y="0"/>
                </a:lnTo>
                <a:lnTo>
                  <a:pt x="31750" y="698500"/>
                </a:lnTo>
                <a:lnTo>
                  <a:pt x="31750" y="698500"/>
                </a:lnTo>
                <a:cubicBezTo>
                  <a:pt x="14227" y="698500"/>
                  <a:pt x="0" y="684273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36" name="Shape 34"/>
          <p:cNvSpPr/>
          <p:nvPr/>
        </p:nvSpPr>
        <p:spPr bwMode="auto">
          <a:xfrm>
            <a:off x="674688" y="518318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 fill="norm" stroke="1" extrusionOk="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37" name="Shape 35"/>
          <p:cNvSpPr/>
          <p:nvPr/>
        </p:nvSpPr>
        <p:spPr bwMode="auto">
          <a:xfrm>
            <a:off x="748109" y="525462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 fill="norm" stroke="1" extrusionOk="0">
                <a:moveTo>
                  <a:pt x="13891" y="13891"/>
                </a:moveTo>
                <a:cubicBezTo>
                  <a:pt x="13891" y="10049"/>
                  <a:pt x="10787" y="6945"/>
                  <a:pt x="6945" y="6945"/>
                </a:cubicBezTo>
                <a:cubicBezTo>
                  <a:pt x="3104" y="6945"/>
                  <a:pt x="0" y="10049"/>
                  <a:pt x="0" y="13891"/>
                </a:cubicBezTo>
                <a:lnTo>
                  <a:pt x="0" y="86816"/>
                </a:lnTo>
                <a:cubicBezTo>
                  <a:pt x="0" y="96410"/>
                  <a:pt x="7770" y="104180"/>
                  <a:pt x="17363" y="104180"/>
                </a:cubicBezTo>
                <a:lnTo>
                  <a:pt x="104180" y="104180"/>
                </a:lnTo>
                <a:cubicBezTo>
                  <a:pt x="108021" y="104180"/>
                  <a:pt x="111125" y="101076"/>
                  <a:pt x="111125" y="97234"/>
                </a:cubicBezTo>
                <a:cubicBezTo>
                  <a:pt x="111125" y="93393"/>
                  <a:pt x="108021" y="90289"/>
                  <a:pt x="104180" y="90289"/>
                </a:cubicBezTo>
                <a:lnTo>
                  <a:pt x="17363" y="90289"/>
                </a:lnTo>
                <a:cubicBezTo>
                  <a:pt x="15453" y="90289"/>
                  <a:pt x="13891" y="88726"/>
                  <a:pt x="13891" y="86816"/>
                </a:cubicBezTo>
                <a:lnTo>
                  <a:pt x="13891" y="13891"/>
                </a:lnTo>
                <a:close/>
                <a:moveTo>
                  <a:pt x="102140" y="32686"/>
                </a:moveTo>
                <a:cubicBezTo>
                  <a:pt x="104853" y="29973"/>
                  <a:pt x="104853" y="25567"/>
                  <a:pt x="102140" y="22854"/>
                </a:cubicBezTo>
                <a:cubicBezTo>
                  <a:pt x="99426" y="20141"/>
                  <a:pt x="95021" y="20141"/>
                  <a:pt x="92308" y="22854"/>
                </a:cubicBezTo>
                <a:lnTo>
                  <a:pt x="69453" y="45731"/>
                </a:lnTo>
                <a:lnTo>
                  <a:pt x="56995" y="33294"/>
                </a:lnTo>
                <a:cubicBezTo>
                  <a:pt x="54282" y="30581"/>
                  <a:pt x="49876" y="30581"/>
                  <a:pt x="47163" y="33294"/>
                </a:cubicBezTo>
                <a:lnTo>
                  <a:pt x="26327" y="54130"/>
                </a:lnTo>
                <a:cubicBezTo>
                  <a:pt x="23614" y="56843"/>
                  <a:pt x="23614" y="61249"/>
                  <a:pt x="26327" y="63962"/>
                </a:cubicBezTo>
                <a:cubicBezTo>
                  <a:pt x="29040" y="66675"/>
                  <a:pt x="33446" y="66675"/>
                  <a:pt x="36159" y="63962"/>
                </a:cubicBezTo>
                <a:lnTo>
                  <a:pt x="52090" y="48031"/>
                </a:lnTo>
                <a:lnTo>
                  <a:pt x="64548" y="60489"/>
                </a:lnTo>
                <a:cubicBezTo>
                  <a:pt x="67261" y="63202"/>
                  <a:pt x="71667" y="63202"/>
                  <a:pt x="74380" y="60489"/>
                </a:cubicBezTo>
                <a:lnTo>
                  <a:pt x="102161" y="32708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 bwMode="auto">
          <a:xfrm>
            <a:off x="1023938" y="5151437"/>
            <a:ext cx="3889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Web Dashboard</a:t>
            </a:r>
            <a:endParaRPr lang="en-US" sz="1600"/>
          </a:p>
        </p:txBody>
      </p:sp>
      <p:sp>
        <p:nvSpPr>
          <p:cNvPr id="39" name="Text 37"/>
          <p:cNvSpPr/>
          <p:nvPr/>
        </p:nvSpPr>
        <p:spPr bwMode="auto">
          <a:xfrm flipH="0" flipV="0">
            <a:off x="1023937" y="5405437"/>
            <a:ext cx="4087811" cy="190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Dashboard shows progress, summaries, and visual charts in real time</a:t>
            </a:r>
            <a:endParaRPr lang="en-US" sz="1600"/>
          </a:p>
        </p:txBody>
      </p:sp>
      <p:sp>
        <p:nvSpPr>
          <p:cNvPr id="40" name="Shape 38"/>
          <p:cNvSpPr/>
          <p:nvPr/>
        </p:nvSpPr>
        <p:spPr bwMode="auto">
          <a:xfrm>
            <a:off x="6195219" y="988219"/>
            <a:ext cx="5675313" cy="5691188"/>
          </a:xfrm>
          <a:custGeom>
            <a:avLst/>
            <a:gdLst/>
            <a:ahLst/>
            <a:cxnLst/>
            <a:rect l="l" t="t" r="r" b="b"/>
            <a:pathLst>
              <a:path w="5675313" h="5691188" fill="norm" stroke="1" extrusionOk="0">
                <a:moveTo>
                  <a:pt x="127013" y="0"/>
                </a:moveTo>
                <a:lnTo>
                  <a:pt x="5548299" y="0"/>
                </a:lnTo>
                <a:cubicBezTo>
                  <a:pt x="5618447" y="0"/>
                  <a:pt x="5675313" y="56866"/>
                  <a:pt x="5675313" y="127013"/>
                </a:cubicBezTo>
                <a:lnTo>
                  <a:pt x="5675313" y="5564174"/>
                </a:lnTo>
                <a:cubicBezTo>
                  <a:pt x="5675313" y="5634322"/>
                  <a:pt x="5618447" y="5691188"/>
                  <a:pt x="5548299" y="5691188"/>
                </a:cubicBezTo>
                <a:lnTo>
                  <a:pt x="127013" y="5691188"/>
                </a:lnTo>
                <a:cubicBezTo>
                  <a:pt x="56866" y="5691188"/>
                  <a:pt x="0" y="5634322"/>
                  <a:pt x="0" y="5564174"/>
                </a:cubicBezTo>
                <a:lnTo>
                  <a:pt x="0" y="127013"/>
                </a:lnTo>
                <a:cubicBezTo>
                  <a:pt x="0" y="56913"/>
                  <a:pt x="56913" y="0"/>
                  <a:pt x="127013" y="0"/>
                </a:cubicBezTo>
                <a:close/>
              </a:path>
            </a:pathLst>
          </a:custGeom>
          <a:solidFill>
            <a:srgbClr val="4C1D95">
              <a:alpha val="30194"/>
            </a:srgbClr>
          </a:solidFill>
          <a:ln w="12700">
            <a:solidFill>
              <a:srgbClr val="7C3AED">
                <a:alpha val="30194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 bwMode="auto">
          <a:xfrm>
            <a:off x="6389688" y="11826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fill="norm" stroke="1" extrusionOk="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/>
        </p:spPr>
      </p:sp>
      <p:sp>
        <p:nvSpPr>
          <p:cNvPr id="42" name="Shape 40"/>
          <p:cNvSpPr/>
          <p:nvPr/>
        </p:nvSpPr>
        <p:spPr bwMode="auto">
          <a:xfrm>
            <a:off x="6490891" y="129381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 fill="norm" stroke="1" extrusionOk="0">
                <a:moveTo>
                  <a:pt x="95963" y="-5860"/>
                </a:moveTo>
                <a:cubicBezTo>
                  <a:pt x="94692" y="-8341"/>
                  <a:pt x="92118" y="-9922"/>
                  <a:pt x="89328" y="-9922"/>
                </a:cubicBezTo>
                <a:cubicBezTo>
                  <a:pt x="86537" y="-9922"/>
                  <a:pt x="83964" y="-8341"/>
                  <a:pt x="82693" y="-5860"/>
                </a:cubicBezTo>
                <a:lnTo>
                  <a:pt x="59872" y="38850"/>
                </a:lnTo>
                <a:lnTo>
                  <a:pt x="10294" y="46726"/>
                </a:lnTo>
                <a:cubicBezTo>
                  <a:pt x="7534" y="47160"/>
                  <a:pt x="5240" y="49113"/>
                  <a:pt x="4372" y="51780"/>
                </a:cubicBezTo>
                <a:cubicBezTo>
                  <a:pt x="3504" y="54446"/>
                  <a:pt x="4217" y="57361"/>
                  <a:pt x="6170" y="59345"/>
                </a:cubicBezTo>
                <a:lnTo>
                  <a:pt x="41641" y="94847"/>
                </a:lnTo>
                <a:lnTo>
                  <a:pt x="33827" y="144425"/>
                </a:lnTo>
                <a:cubicBezTo>
                  <a:pt x="33393" y="147185"/>
                  <a:pt x="34541" y="149975"/>
                  <a:pt x="36804" y="151619"/>
                </a:cubicBezTo>
                <a:cubicBezTo>
                  <a:pt x="39067" y="153262"/>
                  <a:pt x="42044" y="153510"/>
                  <a:pt x="44555" y="152239"/>
                </a:cubicBezTo>
                <a:lnTo>
                  <a:pt x="89328" y="129480"/>
                </a:lnTo>
                <a:lnTo>
                  <a:pt x="134069" y="152239"/>
                </a:lnTo>
                <a:cubicBezTo>
                  <a:pt x="136550" y="153510"/>
                  <a:pt x="139557" y="153262"/>
                  <a:pt x="141821" y="151619"/>
                </a:cubicBezTo>
                <a:cubicBezTo>
                  <a:pt x="144084" y="149975"/>
                  <a:pt x="145231" y="147216"/>
                  <a:pt x="144797" y="144425"/>
                </a:cubicBezTo>
                <a:lnTo>
                  <a:pt x="136953" y="94847"/>
                </a:lnTo>
                <a:lnTo>
                  <a:pt x="172424" y="59345"/>
                </a:lnTo>
                <a:cubicBezTo>
                  <a:pt x="174408" y="57361"/>
                  <a:pt x="175090" y="54446"/>
                  <a:pt x="174222" y="51780"/>
                </a:cubicBezTo>
                <a:cubicBezTo>
                  <a:pt x="173354" y="49113"/>
                  <a:pt x="171090" y="47160"/>
                  <a:pt x="168300" y="46726"/>
                </a:cubicBezTo>
                <a:lnTo>
                  <a:pt x="118752" y="38850"/>
                </a:lnTo>
                <a:lnTo>
                  <a:pt x="95963" y="-5860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43" name="Text 41"/>
          <p:cNvSpPr/>
          <p:nvPr/>
        </p:nvSpPr>
        <p:spPr bwMode="auto">
          <a:xfrm flipH="0" flipV="0">
            <a:off x="6865937" y="1230312"/>
            <a:ext cx="391995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Non Functional Requirements</a:t>
            </a:r>
            <a:endParaRPr lang="en-US" sz="1600"/>
          </a:p>
        </p:txBody>
      </p:sp>
      <p:sp>
        <p:nvSpPr>
          <p:cNvPr id="44" name="Shape 42"/>
          <p:cNvSpPr/>
          <p:nvPr/>
        </p:nvSpPr>
        <p:spPr bwMode="auto">
          <a:xfrm>
            <a:off x="6389688" y="1722438"/>
            <a:ext cx="5286375" cy="952500"/>
          </a:xfrm>
          <a:custGeom>
            <a:avLst/>
            <a:gdLst/>
            <a:ahLst/>
            <a:cxnLst/>
            <a:rect l="l" t="t" r="r" b="b"/>
            <a:pathLst>
              <a:path w="5286375" h="952500" fill="norm" stroke="1" extrusionOk="0">
                <a:moveTo>
                  <a:pt x="95250" y="0"/>
                </a:moveTo>
                <a:lnTo>
                  <a:pt x="5191125" y="0"/>
                </a:lnTo>
                <a:cubicBezTo>
                  <a:pt x="5243695" y="0"/>
                  <a:pt x="5286375" y="42680"/>
                  <a:pt x="5286375" y="95250"/>
                </a:cubicBezTo>
                <a:lnTo>
                  <a:pt x="5286375" y="857250"/>
                </a:lnTo>
                <a:cubicBezTo>
                  <a:pt x="5286375" y="909820"/>
                  <a:pt x="5243695" y="952500"/>
                  <a:pt x="5191125" y="952500"/>
                </a:cubicBezTo>
                <a:lnTo>
                  <a:pt x="95250" y="952500"/>
                </a:lnTo>
                <a:cubicBezTo>
                  <a:pt x="42680" y="952500"/>
                  <a:pt x="0" y="909820"/>
                  <a:pt x="0" y="857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45" name="Shape 43"/>
          <p:cNvSpPr/>
          <p:nvPr/>
        </p:nvSpPr>
        <p:spPr bwMode="auto">
          <a:xfrm>
            <a:off x="6516688" y="18494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 fill="norm" stroke="1" extrusionOk="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</p:spPr>
      </p:sp>
      <p:sp>
        <p:nvSpPr>
          <p:cNvPr id="46" name="Shape 44"/>
          <p:cNvSpPr/>
          <p:nvPr/>
        </p:nvSpPr>
        <p:spPr bwMode="auto">
          <a:xfrm>
            <a:off x="6619875" y="194468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 fill="norm" stroke="1" extrusionOk="0">
                <a:moveTo>
                  <a:pt x="41672" y="7938"/>
                </a:moveTo>
                <a:lnTo>
                  <a:pt x="5953" y="7938"/>
                </a:lnTo>
                <a:cubicBezTo>
                  <a:pt x="2654" y="7938"/>
                  <a:pt x="0" y="10592"/>
                  <a:pt x="0" y="13891"/>
                </a:cubicBezTo>
                <a:lnTo>
                  <a:pt x="0" y="49609"/>
                </a:lnTo>
                <a:cubicBezTo>
                  <a:pt x="0" y="52015"/>
                  <a:pt x="1439" y="54198"/>
                  <a:pt x="3671" y="55116"/>
                </a:cubicBezTo>
                <a:cubicBezTo>
                  <a:pt x="5904" y="56034"/>
                  <a:pt x="8458" y="55513"/>
                  <a:pt x="10170" y="53826"/>
                </a:cubicBezTo>
                <a:lnTo>
                  <a:pt x="20092" y="43904"/>
                </a:lnTo>
                <a:lnTo>
                  <a:pt x="39688" y="63500"/>
                </a:lnTo>
                <a:lnTo>
                  <a:pt x="20092" y="83096"/>
                </a:lnTo>
                <a:lnTo>
                  <a:pt x="10170" y="73174"/>
                </a:lnTo>
                <a:cubicBezTo>
                  <a:pt x="8458" y="71462"/>
                  <a:pt x="5904" y="70966"/>
                  <a:pt x="3671" y="71884"/>
                </a:cubicBezTo>
                <a:cubicBezTo>
                  <a:pt x="1439" y="72802"/>
                  <a:pt x="0" y="74985"/>
                  <a:pt x="0" y="77391"/>
                </a:cubicBezTo>
                <a:lnTo>
                  <a:pt x="0" y="113109"/>
                </a:lnTo>
                <a:cubicBezTo>
                  <a:pt x="0" y="116408"/>
                  <a:pt x="2654" y="119063"/>
                  <a:pt x="5953" y="119063"/>
                </a:cubicBezTo>
                <a:lnTo>
                  <a:pt x="41672" y="119063"/>
                </a:lnTo>
                <a:cubicBezTo>
                  <a:pt x="44078" y="119063"/>
                  <a:pt x="46261" y="117624"/>
                  <a:pt x="47179" y="115391"/>
                </a:cubicBezTo>
                <a:cubicBezTo>
                  <a:pt x="48096" y="113159"/>
                  <a:pt x="47600" y="110604"/>
                  <a:pt x="45889" y="108893"/>
                </a:cubicBezTo>
                <a:lnTo>
                  <a:pt x="35967" y="98971"/>
                </a:lnTo>
                <a:lnTo>
                  <a:pt x="55563" y="79375"/>
                </a:lnTo>
                <a:lnTo>
                  <a:pt x="75158" y="98971"/>
                </a:lnTo>
                <a:lnTo>
                  <a:pt x="65236" y="108893"/>
                </a:lnTo>
                <a:cubicBezTo>
                  <a:pt x="63525" y="110604"/>
                  <a:pt x="63029" y="113159"/>
                  <a:pt x="63946" y="115391"/>
                </a:cubicBezTo>
                <a:cubicBezTo>
                  <a:pt x="64864" y="117624"/>
                  <a:pt x="67047" y="119063"/>
                  <a:pt x="69453" y="119063"/>
                </a:cubicBezTo>
                <a:lnTo>
                  <a:pt x="105172" y="119063"/>
                </a:lnTo>
                <a:cubicBezTo>
                  <a:pt x="108471" y="119063"/>
                  <a:pt x="111125" y="116408"/>
                  <a:pt x="111125" y="113109"/>
                </a:cubicBezTo>
                <a:lnTo>
                  <a:pt x="111125" y="77391"/>
                </a:lnTo>
                <a:cubicBezTo>
                  <a:pt x="111125" y="74985"/>
                  <a:pt x="109686" y="72802"/>
                  <a:pt x="107454" y="71884"/>
                </a:cubicBezTo>
                <a:cubicBezTo>
                  <a:pt x="105221" y="70966"/>
                  <a:pt x="102667" y="71462"/>
                  <a:pt x="100955" y="73174"/>
                </a:cubicBezTo>
                <a:lnTo>
                  <a:pt x="91033" y="83096"/>
                </a:lnTo>
                <a:lnTo>
                  <a:pt x="71438" y="63500"/>
                </a:lnTo>
                <a:lnTo>
                  <a:pt x="91033" y="43904"/>
                </a:lnTo>
                <a:lnTo>
                  <a:pt x="100955" y="53826"/>
                </a:lnTo>
                <a:cubicBezTo>
                  <a:pt x="102667" y="55538"/>
                  <a:pt x="105221" y="56034"/>
                  <a:pt x="107454" y="55116"/>
                </a:cubicBezTo>
                <a:cubicBezTo>
                  <a:pt x="109686" y="54198"/>
                  <a:pt x="111125" y="52015"/>
                  <a:pt x="111125" y="49609"/>
                </a:cubicBezTo>
                <a:lnTo>
                  <a:pt x="111125" y="13891"/>
                </a:lnTo>
                <a:cubicBezTo>
                  <a:pt x="111125" y="10592"/>
                  <a:pt x="108471" y="7938"/>
                  <a:pt x="105172" y="7938"/>
                </a:cubicBezTo>
                <a:lnTo>
                  <a:pt x="69453" y="7938"/>
                </a:lnTo>
                <a:cubicBezTo>
                  <a:pt x="67047" y="7938"/>
                  <a:pt x="64864" y="9376"/>
                  <a:pt x="63946" y="11609"/>
                </a:cubicBezTo>
                <a:cubicBezTo>
                  <a:pt x="63029" y="13841"/>
                  <a:pt x="63550" y="16396"/>
                  <a:pt x="65236" y="18107"/>
                </a:cubicBezTo>
                <a:lnTo>
                  <a:pt x="75158" y="28029"/>
                </a:lnTo>
                <a:lnTo>
                  <a:pt x="55563" y="47625"/>
                </a:lnTo>
                <a:lnTo>
                  <a:pt x="35967" y="28029"/>
                </a:lnTo>
                <a:lnTo>
                  <a:pt x="45889" y="18107"/>
                </a:lnTo>
                <a:cubicBezTo>
                  <a:pt x="47600" y="16396"/>
                  <a:pt x="48096" y="13841"/>
                  <a:pt x="47179" y="11609"/>
                </a:cubicBezTo>
                <a:cubicBezTo>
                  <a:pt x="46261" y="9376"/>
                  <a:pt x="44078" y="7938"/>
                  <a:pt x="41672" y="79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 bwMode="auto">
          <a:xfrm>
            <a:off x="6929438" y="1849438"/>
            <a:ext cx="4691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Scalability</a:t>
            </a:r>
            <a:endParaRPr lang="en-US" sz="1600"/>
          </a:p>
        </p:txBody>
      </p:sp>
      <p:sp>
        <p:nvSpPr>
          <p:cNvPr id="48" name="Text 46"/>
          <p:cNvSpPr/>
          <p:nvPr/>
        </p:nvSpPr>
        <p:spPr bwMode="auto">
          <a:xfrm>
            <a:off x="6929438" y="2103438"/>
            <a:ext cx="468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System must scale to handle larger datasets without redesign</a:t>
            </a:r>
            <a:endParaRPr lang="en-US" sz="1600"/>
          </a:p>
        </p:txBody>
      </p:sp>
      <p:sp>
        <p:nvSpPr>
          <p:cNvPr id="49" name="Shape 47"/>
          <p:cNvSpPr/>
          <p:nvPr/>
        </p:nvSpPr>
        <p:spPr bwMode="auto">
          <a:xfrm>
            <a:off x="6929438" y="2357438"/>
            <a:ext cx="928688" cy="190500"/>
          </a:xfrm>
          <a:custGeom>
            <a:avLst/>
            <a:gdLst/>
            <a:ahLst/>
            <a:cxnLst/>
            <a:rect l="l" t="t" r="r" b="b"/>
            <a:pathLst>
              <a:path w="928688" h="190500" fill="norm" stroke="1" extrusionOk="0">
                <a:moveTo>
                  <a:pt x="95250" y="0"/>
                </a:moveTo>
                <a:lnTo>
                  <a:pt x="833438" y="0"/>
                </a:lnTo>
                <a:cubicBezTo>
                  <a:pt x="886007" y="0"/>
                  <a:pt x="928688" y="42680"/>
                  <a:pt x="928688" y="95250"/>
                </a:cubicBezTo>
                <a:lnTo>
                  <a:pt x="928688" y="95250"/>
                </a:lnTo>
                <a:cubicBezTo>
                  <a:pt x="928688" y="147820"/>
                  <a:pt x="886007" y="190500"/>
                  <a:pt x="833438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7C3AED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 bwMode="auto">
          <a:xfrm flipH="0" flipV="0">
            <a:off x="6929437" y="2357437"/>
            <a:ext cx="1047749" cy="190499"/>
          </a:xfrm>
          <a:prstGeom prst="rect">
            <a:avLst/>
          </a:prstGeom>
          <a:noFill/>
          <a:ln/>
        </p:spPr>
        <p:txBody>
          <a:bodyPr wrap="square" lIns="95249" tIns="31749" rIns="95249" bIns="31749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75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Horizontal Scaling</a:t>
            </a:r>
            <a:endParaRPr lang="en-US" sz="1600"/>
          </a:p>
        </p:txBody>
      </p:sp>
      <p:sp>
        <p:nvSpPr>
          <p:cNvPr id="51" name="Shape 49"/>
          <p:cNvSpPr/>
          <p:nvPr/>
        </p:nvSpPr>
        <p:spPr bwMode="auto">
          <a:xfrm>
            <a:off x="7919889" y="2357438"/>
            <a:ext cx="714375" cy="190500"/>
          </a:xfrm>
          <a:custGeom>
            <a:avLst/>
            <a:gdLst/>
            <a:ahLst/>
            <a:cxnLst/>
            <a:rect l="l" t="t" r="r" b="b"/>
            <a:pathLst>
              <a:path w="714375" h="190500" fill="norm" stroke="1" extrusionOk="0">
                <a:moveTo>
                  <a:pt x="95250" y="0"/>
                </a:moveTo>
                <a:lnTo>
                  <a:pt x="619125" y="0"/>
                </a:lnTo>
                <a:cubicBezTo>
                  <a:pt x="671695" y="0"/>
                  <a:pt x="714375" y="42680"/>
                  <a:pt x="714375" y="95250"/>
                </a:cubicBezTo>
                <a:lnTo>
                  <a:pt x="714375" y="95250"/>
                </a:lnTo>
                <a:cubicBezTo>
                  <a:pt x="714375" y="147820"/>
                  <a:pt x="671695" y="190500"/>
                  <a:pt x="619125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/>
        </p:spPr>
      </p:sp>
      <p:sp>
        <p:nvSpPr>
          <p:cNvPr id="52" name="Text 50"/>
          <p:cNvSpPr/>
          <p:nvPr/>
        </p:nvSpPr>
        <p:spPr bwMode="auto">
          <a:xfrm flipH="0" flipV="0">
            <a:off x="7919888" y="2357437"/>
            <a:ext cx="815704" cy="190499"/>
          </a:xfrm>
          <a:prstGeom prst="rect">
            <a:avLst/>
          </a:prstGeom>
          <a:noFill/>
          <a:ln/>
        </p:spPr>
        <p:txBody>
          <a:bodyPr wrap="square" lIns="95249" tIns="31749" rIns="95249" bIns="31749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75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Cloud Ready</a:t>
            </a:r>
            <a:endParaRPr lang="en-US" sz="1600"/>
          </a:p>
        </p:txBody>
      </p:sp>
      <p:sp>
        <p:nvSpPr>
          <p:cNvPr id="53" name="Shape 51"/>
          <p:cNvSpPr/>
          <p:nvPr/>
        </p:nvSpPr>
        <p:spPr bwMode="auto">
          <a:xfrm>
            <a:off x="6389688" y="2801938"/>
            <a:ext cx="5286375" cy="952500"/>
          </a:xfrm>
          <a:custGeom>
            <a:avLst/>
            <a:gdLst/>
            <a:ahLst/>
            <a:cxnLst/>
            <a:rect l="l" t="t" r="r" b="b"/>
            <a:pathLst>
              <a:path w="5286375" h="952500" fill="norm" stroke="1" extrusionOk="0">
                <a:moveTo>
                  <a:pt x="95250" y="0"/>
                </a:moveTo>
                <a:lnTo>
                  <a:pt x="5191125" y="0"/>
                </a:lnTo>
                <a:cubicBezTo>
                  <a:pt x="5243695" y="0"/>
                  <a:pt x="5286375" y="42680"/>
                  <a:pt x="5286375" y="95250"/>
                </a:cubicBezTo>
                <a:lnTo>
                  <a:pt x="5286375" y="857250"/>
                </a:lnTo>
                <a:cubicBezTo>
                  <a:pt x="5286375" y="909820"/>
                  <a:pt x="5243695" y="952500"/>
                  <a:pt x="5191125" y="952500"/>
                </a:cubicBezTo>
                <a:lnTo>
                  <a:pt x="95250" y="952500"/>
                </a:lnTo>
                <a:cubicBezTo>
                  <a:pt x="42680" y="952500"/>
                  <a:pt x="0" y="909820"/>
                  <a:pt x="0" y="857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54" name="Shape 52"/>
          <p:cNvSpPr/>
          <p:nvPr/>
        </p:nvSpPr>
        <p:spPr bwMode="auto">
          <a:xfrm>
            <a:off x="6516688" y="29289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 fill="norm" stroke="1" extrusionOk="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</p:spPr>
      </p:sp>
      <p:sp>
        <p:nvSpPr>
          <p:cNvPr id="55" name="Shape 53"/>
          <p:cNvSpPr/>
          <p:nvPr/>
        </p:nvSpPr>
        <p:spPr bwMode="auto">
          <a:xfrm>
            <a:off x="6611938" y="302418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63500" y="26764"/>
                </a:moveTo>
                <a:lnTo>
                  <a:pt x="59779" y="21605"/>
                </a:lnTo>
                <a:cubicBezTo>
                  <a:pt x="53578" y="13022"/>
                  <a:pt x="43631" y="7938"/>
                  <a:pt x="33015" y="7938"/>
                </a:cubicBezTo>
                <a:cubicBezTo>
                  <a:pt x="14784" y="7938"/>
                  <a:pt x="0" y="22721"/>
                  <a:pt x="0" y="40953"/>
                </a:cubicBezTo>
                <a:lnTo>
                  <a:pt x="0" y="41597"/>
                </a:lnTo>
                <a:cubicBezTo>
                  <a:pt x="0" y="47451"/>
                  <a:pt x="1538" y="53504"/>
                  <a:pt x="4118" y="59531"/>
                </a:cubicBezTo>
                <a:lnTo>
                  <a:pt x="30411" y="59531"/>
                </a:lnTo>
                <a:cubicBezTo>
                  <a:pt x="31204" y="59531"/>
                  <a:pt x="31924" y="59060"/>
                  <a:pt x="32246" y="58316"/>
                </a:cubicBezTo>
                <a:lnTo>
                  <a:pt x="40134" y="39390"/>
                </a:lnTo>
                <a:cubicBezTo>
                  <a:pt x="41052" y="37207"/>
                  <a:pt x="43185" y="35768"/>
                  <a:pt x="45541" y="35719"/>
                </a:cubicBezTo>
                <a:cubicBezTo>
                  <a:pt x="47898" y="35669"/>
                  <a:pt x="50081" y="37058"/>
                  <a:pt x="51048" y="39216"/>
                </a:cubicBezTo>
                <a:lnTo>
                  <a:pt x="63773" y="67469"/>
                </a:lnTo>
                <a:lnTo>
                  <a:pt x="74042" y="46930"/>
                </a:lnTo>
                <a:cubicBezTo>
                  <a:pt x="75059" y="44921"/>
                  <a:pt x="77118" y="43631"/>
                  <a:pt x="79375" y="43631"/>
                </a:cubicBezTo>
                <a:cubicBezTo>
                  <a:pt x="81632" y="43631"/>
                  <a:pt x="83691" y="44896"/>
                  <a:pt x="84708" y="46930"/>
                </a:cubicBezTo>
                <a:lnTo>
                  <a:pt x="90463" y="58415"/>
                </a:lnTo>
                <a:cubicBezTo>
                  <a:pt x="90810" y="59085"/>
                  <a:pt x="91480" y="59506"/>
                  <a:pt x="92249" y="59506"/>
                </a:cubicBezTo>
                <a:lnTo>
                  <a:pt x="122907" y="59506"/>
                </a:lnTo>
                <a:cubicBezTo>
                  <a:pt x="125512" y="53479"/>
                  <a:pt x="127025" y="47427"/>
                  <a:pt x="127025" y="41573"/>
                </a:cubicBezTo>
                <a:lnTo>
                  <a:pt x="127025" y="40928"/>
                </a:lnTo>
                <a:cubicBezTo>
                  <a:pt x="127000" y="22721"/>
                  <a:pt x="112216" y="7938"/>
                  <a:pt x="93985" y="7938"/>
                </a:cubicBezTo>
                <a:cubicBezTo>
                  <a:pt x="83393" y="7938"/>
                  <a:pt x="73422" y="13022"/>
                  <a:pt x="67221" y="21605"/>
                </a:cubicBezTo>
                <a:lnTo>
                  <a:pt x="63500" y="26739"/>
                </a:lnTo>
                <a:close/>
                <a:moveTo>
                  <a:pt x="116483" y="71438"/>
                </a:moveTo>
                <a:lnTo>
                  <a:pt x="92224" y="71438"/>
                </a:lnTo>
                <a:cubicBezTo>
                  <a:pt x="86965" y="71438"/>
                  <a:pt x="82153" y="68461"/>
                  <a:pt x="79797" y="63748"/>
                </a:cubicBezTo>
                <a:lnTo>
                  <a:pt x="79375" y="62905"/>
                </a:lnTo>
                <a:lnTo>
                  <a:pt x="68833" y="84013"/>
                </a:lnTo>
                <a:cubicBezTo>
                  <a:pt x="67816" y="86072"/>
                  <a:pt x="65683" y="87362"/>
                  <a:pt x="63376" y="87313"/>
                </a:cubicBezTo>
                <a:cubicBezTo>
                  <a:pt x="61069" y="87263"/>
                  <a:pt x="59010" y="85899"/>
                  <a:pt x="58068" y="83815"/>
                </a:cubicBezTo>
                <a:lnTo>
                  <a:pt x="45839" y="56654"/>
                </a:lnTo>
                <a:lnTo>
                  <a:pt x="43235" y="62905"/>
                </a:lnTo>
                <a:cubicBezTo>
                  <a:pt x="41077" y="68089"/>
                  <a:pt x="36016" y="71462"/>
                  <a:pt x="30411" y="71462"/>
                </a:cubicBezTo>
                <a:lnTo>
                  <a:pt x="10517" y="71462"/>
                </a:lnTo>
                <a:cubicBezTo>
                  <a:pt x="22225" y="89768"/>
                  <a:pt x="41027" y="106611"/>
                  <a:pt x="52784" y="115590"/>
                </a:cubicBezTo>
                <a:cubicBezTo>
                  <a:pt x="55860" y="117921"/>
                  <a:pt x="59630" y="119087"/>
                  <a:pt x="63475" y="119087"/>
                </a:cubicBezTo>
                <a:cubicBezTo>
                  <a:pt x="67320" y="119087"/>
                  <a:pt x="71115" y="117946"/>
                  <a:pt x="74166" y="115590"/>
                </a:cubicBezTo>
                <a:cubicBezTo>
                  <a:pt x="85973" y="106586"/>
                  <a:pt x="104775" y="89743"/>
                  <a:pt x="116483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 bwMode="auto">
          <a:xfrm>
            <a:off x="6929438" y="2928938"/>
            <a:ext cx="4691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Fault Tolerance</a:t>
            </a:r>
            <a:endParaRPr lang="en-US" sz="1600"/>
          </a:p>
        </p:txBody>
      </p:sp>
      <p:sp>
        <p:nvSpPr>
          <p:cNvPr id="57" name="Text 55"/>
          <p:cNvSpPr/>
          <p:nvPr/>
        </p:nvSpPr>
        <p:spPr bwMode="auto">
          <a:xfrm>
            <a:off x="6929438" y="3182938"/>
            <a:ext cx="468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Must continue working even if one component fails</a:t>
            </a:r>
            <a:endParaRPr lang="en-US" sz="1600"/>
          </a:p>
        </p:txBody>
      </p:sp>
      <p:sp>
        <p:nvSpPr>
          <p:cNvPr id="58" name="Shape 56"/>
          <p:cNvSpPr/>
          <p:nvPr/>
        </p:nvSpPr>
        <p:spPr bwMode="auto">
          <a:xfrm>
            <a:off x="6929438" y="3436938"/>
            <a:ext cx="1047750" cy="190500"/>
          </a:xfrm>
          <a:custGeom>
            <a:avLst/>
            <a:gdLst/>
            <a:ahLst/>
            <a:cxnLst/>
            <a:rect l="l" t="t" r="r" b="b"/>
            <a:pathLst>
              <a:path w="1047750" h="190500" fill="norm" stroke="1" extrusionOk="0">
                <a:moveTo>
                  <a:pt x="95250" y="0"/>
                </a:moveTo>
                <a:lnTo>
                  <a:pt x="952500" y="0"/>
                </a:lnTo>
                <a:cubicBezTo>
                  <a:pt x="1005070" y="0"/>
                  <a:pt x="1047750" y="42680"/>
                  <a:pt x="1047750" y="95250"/>
                </a:cubicBezTo>
                <a:lnTo>
                  <a:pt x="1047750" y="95250"/>
                </a:lnTo>
                <a:cubicBezTo>
                  <a:pt x="1047750" y="147820"/>
                  <a:pt x="1005070" y="190500"/>
                  <a:pt x="95250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7C3AED">
              <a:alpha val="20000"/>
            </a:srgbClr>
          </a:solidFill>
          <a:ln/>
        </p:spPr>
      </p:sp>
      <p:sp>
        <p:nvSpPr>
          <p:cNvPr id="59" name="Text 57"/>
          <p:cNvSpPr/>
          <p:nvPr/>
        </p:nvSpPr>
        <p:spPr bwMode="auto">
          <a:xfrm flipH="0" flipV="0">
            <a:off x="6929437" y="3436938"/>
            <a:ext cx="1241112" cy="190499"/>
          </a:xfrm>
          <a:prstGeom prst="rect">
            <a:avLst/>
          </a:prstGeom>
          <a:noFill/>
          <a:ln/>
        </p:spPr>
        <p:txBody>
          <a:bodyPr wrap="square" lIns="95249" tIns="31749" rIns="95249" bIns="31749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75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Component Isolation</a:t>
            </a:r>
            <a:endParaRPr lang="en-US" sz="1600"/>
          </a:p>
        </p:txBody>
      </p:sp>
      <p:sp>
        <p:nvSpPr>
          <p:cNvPr id="60" name="Shape 58"/>
          <p:cNvSpPr/>
          <p:nvPr/>
        </p:nvSpPr>
        <p:spPr bwMode="auto">
          <a:xfrm>
            <a:off x="8042548" y="3436938"/>
            <a:ext cx="801688" cy="190500"/>
          </a:xfrm>
          <a:custGeom>
            <a:avLst/>
            <a:gdLst/>
            <a:ahLst/>
            <a:cxnLst/>
            <a:rect l="l" t="t" r="r" b="b"/>
            <a:pathLst>
              <a:path w="801688" h="190500" fill="norm" stroke="1" extrusionOk="0">
                <a:moveTo>
                  <a:pt x="95250" y="0"/>
                </a:moveTo>
                <a:lnTo>
                  <a:pt x="706438" y="0"/>
                </a:lnTo>
                <a:cubicBezTo>
                  <a:pt x="759007" y="0"/>
                  <a:pt x="801688" y="42680"/>
                  <a:pt x="801688" y="95250"/>
                </a:cubicBezTo>
                <a:lnTo>
                  <a:pt x="801688" y="95250"/>
                </a:lnTo>
                <a:cubicBezTo>
                  <a:pt x="801688" y="147820"/>
                  <a:pt x="759007" y="190500"/>
                  <a:pt x="706438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/>
        </p:spPr>
      </p:sp>
      <p:sp>
        <p:nvSpPr>
          <p:cNvPr id="61" name="Text 59"/>
          <p:cNvSpPr/>
          <p:nvPr/>
        </p:nvSpPr>
        <p:spPr bwMode="auto">
          <a:xfrm flipH="0" flipV="0">
            <a:off x="8042547" y="3436938"/>
            <a:ext cx="990327" cy="190499"/>
          </a:xfrm>
          <a:prstGeom prst="rect">
            <a:avLst/>
          </a:prstGeom>
          <a:noFill/>
          <a:ln/>
        </p:spPr>
        <p:txBody>
          <a:bodyPr wrap="square" lIns="95249" tIns="31749" rIns="95249" bIns="31749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75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Auto Recovery</a:t>
            </a:r>
            <a:endParaRPr lang="en-US" sz="1600"/>
          </a:p>
        </p:txBody>
      </p:sp>
      <p:sp>
        <p:nvSpPr>
          <p:cNvPr id="62" name="Shape 60"/>
          <p:cNvSpPr/>
          <p:nvPr/>
        </p:nvSpPr>
        <p:spPr bwMode="auto">
          <a:xfrm>
            <a:off x="6389688" y="3881437"/>
            <a:ext cx="5286375" cy="952500"/>
          </a:xfrm>
          <a:custGeom>
            <a:avLst/>
            <a:gdLst/>
            <a:ahLst/>
            <a:cxnLst/>
            <a:rect l="l" t="t" r="r" b="b"/>
            <a:pathLst>
              <a:path w="5286375" h="952500" fill="norm" stroke="1" extrusionOk="0">
                <a:moveTo>
                  <a:pt x="95250" y="0"/>
                </a:moveTo>
                <a:lnTo>
                  <a:pt x="5191125" y="0"/>
                </a:lnTo>
                <a:cubicBezTo>
                  <a:pt x="5243695" y="0"/>
                  <a:pt x="5286375" y="42680"/>
                  <a:pt x="5286375" y="95250"/>
                </a:cubicBezTo>
                <a:lnTo>
                  <a:pt x="5286375" y="857250"/>
                </a:lnTo>
                <a:cubicBezTo>
                  <a:pt x="5286375" y="909820"/>
                  <a:pt x="5243695" y="952500"/>
                  <a:pt x="5191125" y="952500"/>
                </a:cubicBezTo>
                <a:lnTo>
                  <a:pt x="95250" y="952500"/>
                </a:lnTo>
                <a:cubicBezTo>
                  <a:pt x="42680" y="952500"/>
                  <a:pt x="0" y="909820"/>
                  <a:pt x="0" y="857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63" name="Shape 61"/>
          <p:cNvSpPr/>
          <p:nvPr/>
        </p:nvSpPr>
        <p:spPr bwMode="auto">
          <a:xfrm>
            <a:off x="6516688" y="40084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 fill="norm" stroke="1" extrusionOk="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</p:spPr>
      </p:sp>
      <p:sp>
        <p:nvSpPr>
          <p:cNvPr id="64" name="Shape 62"/>
          <p:cNvSpPr/>
          <p:nvPr/>
        </p:nvSpPr>
        <p:spPr bwMode="auto">
          <a:xfrm>
            <a:off x="6627813" y="4103688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 fill="norm" stroke="1" extrusionOk="0">
                <a:moveTo>
                  <a:pt x="31750" y="23812"/>
                </a:moveTo>
                <a:lnTo>
                  <a:pt x="31750" y="39688"/>
                </a:lnTo>
                <a:lnTo>
                  <a:pt x="63500" y="39688"/>
                </a:lnTo>
                <a:lnTo>
                  <a:pt x="63500" y="23812"/>
                </a:lnTo>
                <a:cubicBezTo>
                  <a:pt x="63500" y="15056"/>
                  <a:pt x="56381" y="7938"/>
                  <a:pt x="47625" y="7938"/>
                </a:cubicBezTo>
                <a:cubicBezTo>
                  <a:pt x="38869" y="7938"/>
                  <a:pt x="31750" y="15056"/>
                  <a:pt x="31750" y="23812"/>
                </a:cubicBezTo>
                <a:close/>
                <a:moveTo>
                  <a:pt x="15875" y="39688"/>
                </a:moveTo>
                <a:lnTo>
                  <a:pt x="15875" y="23812"/>
                </a:lnTo>
                <a:cubicBezTo>
                  <a:pt x="15875" y="6276"/>
                  <a:pt x="30088" y="-7937"/>
                  <a:pt x="47625" y="-7937"/>
                </a:cubicBezTo>
                <a:cubicBezTo>
                  <a:pt x="65162" y="-7937"/>
                  <a:pt x="79375" y="6276"/>
                  <a:pt x="79375" y="23812"/>
                </a:cubicBezTo>
                <a:lnTo>
                  <a:pt x="79375" y="39688"/>
                </a:lnTo>
                <a:cubicBezTo>
                  <a:pt x="88131" y="39688"/>
                  <a:pt x="95250" y="46806"/>
                  <a:pt x="95250" y="55563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55563"/>
                </a:lnTo>
                <a:cubicBezTo>
                  <a:pt x="0" y="46806"/>
                  <a:pt x="7119" y="39688"/>
                  <a:pt x="15875" y="396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 bwMode="auto">
          <a:xfrm>
            <a:off x="6929438" y="4008438"/>
            <a:ext cx="4691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Security</a:t>
            </a:r>
            <a:endParaRPr lang="en-US" sz="1600"/>
          </a:p>
        </p:txBody>
      </p:sp>
      <p:sp>
        <p:nvSpPr>
          <p:cNvPr id="66" name="Text 64"/>
          <p:cNvSpPr/>
          <p:nvPr/>
        </p:nvSpPr>
        <p:spPr bwMode="auto">
          <a:xfrm>
            <a:off x="6929438" y="4262438"/>
            <a:ext cx="468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Authentication and secure file access required</a:t>
            </a:r>
            <a:endParaRPr lang="en-US" sz="1600"/>
          </a:p>
        </p:txBody>
      </p:sp>
      <p:sp>
        <p:nvSpPr>
          <p:cNvPr id="67" name="Shape 65"/>
          <p:cNvSpPr/>
          <p:nvPr/>
        </p:nvSpPr>
        <p:spPr bwMode="auto">
          <a:xfrm>
            <a:off x="6929438" y="4516438"/>
            <a:ext cx="682625" cy="190500"/>
          </a:xfrm>
          <a:custGeom>
            <a:avLst/>
            <a:gdLst/>
            <a:ahLst/>
            <a:cxnLst/>
            <a:rect l="l" t="t" r="r" b="b"/>
            <a:pathLst>
              <a:path w="682625" h="190500" fill="norm" stroke="1" extrusionOk="0">
                <a:moveTo>
                  <a:pt x="95250" y="0"/>
                </a:moveTo>
                <a:lnTo>
                  <a:pt x="587375" y="0"/>
                </a:lnTo>
                <a:cubicBezTo>
                  <a:pt x="639945" y="0"/>
                  <a:pt x="682625" y="42680"/>
                  <a:pt x="682625" y="95250"/>
                </a:cubicBezTo>
                <a:lnTo>
                  <a:pt x="682625" y="95250"/>
                </a:lnTo>
                <a:cubicBezTo>
                  <a:pt x="682625" y="147820"/>
                  <a:pt x="639945" y="190500"/>
                  <a:pt x="587375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7C3AED">
              <a:alpha val="20000"/>
            </a:srgbClr>
          </a:solidFill>
          <a:ln/>
        </p:spPr>
      </p:sp>
      <p:sp>
        <p:nvSpPr>
          <p:cNvPr id="68" name="Text 66"/>
          <p:cNvSpPr/>
          <p:nvPr/>
        </p:nvSpPr>
        <p:spPr bwMode="auto">
          <a:xfrm flipH="0" flipV="0">
            <a:off x="6929437" y="4516437"/>
            <a:ext cx="928686" cy="190499"/>
          </a:xfrm>
          <a:prstGeom prst="rect">
            <a:avLst/>
          </a:prstGeom>
          <a:noFill/>
          <a:ln/>
        </p:spPr>
        <p:txBody>
          <a:bodyPr wrap="square" lIns="95249" tIns="31749" rIns="95249" bIns="31749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75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JWT Tokens</a:t>
            </a:r>
            <a:endParaRPr lang="en-US" sz="1600"/>
          </a:p>
        </p:txBody>
      </p:sp>
      <p:sp>
        <p:nvSpPr>
          <p:cNvPr id="69" name="Shape 67"/>
          <p:cNvSpPr/>
          <p:nvPr/>
        </p:nvSpPr>
        <p:spPr bwMode="auto">
          <a:xfrm>
            <a:off x="7679035" y="4516438"/>
            <a:ext cx="809625" cy="190500"/>
          </a:xfrm>
          <a:custGeom>
            <a:avLst/>
            <a:gdLst/>
            <a:ahLst/>
            <a:cxnLst/>
            <a:rect l="l" t="t" r="r" b="b"/>
            <a:pathLst>
              <a:path w="809625" h="190500" fill="norm" stroke="1" extrusionOk="0">
                <a:moveTo>
                  <a:pt x="95250" y="0"/>
                </a:moveTo>
                <a:lnTo>
                  <a:pt x="714375" y="0"/>
                </a:lnTo>
                <a:cubicBezTo>
                  <a:pt x="766945" y="0"/>
                  <a:pt x="809625" y="42680"/>
                  <a:pt x="809625" y="95250"/>
                </a:cubicBezTo>
                <a:lnTo>
                  <a:pt x="809625" y="95250"/>
                </a:lnTo>
                <a:cubicBezTo>
                  <a:pt x="809625" y="147820"/>
                  <a:pt x="766945" y="190500"/>
                  <a:pt x="714375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/>
        </p:spPr>
      </p:sp>
      <p:sp>
        <p:nvSpPr>
          <p:cNvPr id="70" name="Text 68"/>
          <p:cNvSpPr/>
          <p:nvPr/>
        </p:nvSpPr>
        <p:spPr bwMode="auto">
          <a:xfrm flipH="0" flipV="0">
            <a:off x="7679034" y="4516437"/>
            <a:ext cx="955228" cy="190499"/>
          </a:xfrm>
          <a:prstGeom prst="rect">
            <a:avLst/>
          </a:prstGeom>
          <a:noFill/>
          <a:ln/>
        </p:spPr>
        <p:txBody>
          <a:bodyPr wrap="square" lIns="95249" tIns="31749" rIns="95249" bIns="31749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75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Access Control</a:t>
            </a:r>
            <a:endParaRPr lang="en-US" sz="1600"/>
          </a:p>
        </p:txBody>
      </p:sp>
      <p:sp>
        <p:nvSpPr>
          <p:cNvPr id="71" name="Shape 69"/>
          <p:cNvSpPr/>
          <p:nvPr/>
        </p:nvSpPr>
        <p:spPr bwMode="auto">
          <a:xfrm>
            <a:off x="6389688" y="4960938"/>
            <a:ext cx="5286375" cy="698500"/>
          </a:xfrm>
          <a:custGeom>
            <a:avLst/>
            <a:gdLst/>
            <a:ahLst/>
            <a:cxnLst/>
            <a:rect l="l" t="t" r="r" b="b"/>
            <a:pathLst>
              <a:path w="5286375" h="698500" fill="norm" stroke="1" extrusionOk="0">
                <a:moveTo>
                  <a:pt x="95247" y="0"/>
                </a:moveTo>
                <a:lnTo>
                  <a:pt x="5191128" y="0"/>
                </a:lnTo>
                <a:cubicBezTo>
                  <a:pt x="5243731" y="0"/>
                  <a:pt x="5286375" y="42644"/>
                  <a:pt x="5286375" y="95247"/>
                </a:cubicBezTo>
                <a:lnTo>
                  <a:pt x="5286375" y="603253"/>
                </a:lnTo>
                <a:cubicBezTo>
                  <a:pt x="5286375" y="655856"/>
                  <a:pt x="5243731" y="698500"/>
                  <a:pt x="5191128" y="698500"/>
                </a:cubicBezTo>
                <a:lnTo>
                  <a:pt x="95247" y="698500"/>
                </a:lnTo>
                <a:cubicBezTo>
                  <a:pt x="42644" y="698500"/>
                  <a:pt x="0" y="655856"/>
                  <a:pt x="0" y="6032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72" name="Shape 70"/>
          <p:cNvSpPr/>
          <p:nvPr/>
        </p:nvSpPr>
        <p:spPr bwMode="auto">
          <a:xfrm>
            <a:off x="6516688" y="50879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 fill="norm" stroke="1" extrusionOk="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</p:spPr>
      </p:sp>
      <p:sp>
        <p:nvSpPr>
          <p:cNvPr id="73" name="Shape 71"/>
          <p:cNvSpPr/>
          <p:nvPr/>
        </p:nvSpPr>
        <p:spPr bwMode="auto">
          <a:xfrm>
            <a:off x="6627813" y="5183188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 fill="norm" stroke="1" extrusionOk="0">
                <a:moveTo>
                  <a:pt x="3969" y="15875"/>
                </a:moveTo>
                <a:cubicBezTo>
                  <a:pt x="3969" y="7119"/>
                  <a:pt x="11088" y="0"/>
                  <a:pt x="19844" y="0"/>
                </a:cubicBezTo>
                <a:lnTo>
                  <a:pt x="75406" y="0"/>
                </a:lnTo>
                <a:cubicBezTo>
                  <a:pt x="84162" y="0"/>
                  <a:pt x="91281" y="7119"/>
                  <a:pt x="91281" y="15875"/>
                </a:cubicBezTo>
                <a:lnTo>
                  <a:pt x="91281" y="111125"/>
                </a:lnTo>
                <a:cubicBezTo>
                  <a:pt x="91281" y="119881"/>
                  <a:pt x="84162" y="127000"/>
                  <a:pt x="75406" y="127000"/>
                </a:cubicBezTo>
                <a:lnTo>
                  <a:pt x="19844" y="127000"/>
                </a:lnTo>
                <a:cubicBezTo>
                  <a:pt x="11088" y="127000"/>
                  <a:pt x="3969" y="119881"/>
                  <a:pt x="3969" y="111125"/>
                </a:cubicBezTo>
                <a:lnTo>
                  <a:pt x="3969" y="15875"/>
                </a:lnTo>
                <a:close/>
                <a:moveTo>
                  <a:pt x="19844" y="15875"/>
                </a:moveTo>
                <a:lnTo>
                  <a:pt x="19844" y="91281"/>
                </a:lnTo>
                <a:lnTo>
                  <a:pt x="75406" y="91281"/>
                </a:lnTo>
                <a:lnTo>
                  <a:pt x="75406" y="15875"/>
                </a:lnTo>
                <a:lnTo>
                  <a:pt x="19844" y="15875"/>
                </a:lnTo>
                <a:close/>
                <a:moveTo>
                  <a:pt x="47625" y="117078"/>
                </a:moveTo>
                <a:cubicBezTo>
                  <a:pt x="52015" y="117078"/>
                  <a:pt x="55563" y="113531"/>
                  <a:pt x="55563" y="109141"/>
                </a:cubicBezTo>
                <a:cubicBezTo>
                  <a:pt x="55563" y="104750"/>
                  <a:pt x="52015" y="101203"/>
                  <a:pt x="47625" y="101203"/>
                </a:cubicBezTo>
                <a:cubicBezTo>
                  <a:pt x="43235" y="101203"/>
                  <a:pt x="39688" y="104750"/>
                  <a:pt x="39688" y="109141"/>
                </a:cubicBezTo>
                <a:cubicBezTo>
                  <a:pt x="39688" y="113531"/>
                  <a:pt x="43235" y="117078"/>
                  <a:pt x="47625" y="1170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 bwMode="auto">
          <a:xfrm>
            <a:off x="6929438" y="5087938"/>
            <a:ext cx="4691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Usability</a:t>
            </a:r>
            <a:endParaRPr lang="en-US" sz="1600"/>
          </a:p>
        </p:txBody>
      </p:sp>
      <p:sp>
        <p:nvSpPr>
          <p:cNvPr id="75" name="Text 73"/>
          <p:cNvSpPr/>
          <p:nvPr/>
        </p:nvSpPr>
        <p:spPr bwMode="auto">
          <a:xfrm>
            <a:off x="6929438" y="5341938"/>
            <a:ext cx="468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Simple and responsive interface for both technical and non technical users</a:t>
            </a:r>
            <a:endParaRPr lang="en-US" sz="1600"/>
          </a:p>
        </p:txBody>
      </p:sp>
      <p:sp>
        <p:nvSpPr>
          <p:cNvPr id="76" name="Shape 74"/>
          <p:cNvSpPr/>
          <p:nvPr/>
        </p:nvSpPr>
        <p:spPr bwMode="auto">
          <a:xfrm>
            <a:off x="6389688" y="5786438"/>
            <a:ext cx="5286375" cy="698500"/>
          </a:xfrm>
          <a:custGeom>
            <a:avLst/>
            <a:gdLst/>
            <a:ahLst/>
            <a:cxnLst/>
            <a:rect l="l" t="t" r="r" b="b"/>
            <a:pathLst>
              <a:path w="5286375" h="698500" fill="norm" stroke="1" extrusionOk="0">
                <a:moveTo>
                  <a:pt x="95247" y="0"/>
                </a:moveTo>
                <a:lnTo>
                  <a:pt x="5191128" y="0"/>
                </a:lnTo>
                <a:cubicBezTo>
                  <a:pt x="5243731" y="0"/>
                  <a:pt x="5286375" y="42644"/>
                  <a:pt x="5286375" y="95247"/>
                </a:cubicBezTo>
                <a:lnTo>
                  <a:pt x="5286375" y="603253"/>
                </a:lnTo>
                <a:cubicBezTo>
                  <a:pt x="5286375" y="655856"/>
                  <a:pt x="5243731" y="698500"/>
                  <a:pt x="5191128" y="698500"/>
                </a:cubicBezTo>
                <a:lnTo>
                  <a:pt x="95247" y="698500"/>
                </a:lnTo>
                <a:cubicBezTo>
                  <a:pt x="42644" y="698500"/>
                  <a:pt x="0" y="655856"/>
                  <a:pt x="0" y="6032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77" name="Shape 75"/>
          <p:cNvSpPr/>
          <p:nvPr/>
        </p:nvSpPr>
        <p:spPr bwMode="auto">
          <a:xfrm>
            <a:off x="6516688" y="59134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 fill="norm" stroke="1" extrusionOk="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</p:spPr>
      </p:sp>
      <p:sp>
        <p:nvSpPr>
          <p:cNvPr id="78" name="Shape 76"/>
          <p:cNvSpPr/>
          <p:nvPr/>
        </p:nvSpPr>
        <p:spPr bwMode="auto">
          <a:xfrm>
            <a:off x="6611938" y="600868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31750" y="79375"/>
                </a:moveTo>
                <a:lnTo>
                  <a:pt x="6077" y="79375"/>
                </a:lnTo>
                <a:cubicBezTo>
                  <a:pt x="-99" y="79375"/>
                  <a:pt x="-3894" y="72653"/>
                  <a:pt x="-719" y="67345"/>
                </a:cubicBezTo>
                <a:lnTo>
                  <a:pt x="12402" y="45467"/>
                </a:lnTo>
                <a:cubicBezTo>
                  <a:pt x="14560" y="41870"/>
                  <a:pt x="18430" y="39688"/>
                  <a:pt x="22622" y="39688"/>
                </a:cubicBezTo>
                <a:lnTo>
                  <a:pt x="46186" y="39688"/>
                </a:lnTo>
                <a:cubicBezTo>
                  <a:pt x="65063" y="7714"/>
                  <a:pt x="93216" y="6102"/>
                  <a:pt x="112043" y="8855"/>
                </a:cubicBezTo>
                <a:cubicBezTo>
                  <a:pt x="115218" y="9327"/>
                  <a:pt x="117698" y="11807"/>
                  <a:pt x="118145" y="14957"/>
                </a:cubicBezTo>
                <a:cubicBezTo>
                  <a:pt x="120898" y="33784"/>
                  <a:pt x="119286" y="61937"/>
                  <a:pt x="87313" y="80814"/>
                </a:cubicBezTo>
                <a:lnTo>
                  <a:pt x="87313" y="104378"/>
                </a:lnTo>
                <a:cubicBezTo>
                  <a:pt x="87313" y="108570"/>
                  <a:pt x="85130" y="112440"/>
                  <a:pt x="81533" y="114598"/>
                </a:cubicBezTo>
                <a:lnTo>
                  <a:pt x="59655" y="127719"/>
                </a:lnTo>
                <a:cubicBezTo>
                  <a:pt x="54372" y="130894"/>
                  <a:pt x="47625" y="127074"/>
                  <a:pt x="47625" y="120923"/>
                </a:cubicBezTo>
                <a:lnTo>
                  <a:pt x="47625" y="95250"/>
                </a:lnTo>
                <a:cubicBezTo>
                  <a:pt x="47625" y="86494"/>
                  <a:pt x="40506" y="79375"/>
                  <a:pt x="31750" y="79375"/>
                </a:cubicBezTo>
                <a:lnTo>
                  <a:pt x="31725" y="79375"/>
                </a:lnTo>
                <a:close/>
                <a:moveTo>
                  <a:pt x="99219" y="39688"/>
                </a:moveTo>
                <a:cubicBezTo>
                  <a:pt x="99219" y="33116"/>
                  <a:pt x="93884" y="27781"/>
                  <a:pt x="87313" y="27781"/>
                </a:cubicBezTo>
                <a:cubicBezTo>
                  <a:pt x="80741" y="27781"/>
                  <a:pt x="75406" y="33116"/>
                  <a:pt x="75406" y="39688"/>
                </a:cubicBezTo>
                <a:cubicBezTo>
                  <a:pt x="75406" y="46259"/>
                  <a:pt x="80741" y="51594"/>
                  <a:pt x="87313" y="51594"/>
                </a:cubicBezTo>
                <a:cubicBezTo>
                  <a:pt x="93884" y="51594"/>
                  <a:pt x="99219" y="46259"/>
                  <a:pt x="99219" y="396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9" name="Text 77"/>
          <p:cNvSpPr/>
          <p:nvPr/>
        </p:nvSpPr>
        <p:spPr bwMode="auto">
          <a:xfrm>
            <a:off x="6929438" y="5913438"/>
            <a:ext cx="4691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Deployability</a:t>
            </a:r>
            <a:endParaRPr lang="en-US" sz="1600"/>
          </a:p>
        </p:txBody>
      </p:sp>
      <p:sp>
        <p:nvSpPr>
          <p:cNvPr id="80" name="Text 78"/>
          <p:cNvSpPr/>
          <p:nvPr/>
        </p:nvSpPr>
        <p:spPr bwMode="auto">
          <a:xfrm>
            <a:off x="6929438" y="6167438"/>
            <a:ext cx="468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All components easy to deploy locally or in the cloud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5">
    <p:bg>
      <p:bgPr shadeToTitle="0">
        <a:solidFill>
          <a:srgbClr val="1A0F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381000" y="400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 fill="norm" stroke="1" extrusionOk="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 bwMode="auto">
          <a:xfrm>
            <a:off x="533400" y="552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fill="norm" stroke="1" extrusionOk="0">
                <a:moveTo>
                  <a:pt x="85725" y="28575"/>
                </a:moveTo>
                <a:cubicBezTo>
                  <a:pt x="85725" y="20672"/>
                  <a:pt x="92110" y="14288"/>
                  <a:pt x="100013" y="14288"/>
                </a:cubicBezTo>
                <a:lnTo>
                  <a:pt x="128588" y="14288"/>
                </a:lnTo>
                <a:cubicBezTo>
                  <a:pt x="136490" y="14288"/>
                  <a:pt x="142875" y="20672"/>
                  <a:pt x="142875" y="28575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125016" y="71438"/>
                </a:lnTo>
                <a:lnTo>
                  <a:pt x="125016" y="100013"/>
                </a:lnTo>
                <a:lnTo>
                  <a:pt x="178594" y="100013"/>
                </a:lnTo>
                <a:cubicBezTo>
                  <a:pt x="196364" y="100013"/>
                  <a:pt x="210741" y="114389"/>
                  <a:pt x="210741" y="132159"/>
                </a:cubicBezTo>
                <a:lnTo>
                  <a:pt x="210741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lnTo>
                  <a:pt x="228600" y="200025"/>
                </a:lnTo>
                <a:cubicBezTo>
                  <a:pt x="228600" y="207928"/>
                  <a:pt x="222215" y="214313"/>
                  <a:pt x="214313" y="214313"/>
                </a:cubicBezTo>
                <a:lnTo>
                  <a:pt x="185738" y="214313"/>
                </a:lnTo>
                <a:cubicBezTo>
                  <a:pt x="177835" y="214313"/>
                  <a:pt x="171450" y="207928"/>
                  <a:pt x="171450" y="200025"/>
                </a:cubicBezTo>
                <a:lnTo>
                  <a:pt x="171450" y="171450"/>
                </a:lnTo>
                <a:cubicBezTo>
                  <a:pt x="171450" y="163547"/>
                  <a:pt x="177835" y="157163"/>
                  <a:pt x="185738" y="157163"/>
                </a:cubicBezTo>
                <a:lnTo>
                  <a:pt x="189309" y="157163"/>
                </a:lnTo>
                <a:lnTo>
                  <a:pt x="189309" y="132159"/>
                </a:lnTo>
                <a:cubicBezTo>
                  <a:pt x="189309" y="126221"/>
                  <a:pt x="184532" y="121444"/>
                  <a:pt x="178594" y="121444"/>
                </a:cubicBezTo>
                <a:lnTo>
                  <a:pt x="125016" y="121444"/>
                </a:lnTo>
                <a:lnTo>
                  <a:pt x="125016" y="157163"/>
                </a:lnTo>
                <a:lnTo>
                  <a:pt x="128588" y="157163"/>
                </a:lnTo>
                <a:cubicBezTo>
                  <a:pt x="136490" y="157163"/>
                  <a:pt x="142875" y="163547"/>
                  <a:pt x="142875" y="171450"/>
                </a:cubicBezTo>
                <a:lnTo>
                  <a:pt x="142875" y="200025"/>
                </a:lnTo>
                <a:cubicBezTo>
                  <a:pt x="142875" y="207928"/>
                  <a:pt x="136490" y="214313"/>
                  <a:pt x="128588" y="214313"/>
                </a:cubicBezTo>
                <a:lnTo>
                  <a:pt x="100013" y="214313"/>
                </a:lnTo>
                <a:cubicBezTo>
                  <a:pt x="92110" y="214313"/>
                  <a:pt x="85725" y="207928"/>
                  <a:pt x="85725" y="200025"/>
                </a:cubicBezTo>
                <a:lnTo>
                  <a:pt x="85725" y="171450"/>
                </a:lnTo>
                <a:cubicBezTo>
                  <a:pt x="85725" y="163547"/>
                  <a:pt x="92110" y="157163"/>
                  <a:pt x="100013" y="157163"/>
                </a:cubicBezTo>
                <a:lnTo>
                  <a:pt x="103584" y="157163"/>
                </a:lnTo>
                <a:lnTo>
                  <a:pt x="103584" y="121444"/>
                </a:lnTo>
                <a:lnTo>
                  <a:pt x="50006" y="121444"/>
                </a:lnTo>
                <a:cubicBezTo>
                  <a:pt x="44068" y="121444"/>
                  <a:pt x="39291" y="126221"/>
                  <a:pt x="39291" y="132159"/>
                </a:cubicBezTo>
                <a:lnTo>
                  <a:pt x="39291" y="157163"/>
                </a:lnTo>
                <a:lnTo>
                  <a:pt x="42863" y="157163"/>
                </a:lnTo>
                <a:cubicBezTo>
                  <a:pt x="50765" y="157163"/>
                  <a:pt x="57150" y="163547"/>
                  <a:pt x="57150" y="171450"/>
                </a:cubicBezTo>
                <a:lnTo>
                  <a:pt x="57150" y="200025"/>
                </a:lnTo>
                <a:cubicBezTo>
                  <a:pt x="57150" y="207928"/>
                  <a:pt x="50765" y="214313"/>
                  <a:pt x="42863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71450"/>
                </a:lnTo>
                <a:cubicBezTo>
                  <a:pt x="0" y="163547"/>
                  <a:pt x="6385" y="157163"/>
                  <a:pt x="14288" y="157163"/>
                </a:cubicBezTo>
                <a:lnTo>
                  <a:pt x="17859" y="157163"/>
                </a:lnTo>
                <a:lnTo>
                  <a:pt x="17859" y="132159"/>
                </a:lnTo>
                <a:cubicBezTo>
                  <a:pt x="17859" y="114389"/>
                  <a:pt x="32236" y="100013"/>
                  <a:pt x="50006" y="100013"/>
                </a:cubicBezTo>
                <a:lnTo>
                  <a:pt x="103584" y="100013"/>
                </a:lnTo>
                <a:lnTo>
                  <a:pt x="103584" y="71438"/>
                </a:lnTo>
                <a:lnTo>
                  <a:pt x="100013" y="71438"/>
                </a:lnTo>
                <a:cubicBezTo>
                  <a:pt x="92110" y="71438"/>
                  <a:pt x="85725" y="65053"/>
                  <a:pt x="85725" y="57150"/>
                </a:cubicBezTo>
                <a:lnTo>
                  <a:pt x="85725" y="2857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 bwMode="auto">
          <a:xfrm flipH="0" flipV="0">
            <a:off x="1066799" y="380999"/>
            <a:ext cx="50672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60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System Architecture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 bwMode="auto">
          <a:xfrm>
            <a:off x="1066800" y="9144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 fill="norm" stroke="1" extrusionOk="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 bwMode="auto">
          <a:xfrm>
            <a:off x="385762" y="1147763"/>
            <a:ext cx="11420475" cy="885825"/>
          </a:xfrm>
          <a:custGeom>
            <a:avLst/>
            <a:gdLst/>
            <a:ahLst/>
            <a:cxnLst/>
            <a:rect l="l" t="t" r="r" b="b"/>
            <a:pathLst>
              <a:path w="11420475" h="885825" fill="norm" stroke="1" extrusionOk="0">
                <a:moveTo>
                  <a:pt x="152397" y="0"/>
                </a:moveTo>
                <a:lnTo>
                  <a:pt x="11268078" y="0"/>
                </a:lnTo>
                <a:cubicBezTo>
                  <a:pt x="11352244" y="0"/>
                  <a:pt x="11420475" y="68231"/>
                  <a:pt x="11420475" y="152397"/>
                </a:cubicBezTo>
                <a:lnTo>
                  <a:pt x="11420475" y="733428"/>
                </a:lnTo>
                <a:cubicBezTo>
                  <a:pt x="11420475" y="817594"/>
                  <a:pt x="11352244" y="885825"/>
                  <a:pt x="11268078" y="885825"/>
                </a:cubicBezTo>
                <a:lnTo>
                  <a:pt x="152397" y="885825"/>
                </a:lnTo>
                <a:cubicBezTo>
                  <a:pt x="68231" y="885825"/>
                  <a:pt x="0" y="817594"/>
                  <a:pt x="0" y="7334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4C1D95">
              <a:alpha val="30194"/>
            </a:srgbClr>
          </a:solidFill>
          <a:ln w="12700">
            <a:solidFill>
              <a:srgbClr val="7C3AED">
                <a:alpha val="30194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 bwMode="auto">
          <a:xfrm>
            <a:off x="581025" y="1343025"/>
            <a:ext cx="11106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2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SkyPipe uses a </a:t>
            </a:r>
            <a:r>
              <a:rPr lang="en-US" sz="120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clean multi service architecture</a:t>
            </a:r>
            <a:r>
              <a:rPr lang="en-US" sz="12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. Each service is </a:t>
            </a:r>
            <a:r>
              <a:rPr lang="en-US" sz="120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independent</a:t>
            </a:r>
            <a:r>
              <a:rPr lang="en-US" sz="12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so the system remains stable and easy to scale. The user interacts with a React web application served by Nginx, which acts as a secure gateway.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 bwMode="auto">
          <a:xfrm>
            <a:off x="385762" y="2233613"/>
            <a:ext cx="11420475" cy="3381375"/>
          </a:xfrm>
          <a:custGeom>
            <a:avLst/>
            <a:gdLst/>
            <a:ahLst/>
            <a:cxnLst/>
            <a:rect l="l" t="t" r="r" b="b"/>
            <a:pathLst>
              <a:path w="11420475" h="3381375" fill="norm" stroke="1" extrusionOk="0">
                <a:moveTo>
                  <a:pt x="152399" y="0"/>
                </a:moveTo>
                <a:lnTo>
                  <a:pt x="11268076" y="0"/>
                </a:lnTo>
                <a:cubicBezTo>
                  <a:pt x="11352244" y="0"/>
                  <a:pt x="11420475" y="68231"/>
                  <a:pt x="11420475" y="152399"/>
                </a:cubicBezTo>
                <a:lnTo>
                  <a:pt x="11420475" y="3228976"/>
                </a:lnTo>
                <a:cubicBezTo>
                  <a:pt x="11420475" y="3313144"/>
                  <a:pt x="11352244" y="3381375"/>
                  <a:pt x="11268076" y="3381375"/>
                </a:cubicBezTo>
                <a:lnTo>
                  <a:pt x="152399" y="3381375"/>
                </a:lnTo>
                <a:cubicBezTo>
                  <a:pt x="68231" y="3381375"/>
                  <a:pt x="0" y="3313144"/>
                  <a:pt x="0" y="3228976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solidFill>
            <a:srgbClr val="4C1D95">
              <a:alpha val="30194"/>
            </a:srgbClr>
          </a:solidFill>
          <a:ln w="12700">
            <a:solidFill>
              <a:srgbClr val="7C3AED">
                <a:alpha val="30194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 bwMode="auto">
          <a:xfrm>
            <a:off x="619125" y="2466975"/>
            <a:ext cx="11068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Architecture Flow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 bwMode="auto">
          <a:xfrm>
            <a:off x="628650" y="3048000"/>
            <a:ext cx="2333625" cy="1466849"/>
          </a:xfrm>
          <a:custGeom>
            <a:avLst/>
            <a:gdLst/>
            <a:ahLst/>
            <a:cxnLst/>
            <a:rect l="l" t="t" r="r" b="b"/>
            <a:pathLst>
              <a:path w="2333625" h="1466850" fill="norm" stroke="1" extrusionOk="0">
                <a:moveTo>
                  <a:pt x="114297" y="0"/>
                </a:moveTo>
                <a:lnTo>
                  <a:pt x="2219328" y="0"/>
                </a:lnTo>
                <a:cubicBezTo>
                  <a:pt x="2282453" y="0"/>
                  <a:pt x="2333625" y="51172"/>
                  <a:pt x="2333625" y="114297"/>
                </a:cubicBezTo>
                <a:lnTo>
                  <a:pt x="2333625" y="1352553"/>
                </a:lnTo>
                <a:cubicBezTo>
                  <a:pt x="2333625" y="1415678"/>
                  <a:pt x="2282453" y="1466850"/>
                  <a:pt x="2219328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>
            <a:gsLst>
              <a:gs pos="0">
                <a:srgbClr val="7C3AED">
                  <a:alpha val="30000"/>
                </a:srgbClr>
              </a:gs>
              <a:gs pos="100000">
                <a:srgbClr val="7C3AED">
                  <a:alpha val="10000"/>
                </a:srgbClr>
              </a:gs>
            </a:gsLst>
            <a:lin ang="2700000" scaled="1"/>
          </a:gradFill>
          <a:ln w="254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 bwMode="auto">
          <a:xfrm>
            <a:off x="1528763" y="32099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 fill="norm" stroke="1" extrusionOk="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 bwMode="auto">
          <a:xfrm>
            <a:off x="1695450" y="3362324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 fill="norm" stroke="1" extrusionOk="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 bwMode="auto">
          <a:xfrm>
            <a:off x="747713" y="3857625"/>
            <a:ext cx="2095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3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User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 bwMode="auto">
          <a:xfrm>
            <a:off x="757238" y="4162425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05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Interacts with system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 bwMode="auto">
          <a:xfrm>
            <a:off x="3114675" y="36671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fill="norm" stroke="1" extrusionOk="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6" name="Shape 14"/>
          <p:cNvSpPr/>
          <p:nvPr/>
        </p:nvSpPr>
        <p:spPr bwMode="auto">
          <a:xfrm>
            <a:off x="3495675" y="3048000"/>
            <a:ext cx="2333625" cy="1466849"/>
          </a:xfrm>
          <a:custGeom>
            <a:avLst/>
            <a:gdLst/>
            <a:ahLst/>
            <a:cxnLst/>
            <a:rect l="l" t="t" r="r" b="b"/>
            <a:pathLst>
              <a:path w="2333625" h="1466850" fill="norm" stroke="1" extrusionOk="0">
                <a:moveTo>
                  <a:pt x="114297" y="0"/>
                </a:moveTo>
                <a:lnTo>
                  <a:pt x="2219328" y="0"/>
                </a:lnTo>
                <a:cubicBezTo>
                  <a:pt x="2282453" y="0"/>
                  <a:pt x="2333625" y="51172"/>
                  <a:pt x="2333625" y="114297"/>
                </a:cubicBezTo>
                <a:lnTo>
                  <a:pt x="2333625" y="1352553"/>
                </a:lnTo>
                <a:cubicBezTo>
                  <a:pt x="2333625" y="1415678"/>
                  <a:pt x="2282453" y="1466850"/>
                  <a:pt x="2219328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>
            <a:gsLst>
              <a:gs pos="0">
                <a:srgbClr val="EC4899">
                  <a:alpha val="30000"/>
                </a:srgbClr>
              </a:gs>
              <a:gs pos="100000">
                <a:srgbClr val="EC4899">
                  <a:alpha val="10000"/>
                </a:srgbClr>
              </a:gs>
            </a:gsLst>
            <a:lin ang="2700000" scaled="1"/>
          </a:gradFill>
          <a:ln w="25400">
            <a:solidFill>
              <a:srgbClr val="EC4899"/>
            </a:solidFill>
            <a:prstDash val="solid"/>
          </a:ln>
        </p:spPr>
      </p:sp>
      <p:sp>
        <p:nvSpPr>
          <p:cNvPr id="17" name="Shape 15"/>
          <p:cNvSpPr/>
          <p:nvPr/>
        </p:nvSpPr>
        <p:spPr bwMode="auto">
          <a:xfrm>
            <a:off x="4395788" y="32099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 fill="norm" stroke="1" extrusionOk="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18" name="Shape 16"/>
          <p:cNvSpPr/>
          <p:nvPr/>
        </p:nvSpPr>
        <p:spPr bwMode="auto">
          <a:xfrm>
            <a:off x="4548188" y="336232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fill="norm" stroke="1" extrusionOk="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 bwMode="auto">
          <a:xfrm>
            <a:off x="3614738" y="3857625"/>
            <a:ext cx="2095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3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React Frontend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 bwMode="auto">
          <a:xfrm>
            <a:off x="3624263" y="4162425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05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Web interface</a:t>
            </a:r>
            <a:endParaRPr lang="en-US" sz="1600"/>
          </a:p>
        </p:txBody>
      </p:sp>
      <p:sp>
        <p:nvSpPr>
          <p:cNvPr id="21" name="Shape 19"/>
          <p:cNvSpPr/>
          <p:nvPr/>
        </p:nvSpPr>
        <p:spPr bwMode="auto">
          <a:xfrm>
            <a:off x="5981700" y="36671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fill="norm" stroke="1" extrusionOk="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22" name="Shape 20"/>
          <p:cNvSpPr/>
          <p:nvPr/>
        </p:nvSpPr>
        <p:spPr bwMode="auto">
          <a:xfrm>
            <a:off x="6362700" y="3048000"/>
            <a:ext cx="2333625" cy="1466849"/>
          </a:xfrm>
          <a:custGeom>
            <a:avLst/>
            <a:gdLst/>
            <a:ahLst/>
            <a:cxnLst/>
            <a:rect l="l" t="t" r="r" b="b"/>
            <a:pathLst>
              <a:path w="2333625" h="1466850" fill="norm" stroke="1" extrusionOk="0">
                <a:moveTo>
                  <a:pt x="114297" y="0"/>
                </a:moveTo>
                <a:lnTo>
                  <a:pt x="2219328" y="0"/>
                </a:lnTo>
                <a:cubicBezTo>
                  <a:pt x="2282453" y="0"/>
                  <a:pt x="2333625" y="51172"/>
                  <a:pt x="2333625" y="114297"/>
                </a:cubicBezTo>
                <a:lnTo>
                  <a:pt x="2333625" y="1352553"/>
                </a:lnTo>
                <a:cubicBezTo>
                  <a:pt x="2333625" y="1415678"/>
                  <a:pt x="2282453" y="1466850"/>
                  <a:pt x="2219328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>
            <a:gsLst>
              <a:gs pos="0">
                <a:srgbClr val="7C3AED">
                  <a:alpha val="30000"/>
                </a:srgbClr>
              </a:gs>
              <a:gs pos="100000">
                <a:srgbClr val="7C3AED">
                  <a:alpha val="10000"/>
                </a:srgbClr>
              </a:gs>
            </a:gsLst>
            <a:lin ang="2700000" scaled="1"/>
          </a:gradFill>
          <a:ln w="254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 bwMode="auto">
          <a:xfrm>
            <a:off x="7262813" y="32099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 fill="norm" stroke="1" extrusionOk="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4" name="Shape 22"/>
          <p:cNvSpPr/>
          <p:nvPr/>
        </p:nvSpPr>
        <p:spPr bwMode="auto">
          <a:xfrm>
            <a:off x="7429500" y="3362324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 fill="norm" stroke="1" extrusionOk="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 bwMode="auto">
          <a:xfrm>
            <a:off x="6481763" y="3857625"/>
            <a:ext cx="2095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3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Nginx Gateway</a:t>
            </a:r>
            <a:endParaRPr lang="en-US" sz="1600"/>
          </a:p>
        </p:txBody>
      </p:sp>
      <p:sp>
        <p:nvSpPr>
          <p:cNvPr id="26" name="Text 24"/>
          <p:cNvSpPr/>
          <p:nvPr/>
        </p:nvSpPr>
        <p:spPr bwMode="auto">
          <a:xfrm>
            <a:off x="6491288" y="4162425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05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Secure routing</a:t>
            </a:r>
            <a:endParaRPr lang="en-US" sz="1600"/>
          </a:p>
        </p:txBody>
      </p:sp>
      <p:sp>
        <p:nvSpPr>
          <p:cNvPr id="27" name="Shape 25"/>
          <p:cNvSpPr/>
          <p:nvPr/>
        </p:nvSpPr>
        <p:spPr bwMode="auto">
          <a:xfrm>
            <a:off x="8848725" y="36671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fill="norm" stroke="1" extrusionOk="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8" name="Shape 26"/>
          <p:cNvSpPr/>
          <p:nvPr/>
        </p:nvSpPr>
        <p:spPr bwMode="auto">
          <a:xfrm>
            <a:off x="9229725" y="3048000"/>
            <a:ext cx="2333625" cy="1466849"/>
          </a:xfrm>
          <a:custGeom>
            <a:avLst/>
            <a:gdLst/>
            <a:ahLst/>
            <a:cxnLst/>
            <a:rect l="l" t="t" r="r" b="b"/>
            <a:pathLst>
              <a:path w="2333625" h="1466850" fill="norm" stroke="1" extrusionOk="0">
                <a:moveTo>
                  <a:pt x="114297" y="0"/>
                </a:moveTo>
                <a:lnTo>
                  <a:pt x="2219328" y="0"/>
                </a:lnTo>
                <a:cubicBezTo>
                  <a:pt x="2282453" y="0"/>
                  <a:pt x="2333625" y="51172"/>
                  <a:pt x="2333625" y="114297"/>
                </a:cubicBezTo>
                <a:lnTo>
                  <a:pt x="2333625" y="1352553"/>
                </a:lnTo>
                <a:cubicBezTo>
                  <a:pt x="2333625" y="1415678"/>
                  <a:pt x="2282453" y="1466850"/>
                  <a:pt x="2219328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>
            <a:gsLst>
              <a:gs pos="0">
                <a:srgbClr val="EC4899">
                  <a:alpha val="30000"/>
                </a:srgbClr>
              </a:gs>
              <a:gs pos="100000">
                <a:srgbClr val="EC4899">
                  <a:alpha val="10000"/>
                </a:srgbClr>
              </a:gs>
            </a:gsLst>
            <a:lin ang="2700000" scaled="1"/>
          </a:gradFill>
          <a:ln w="25400">
            <a:solidFill>
              <a:srgbClr val="EC4899"/>
            </a:solidFill>
            <a:prstDash val="solid"/>
          </a:ln>
        </p:spPr>
      </p:sp>
      <p:sp>
        <p:nvSpPr>
          <p:cNvPr id="29" name="Shape 27"/>
          <p:cNvSpPr/>
          <p:nvPr/>
        </p:nvSpPr>
        <p:spPr bwMode="auto">
          <a:xfrm>
            <a:off x="10129838" y="32099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 fill="norm" stroke="1" extrusionOk="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0" name="Shape 28"/>
          <p:cNvSpPr/>
          <p:nvPr/>
        </p:nvSpPr>
        <p:spPr bwMode="auto">
          <a:xfrm>
            <a:off x="10267950" y="3362324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 fill="norm" stroke="1" extrusionOk="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 bwMode="auto">
          <a:xfrm>
            <a:off x="9348788" y="3857625"/>
            <a:ext cx="2095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3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FastAPI</a:t>
            </a:r>
            <a:endParaRPr lang="en-US" sz="1600"/>
          </a:p>
        </p:txBody>
      </p:sp>
      <p:sp>
        <p:nvSpPr>
          <p:cNvPr id="32" name="Text 30"/>
          <p:cNvSpPr/>
          <p:nvPr/>
        </p:nvSpPr>
        <p:spPr bwMode="auto">
          <a:xfrm>
            <a:off x="9358313" y="4162425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05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Backend API</a:t>
            </a:r>
            <a:endParaRPr lang="en-US" sz="1600"/>
          </a:p>
        </p:txBody>
      </p:sp>
      <p:sp>
        <p:nvSpPr>
          <p:cNvPr id="33" name="Shape 31"/>
          <p:cNvSpPr/>
          <p:nvPr/>
        </p:nvSpPr>
        <p:spPr bwMode="auto">
          <a:xfrm>
            <a:off x="2354461" y="4719638"/>
            <a:ext cx="2590800" cy="657225"/>
          </a:xfrm>
          <a:custGeom>
            <a:avLst/>
            <a:gdLst/>
            <a:ahLst/>
            <a:cxnLst/>
            <a:rect l="l" t="t" r="r" b="b"/>
            <a:pathLst>
              <a:path w="2590800" h="657225" fill="norm" stroke="1" extrusionOk="0">
                <a:moveTo>
                  <a:pt x="114298" y="0"/>
                </a:moveTo>
                <a:lnTo>
                  <a:pt x="2476502" y="0"/>
                </a:lnTo>
                <a:cubicBezTo>
                  <a:pt x="2539585" y="0"/>
                  <a:pt x="2590800" y="51215"/>
                  <a:pt x="2590800" y="114298"/>
                </a:cubicBezTo>
                <a:lnTo>
                  <a:pt x="2590800" y="542927"/>
                </a:lnTo>
                <a:cubicBezTo>
                  <a:pt x="2590800" y="606010"/>
                  <a:pt x="2539585" y="657225"/>
                  <a:pt x="2476502" y="657225"/>
                </a:cubicBezTo>
                <a:lnTo>
                  <a:pt x="114298" y="657225"/>
                </a:lnTo>
                <a:cubicBezTo>
                  <a:pt x="51215" y="657225"/>
                  <a:pt x="0" y="606010"/>
                  <a:pt x="0" y="5429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 w="12700">
            <a:solidFill>
              <a:srgbClr val="7C3AED">
                <a:alpha val="30194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 bwMode="auto">
          <a:xfrm>
            <a:off x="2549723" y="4857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fill="norm" stroke="1" extrusionOk="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35" name="Shape 33"/>
          <p:cNvSpPr/>
          <p:nvPr/>
        </p:nvSpPr>
        <p:spPr bwMode="auto">
          <a:xfrm>
            <a:off x="2673548" y="49720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 fill="norm" stroke="1" extrusionOk="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 bwMode="auto">
          <a:xfrm>
            <a:off x="3045023" y="4838700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MinIO Storage</a:t>
            </a:r>
            <a:endParaRPr lang="en-US" sz="1600"/>
          </a:p>
        </p:txBody>
      </p:sp>
      <p:sp>
        <p:nvSpPr>
          <p:cNvPr id="37" name="Text 35"/>
          <p:cNvSpPr/>
          <p:nvPr/>
        </p:nvSpPr>
        <p:spPr bwMode="auto">
          <a:xfrm>
            <a:off x="3045023" y="5067300"/>
            <a:ext cx="177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5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S3 compatible object storage</a:t>
            </a:r>
            <a:endParaRPr lang="en-US" sz="1600"/>
          </a:p>
        </p:txBody>
      </p:sp>
      <p:sp>
        <p:nvSpPr>
          <p:cNvPr id="38" name="Shape 36"/>
          <p:cNvSpPr/>
          <p:nvPr/>
        </p:nvSpPr>
        <p:spPr bwMode="auto">
          <a:xfrm>
            <a:off x="5129659" y="4953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fill="norm" stroke="1" extrusionOk="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39" name="Shape 37"/>
          <p:cNvSpPr/>
          <p:nvPr/>
        </p:nvSpPr>
        <p:spPr bwMode="auto">
          <a:xfrm>
            <a:off x="5501134" y="4719638"/>
            <a:ext cx="1952625" cy="657225"/>
          </a:xfrm>
          <a:custGeom>
            <a:avLst/>
            <a:gdLst/>
            <a:ahLst/>
            <a:cxnLst/>
            <a:rect l="l" t="t" r="r" b="b"/>
            <a:pathLst>
              <a:path w="1952625" h="657225" fill="norm" stroke="1" extrusionOk="0">
                <a:moveTo>
                  <a:pt x="114298" y="0"/>
                </a:moveTo>
                <a:lnTo>
                  <a:pt x="1838327" y="0"/>
                </a:lnTo>
                <a:cubicBezTo>
                  <a:pt x="1901410" y="0"/>
                  <a:pt x="1952625" y="51215"/>
                  <a:pt x="1952625" y="114298"/>
                </a:cubicBezTo>
                <a:lnTo>
                  <a:pt x="1952625" y="542927"/>
                </a:lnTo>
                <a:cubicBezTo>
                  <a:pt x="1952625" y="606010"/>
                  <a:pt x="1901410" y="657225"/>
                  <a:pt x="1838327" y="657225"/>
                </a:cubicBezTo>
                <a:lnTo>
                  <a:pt x="114298" y="657225"/>
                </a:lnTo>
                <a:cubicBezTo>
                  <a:pt x="51215" y="657225"/>
                  <a:pt x="0" y="606010"/>
                  <a:pt x="0" y="5429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 w="12700">
            <a:solidFill>
              <a:srgbClr val="EC4899">
                <a:alpha val="30194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 bwMode="auto">
          <a:xfrm>
            <a:off x="5696396" y="4857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fill="norm" stroke="1" extrusionOk="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/>
        </p:spPr>
      </p:sp>
      <p:sp>
        <p:nvSpPr>
          <p:cNvPr id="41" name="Shape 39"/>
          <p:cNvSpPr/>
          <p:nvPr/>
        </p:nvSpPr>
        <p:spPr bwMode="auto">
          <a:xfrm>
            <a:off x="5820221" y="49720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 fill="norm" stroke="1" extrusionOk="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42" name="Text 40"/>
          <p:cNvSpPr/>
          <p:nvPr/>
        </p:nvSpPr>
        <p:spPr bwMode="auto">
          <a:xfrm>
            <a:off x="6191696" y="48387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Apache Spark</a:t>
            </a:r>
            <a:endParaRPr lang="en-US" sz="1600"/>
          </a:p>
        </p:txBody>
      </p:sp>
      <p:sp>
        <p:nvSpPr>
          <p:cNvPr id="43" name="Text 41"/>
          <p:cNvSpPr/>
          <p:nvPr/>
        </p:nvSpPr>
        <p:spPr bwMode="auto">
          <a:xfrm>
            <a:off x="6191696" y="5067300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5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Parallel processing</a:t>
            </a:r>
            <a:endParaRPr lang="en-US" sz="1600"/>
          </a:p>
        </p:txBody>
      </p:sp>
      <p:sp>
        <p:nvSpPr>
          <p:cNvPr id="44" name="Shape 42"/>
          <p:cNvSpPr/>
          <p:nvPr/>
        </p:nvSpPr>
        <p:spPr bwMode="auto">
          <a:xfrm>
            <a:off x="7638604" y="4953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fill="norm" stroke="1" extrusionOk="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45" name="Shape 43"/>
          <p:cNvSpPr/>
          <p:nvPr/>
        </p:nvSpPr>
        <p:spPr bwMode="auto">
          <a:xfrm>
            <a:off x="8010079" y="4719638"/>
            <a:ext cx="1828800" cy="657225"/>
          </a:xfrm>
          <a:custGeom>
            <a:avLst/>
            <a:gdLst/>
            <a:ahLst/>
            <a:cxnLst/>
            <a:rect l="l" t="t" r="r" b="b"/>
            <a:pathLst>
              <a:path w="1828800" h="657225" fill="norm" stroke="1" extrusionOk="0">
                <a:moveTo>
                  <a:pt x="114298" y="0"/>
                </a:moveTo>
                <a:lnTo>
                  <a:pt x="1714502" y="0"/>
                </a:lnTo>
                <a:cubicBezTo>
                  <a:pt x="1777585" y="0"/>
                  <a:pt x="1828800" y="51215"/>
                  <a:pt x="1828800" y="114298"/>
                </a:cubicBezTo>
                <a:lnTo>
                  <a:pt x="1828800" y="542927"/>
                </a:lnTo>
                <a:cubicBezTo>
                  <a:pt x="1828800" y="606010"/>
                  <a:pt x="1777585" y="657225"/>
                  <a:pt x="1714502" y="657225"/>
                </a:cubicBezTo>
                <a:lnTo>
                  <a:pt x="114298" y="657225"/>
                </a:lnTo>
                <a:cubicBezTo>
                  <a:pt x="51215" y="657225"/>
                  <a:pt x="0" y="606010"/>
                  <a:pt x="0" y="5429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 w="12700">
            <a:solidFill>
              <a:srgbClr val="7C3AED">
                <a:alpha val="30194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 bwMode="auto">
          <a:xfrm>
            <a:off x="8205341" y="4857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fill="norm" stroke="1" extrusionOk="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47" name="Shape 45"/>
          <p:cNvSpPr/>
          <p:nvPr/>
        </p:nvSpPr>
        <p:spPr bwMode="auto">
          <a:xfrm>
            <a:off x="8310116" y="49720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 fill="norm" stroke="1" extrusionOk="0">
                <a:moveTo>
                  <a:pt x="0" y="42297"/>
                </a:moveTo>
                <a:lnTo>
                  <a:pt x="0" y="142875"/>
                </a:lnTo>
                <a:cubicBezTo>
                  <a:pt x="0" y="148144"/>
                  <a:pt x="4256" y="152400"/>
                  <a:pt x="9525" y="152400"/>
                </a:cubicBezTo>
                <a:cubicBezTo>
                  <a:pt x="14794" y="152400"/>
                  <a:pt x="19050" y="148144"/>
                  <a:pt x="19050" y="142875"/>
                </a:cubicBezTo>
                <a:lnTo>
                  <a:pt x="19050" y="71438"/>
                </a:lnTo>
                <a:cubicBezTo>
                  <a:pt x="19050" y="66169"/>
                  <a:pt x="23306" y="61912"/>
                  <a:pt x="28575" y="61912"/>
                </a:cubicBezTo>
                <a:lnTo>
                  <a:pt x="142875" y="61912"/>
                </a:lnTo>
                <a:cubicBezTo>
                  <a:pt x="148144" y="61912"/>
                  <a:pt x="152400" y="66169"/>
                  <a:pt x="152400" y="71438"/>
                </a:cubicBezTo>
                <a:lnTo>
                  <a:pt x="152400" y="142875"/>
                </a:lnTo>
                <a:cubicBezTo>
                  <a:pt x="152400" y="148144"/>
                  <a:pt x="156656" y="152400"/>
                  <a:pt x="161925" y="152400"/>
                </a:cubicBezTo>
                <a:cubicBezTo>
                  <a:pt x="167194" y="152400"/>
                  <a:pt x="171450" y="148144"/>
                  <a:pt x="171450" y="142875"/>
                </a:cubicBezTo>
                <a:lnTo>
                  <a:pt x="171450" y="42297"/>
                </a:lnTo>
                <a:cubicBezTo>
                  <a:pt x="171450" y="34111"/>
                  <a:pt x="166211" y="26819"/>
                  <a:pt x="158413" y="24229"/>
                </a:cubicBezTo>
                <a:lnTo>
                  <a:pt x="90249" y="1518"/>
                </a:lnTo>
                <a:cubicBezTo>
                  <a:pt x="87303" y="536"/>
                  <a:pt x="84147" y="536"/>
                  <a:pt x="81201" y="1518"/>
                </a:cubicBezTo>
                <a:lnTo>
                  <a:pt x="13037" y="24229"/>
                </a:lnTo>
                <a:cubicBezTo>
                  <a:pt x="5239" y="26819"/>
                  <a:pt x="0" y="34111"/>
                  <a:pt x="0" y="42297"/>
                </a:cubicBezTo>
                <a:close/>
                <a:moveTo>
                  <a:pt x="138113" y="76200"/>
                </a:moveTo>
                <a:lnTo>
                  <a:pt x="33338" y="76200"/>
                </a:lnTo>
                <a:lnTo>
                  <a:pt x="33338" y="95250"/>
                </a:lnTo>
                <a:lnTo>
                  <a:pt x="138113" y="95250"/>
                </a:lnTo>
                <a:lnTo>
                  <a:pt x="138113" y="76200"/>
                </a:lnTo>
                <a:close/>
                <a:moveTo>
                  <a:pt x="33338" y="123825"/>
                </a:moveTo>
                <a:lnTo>
                  <a:pt x="138113" y="123825"/>
                </a:lnTo>
                <a:lnTo>
                  <a:pt x="138113" y="104775"/>
                </a:lnTo>
                <a:lnTo>
                  <a:pt x="33338" y="104775"/>
                </a:lnTo>
                <a:lnTo>
                  <a:pt x="33338" y="123825"/>
                </a:lnTo>
                <a:close/>
                <a:moveTo>
                  <a:pt x="138113" y="133350"/>
                </a:moveTo>
                <a:lnTo>
                  <a:pt x="33338" y="133350"/>
                </a:lnTo>
                <a:lnTo>
                  <a:pt x="33338" y="152400"/>
                </a:lnTo>
                <a:lnTo>
                  <a:pt x="138113" y="152400"/>
                </a:lnTo>
                <a:lnTo>
                  <a:pt x="138113" y="133350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48" name="Text 46"/>
          <p:cNvSpPr/>
          <p:nvPr/>
        </p:nvSpPr>
        <p:spPr bwMode="auto">
          <a:xfrm>
            <a:off x="8700641" y="4838700"/>
            <a:ext cx="10191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DuckDB</a:t>
            </a:r>
            <a:endParaRPr lang="en-US" sz="1600"/>
          </a:p>
        </p:txBody>
      </p:sp>
      <p:sp>
        <p:nvSpPr>
          <p:cNvPr id="49" name="Text 47"/>
          <p:cNvSpPr/>
          <p:nvPr/>
        </p:nvSpPr>
        <p:spPr bwMode="auto">
          <a:xfrm>
            <a:off x="8700641" y="5067300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5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Data warehouse</a:t>
            </a:r>
            <a:endParaRPr lang="en-US" sz="1600"/>
          </a:p>
        </p:txBody>
      </p:sp>
      <p:sp>
        <p:nvSpPr>
          <p:cNvPr id="50" name="Shape 48"/>
          <p:cNvSpPr/>
          <p:nvPr/>
        </p:nvSpPr>
        <p:spPr bwMode="auto">
          <a:xfrm>
            <a:off x="385762" y="5815013"/>
            <a:ext cx="3695700" cy="809625"/>
          </a:xfrm>
          <a:custGeom>
            <a:avLst/>
            <a:gdLst/>
            <a:ahLst/>
            <a:cxnLst/>
            <a:rect l="l" t="t" r="r" b="b"/>
            <a:pathLst>
              <a:path w="3695700" h="809625" fill="norm" stroke="1" extrusionOk="0">
                <a:moveTo>
                  <a:pt x="114303" y="0"/>
                </a:moveTo>
                <a:lnTo>
                  <a:pt x="3581397" y="0"/>
                </a:lnTo>
                <a:cubicBezTo>
                  <a:pt x="3644483" y="0"/>
                  <a:pt x="3695700" y="51217"/>
                  <a:pt x="3695700" y="114303"/>
                </a:cubicBezTo>
                <a:lnTo>
                  <a:pt x="3695700" y="695322"/>
                </a:lnTo>
                <a:cubicBezTo>
                  <a:pt x="3695700" y="758408"/>
                  <a:pt x="3644483" y="809625"/>
                  <a:pt x="3581397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7C3AED">
              <a:alpha val="2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 bwMode="auto">
          <a:xfrm>
            <a:off x="500063" y="5972175"/>
            <a:ext cx="346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35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Service Independence</a:t>
            </a:r>
            <a:endParaRPr lang="en-US" sz="1600"/>
          </a:p>
        </p:txBody>
      </p:sp>
      <p:sp>
        <p:nvSpPr>
          <p:cNvPr id="52" name="Text 50"/>
          <p:cNvSpPr/>
          <p:nvPr/>
        </p:nvSpPr>
        <p:spPr bwMode="auto">
          <a:xfrm>
            <a:off x="509587" y="6276975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05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Each component operates autonomously</a:t>
            </a:r>
            <a:endParaRPr lang="en-US" sz="1600"/>
          </a:p>
        </p:txBody>
      </p:sp>
      <p:sp>
        <p:nvSpPr>
          <p:cNvPr id="53" name="Shape 51"/>
          <p:cNvSpPr/>
          <p:nvPr/>
        </p:nvSpPr>
        <p:spPr bwMode="auto">
          <a:xfrm>
            <a:off x="4246513" y="5815013"/>
            <a:ext cx="3695700" cy="809625"/>
          </a:xfrm>
          <a:custGeom>
            <a:avLst/>
            <a:gdLst/>
            <a:ahLst/>
            <a:cxnLst/>
            <a:rect l="l" t="t" r="r" b="b"/>
            <a:pathLst>
              <a:path w="3695700" h="809625" fill="norm" stroke="1" extrusionOk="0">
                <a:moveTo>
                  <a:pt x="114303" y="0"/>
                </a:moveTo>
                <a:lnTo>
                  <a:pt x="3581397" y="0"/>
                </a:lnTo>
                <a:cubicBezTo>
                  <a:pt x="3644483" y="0"/>
                  <a:pt x="3695700" y="51217"/>
                  <a:pt x="3695700" y="114303"/>
                </a:cubicBezTo>
                <a:lnTo>
                  <a:pt x="3695700" y="695322"/>
                </a:lnTo>
                <a:cubicBezTo>
                  <a:pt x="3695700" y="758408"/>
                  <a:pt x="3644483" y="809625"/>
                  <a:pt x="3581397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EC4899">
              <a:alpha val="20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 bwMode="auto">
          <a:xfrm>
            <a:off x="4360813" y="5972175"/>
            <a:ext cx="346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35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Easy Scaling</a:t>
            </a:r>
            <a:endParaRPr lang="en-US" sz="1600"/>
          </a:p>
        </p:txBody>
      </p:sp>
      <p:sp>
        <p:nvSpPr>
          <p:cNvPr id="55" name="Text 53"/>
          <p:cNvSpPr/>
          <p:nvPr/>
        </p:nvSpPr>
        <p:spPr bwMode="auto">
          <a:xfrm>
            <a:off x="4370338" y="6276975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05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Scale components independently</a:t>
            </a:r>
            <a:endParaRPr lang="en-US" sz="1600"/>
          </a:p>
        </p:txBody>
      </p:sp>
      <p:sp>
        <p:nvSpPr>
          <p:cNvPr id="56" name="Shape 54"/>
          <p:cNvSpPr/>
          <p:nvPr/>
        </p:nvSpPr>
        <p:spPr bwMode="auto">
          <a:xfrm>
            <a:off x="8107263" y="5815013"/>
            <a:ext cx="3695700" cy="809625"/>
          </a:xfrm>
          <a:custGeom>
            <a:avLst/>
            <a:gdLst/>
            <a:ahLst/>
            <a:cxnLst/>
            <a:rect l="l" t="t" r="r" b="b"/>
            <a:pathLst>
              <a:path w="3695700" h="809625" fill="norm" stroke="1" extrusionOk="0">
                <a:moveTo>
                  <a:pt x="114303" y="0"/>
                </a:moveTo>
                <a:lnTo>
                  <a:pt x="3581397" y="0"/>
                </a:lnTo>
                <a:cubicBezTo>
                  <a:pt x="3644483" y="0"/>
                  <a:pt x="3695700" y="51217"/>
                  <a:pt x="3695700" y="114303"/>
                </a:cubicBezTo>
                <a:lnTo>
                  <a:pt x="3695700" y="695322"/>
                </a:lnTo>
                <a:cubicBezTo>
                  <a:pt x="3695700" y="758408"/>
                  <a:pt x="3644483" y="809625"/>
                  <a:pt x="3581397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7C3AED">
              <a:alpha val="2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 bwMode="auto">
          <a:xfrm>
            <a:off x="8221562" y="5972175"/>
            <a:ext cx="346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35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High Stability</a:t>
            </a:r>
            <a:endParaRPr lang="en-US" sz="1600"/>
          </a:p>
        </p:txBody>
      </p:sp>
      <p:sp>
        <p:nvSpPr>
          <p:cNvPr id="58" name="Text 56"/>
          <p:cNvSpPr/>
          <p:nvPr/>
        </p:nvSpPr>
        <p:spPr bwMode="auto">
          <a:xfrm>
            <a:off x="8231088" y="6276975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105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Failure isolation protects system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6">
    <p:bg>
      <p:bgPr shadeToTitle="0">
        <a:solidFill>
          <a:srgbClr val="1A0F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381000" y="400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 fill="norm" stroke="1" extrusionOk="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 bwMode="auto">
          <a:xfrm>
            <a:off x="533400" y="552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fill="norm" stroke="1" extrusionOk="0">
                <a:moveTo>
                  <a:pt x="0" y="42863"/>
                </a:moveTo>
                <a:cubicBezTo>
                  <a:pt x="0" y="34960"/>
                  <a:pt x="6385" y="28575"/>
                  <a:pt x="14288" y="28575"/>
                </a:cubicBezTo>
                <a:lnTo>
                  <a:pt x="185738" y="28575"/>
                </a:lnTo>
                <a:cubicBezTo>
                  <a:pt x="193640" y="28575"/>
                  <a:pt x="200025" y="34960"/>
                  <a:pt x="200025" y="42863"/>
                </a:cubicBezTo>
                <a:cubicBezTo>
                  <a:pt x="200025" y="50765"/>
                  <a:pt x="193640" y="57150"/>
                  <a:pt x="185738" y="57150"/>
                </a:cubicBezTo>
                <a:lnTo>
                  <a:pt x="14288" y="57150"/>
                </a:lnTo>
                <a:cubicBezTo>
                  <a:pt x="6385" y="57150"/>
                  <a:pt x="0" y="50765"/>
                  <a:pt x="0" y="42863"/>
                </a:cubicBezTo>
                <a:close/>
                <a:moveTo>
                  <a:pt x="28575" y="114300"/>
                </a:moveTo>
                <a:cubicBezTo>
                  <a:pt x="28575" y="106397"/>
                  <a:pt x="34960" y="100013"/>
                  <a:pt x="42863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42863" y="128588"/>
                </a:lnTo>
                <a:cubicBezTo>
                  <a:pt x="34960" y="128588"/>
                  <a:pt x="28575" y="122203"/>
                  <a:pt x="28575" y="114300"/>
                </a:cubicBezTo>
                <a:close/>
                <a:moveTo>
                  <a:pt x="200025" y="185738"/>
                </a:moveTo>
                <a:cubicBezTo>
                  <a:pt x="200025" y="193640"/>
                  <a:pt x="193640" y="200025"/>
                  <a:pt x="185738" y="200025"/>
                </a:cubicBezTo>
                <a:lnTo>
                  <a:pt x="14288" y="200025"/>
                </a:lnTo>
                <a:cubicBezTo>
                  <a:pt x="6385" y="200025"/>
                  <a:pt x="0" y="193640"/>
                  <a:pt x="0" y="185738"/>
                </a:cubicBezTo>
                <a:cubicBezTo>
                  <a:pt x="0" y="177835"/>
                  <a:pt x="6385" y="171450"/>
                  <a:pt x="14288" y="171450"/>
                </a:cubicBezTo>
                <a:lnTo>
                  <a:pt x="185738" y="171450"/>
                </a:lnTo>
                <a:cubicBezTo>
                  <a:pt x="193640" y="171450"/>
                  <a:pt x="200025" y="177835"/>
                  <a:pt x="200025" y="1857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 bwMode="auto">
          <a:xfrm flipH="0" flipV="0">
            <a:off x="1066799" y="380999"/>
            <a:ext cx="67970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60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The Three Stage Pipeline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 bwMode="auto">
          <a:xfrm>
            <a:off x="1066800" y="9144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 fill="norm" stroke="1" extrusionOk="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 bwMode="auto">
          <a:xfrm>
            <a:off x="390525" y="1152525"/>
            <a:ext cx="3667125" cy="5314950"/>
          </a:xfrm>
          <a:custGeom>
            <a:avLst/>
            <a:gdLst/>
            <a:ahLst/>
            <a:cxnLst/>
            <a:rect l="l" t="t" r="r" b="b"/>
            <a:pathLst>
              <a:path w="3667125" h="5314950" fill="norm" stroke="1" extrusionOk="0">
                <a:moveTo>
                  <a:pt x="152406" y="0"/>
                </a:moveTo>
                <a:lnTo>
                  <a:pt x="3514719" y="0"/>
                </a:lnTo>
                <a:cubicBezTo>
                  <a:pt x="3598834" y="0"/>
                  <a:pt x="3667125" y="68291"/>
                  <a:pt x="3667125" y="152406"/>
                </a:cubicBezTo>
                <a:lnTo>
                  <a:pt x="3667125" y="5162544"/>
                </a:lnTo>
                <a:cubicBezTo>
                  <a:pt x="3667125" y="5246659"/>
                  <a:pt x="3598834" y="5314950"/>
                  <a:pt x="3514719" y="5314950"/>
                </a:cubicBezTo>
                <a:lnTo>
                  <a:pt x="152406" y="5314950"/>
                </a:lnTo>
                <a:cubicBezTo>
                  <a:pt x="68291" y="5314950"/>
                  <a:pt x="0" y="5246659"/>
                  <a:pt x="0" y="516254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>
            <a:gsLst>
              <a:gs pos="0">
                <a:srgbClr val="7C3AED">
                  <a:alpha val="30000"/>
                </a:srgbClr>
              </a:gs>
              <a:gs pos="100000">
                <a:srgbClr val="7C3AED">
                  <a:alpha val="10000"/>
                </a:srgbClr>
              </a:gs>
            </a:gsLst>
            <a:lin ang="2700000" scaled="1"/>
          </a:gradFill>
          <a:ln w="254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 bwMode="auto">
          <a:xfrm>
            <a:off x="628650" y="13906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 fill="norm" stroke="1" extrusionOk="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7C3AED">
                  <a:alpha val="70000"/>
                </a:srgbClr>
              </a:gs>
            </a:gsLst>
            <a:lin ang="2700000" scaled="1"/>
          </a:gradFill>
          <a:ln/>
          <a:effectLst>
            <a:outerShdw blurRad="101600" dist="50800" dir="2700000" sx="100000" sy="100000" kx="0" ky="0" algn="bl" rotWithShape="0">
              <a:srgbClr val="FFFFFF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 bwMode="auto">
          <a:xfrm>
            <a:off x="775097" y="155257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 fill="norm" stroke="1" extrusionOk="0">
                <a:moveTo>
                  <a:pt x="80367" y="267891"/>
                </a:moveTo>
                <a:cubicBezTo>
                  <a:pt x="35998" y="267891"/>
                  <a:pt x="0" y="231893"/>
                  <a:pt x="0" y="187523"/>
                </a:cubicBezTo>
                <a:cubicBezTo>
                  <a:pt x="0" y="152140"/>
                  <a:pt x="22882" y="122113"/>
                  <a:pt x="54639" y="111342"/>
                </a:cubicBezTo>
                <a:cubicBezTo>
                  <a:pt x="53913" y="107045"/>
                  <a:pt x="53578" y="102691"/>
                  <a:pt x="53578" y="98227"/>
                </a:cubicBezTo>
                <a:cubicBezTo>
                  <a:pt x="53578" y="53857"/>
                  <a:pt x="89576" y="17859"/>
                  <a:pt x="133945" y="17859"/>
                </a:cubicBezTo>
                <a:cubicBezTo>
                  <a:pt x="164864" y="17859"/>
                  <a:pt x="191709" y="35328"/>
                  <a:pt x="205160" y="60889"/>
                </a:cubicBezTo>
                <a:cubicBezTo>
                  <a:pt x="213085" y="56257"/>
                  <a:pt x="222349" y="53578"/>
                  <a:pt x="232172" y="53578"/>
                </a:cubicBezTo>
                <a:cubicBezTo>
                  <a:pt x="261751" y="53578"/>
                  <a:pt x="285750" y="77577"/>
                  <a:pt x="285750" y="107156"/>
                </a:cubicBezTo>
                <a:cubicBezTo>
                  <a:pt x="285750" y="115919"/>
                  <a:pt x="283629" y="124234"/>
                  <a:pt x="279890" y="131545"/>
                </a:cubicBezTo>
                <a:cubicBezTo>
                  <a:pt x="304447" y="142875"/>
                  <a:pt x="321469" y="167655"/>
                  <a:pt x="321469" y="196453"/>
                </a:cubicBezTo>
                <a:cubicBezTo>
                  <a:pt x="321469" y="235911"/>
                  <a:pt x="289489" y="267891"/>
                  <a:pt x="250031" y="267891"/>
                </a:cubicBezTo>
                <a:lnTo>
                  <a:pt x="80367" y="267891"/>
                </a:lnTo>
                <a:close/>
                <a:moveTo>
                  <a:pt x="170222" y="106598"/>
                </a:moveTo>
                <a:cubicBezTo>
                  <a:pt x="164976" y="101352"/>
                  <a:pt x="156493" y="101352"/>
                  <a:pt x="151302" y="106598"/>
                </a:cubicBezTo>
                <a:lnTo>
                  <a:pt x="111119" y="146782"/>
                </a:lnTo>
                <a:cubicBezTo>
                  <a:pt x="105873" y="152028"/>
                  <a:pt x="105873" y="160511"/>
                  <a:pt x="111119" y="165702"/>
                </a:cubicBezTo>
                <a:cubicBezTo>
                  <a:pt x="116365" y="170892"/>
                  <a:pt x="124848" y="170948"/>
                  <a:pt x="130039" y="165702"/>
                </a:cubicBezTo>
                <a:lnTo>
                  <a:pt x="147340" y="148400"/>
                </a:lnTo>
                <a:lnTo>
                  <a:pt x="147340" y="205383"/>
                </a:lnTo>
                <a:cubicBezTo>
                  <a:pt x="147340" y="212806"/>
                  <a:pt x="153312" y="218777"/>
                  <a:pt x="160734" y="218777"/>
                </a:cubicBezTo>
                <a:cubicBezTo>
                  <a:pt x="168157" y="218777"/>
                  <a:pt x="174129" y="212806"/>
                  <a:pt x="174129" y="205383"/>
                </a:cubicBezTo>
                <a:lnTo>
                  <a:pt x="174129" y="148400"/>
                </a:lnTo>
                <a:lnTo>
                  <a:pt x="191430" y="165702"/>
                </a:lnTo>
                <a:cubicBezTo>
                  <a:pt x="196676" y="170948"/>
                  <a:pt x="205160" y="170948"/>
                  <a:pt x="210350" y="165702"/>
                </a:cubicBezTo>
                <a:cubicBezTo>
                  <a:pt x="215540" y="160455"/>
                  <a:pt x="215596" y="151972"/>
                  <a:pt x="210350" y="146782"/>
                </a:cubicBezTo>
                <a:lnTo>
                  <a:pt x="170166" y="10659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 bwMode="auto">
          <a:xfrm>
            <a:off x="1390650" y="1419225"/>
            <a:ext cx="628650" cy="228600"/>
          </a:xfrm>
          <a:custGeom>
            <a:avLst/>
            <a:gdLst/>
            <a:ahLst/>
            <a:cxnLst/>
            <a:rect l="l" t="t" r="r" b="b"/>
            <a:pathLst>
              <a:path w="628650" h="228600" fill="norm" stroke="1" extrusionOk="0">
                <a:moveTo>
                  <a:pt x="114300" y="0"/>
                </a:moveTo>
                <a:lnTo>
                  <a:pt x="514350" y="0"/>
                </a:lnTo>
                <a:cubicBezTo>
                  <a:pt x="577434" y="0"/>
                  <a:pt x="628650" y="51216"/>
                  <a:pt x="628650" y="114300"/>
                </a:cubicBezTo>
                <a:lnTo>
                  <a:pt x="628650" y="114300"/>
                </a:lnTo>
                <a:cubicBezTo>
                  <a:pt x="628650" y="177384"/>
                  <a:pt x="577434" y="228600"/>
                  <a:pt x="51435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 bwMode="auto">
          <a:xfrm flipH="0" flipV="0">
            <a:off x="1390649" y="1419224"/>
            <a:ext cx="866774" cy="228600"/>
          </a:xfrm>
          <a:prstGeom prst="rect">
            <a:avLst/>
          </a:prstGeom>
          <a:noFill/>
          <a:ln/>
        </p:spPr>
        <p:txBody>
          <a:bodyPr wrap="square" lIns="114300" tIns="38099" rIns="114300" bIns="38099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9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STAGE 1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 bwMode="auto">
          <a:xfrm>
            <a:off x="1390650" y="1685925"/>
            <a:ext cx="1266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Input Stage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 bwMode="auto">
          <a:xfrm>
            <a:off x="628650" y="2190750"/>
            <a:ext cx="3190875" cy="1257300"/>
          </a:xfrm>
          <a:custGeom>
            <a:avLst/>
            <a:gdLst/>
            <a:ahLst/>
            <a:cxnLst/>
            <a:rect l="l" t="t" r="r" b="b"/>
            <a:pathLst>
              <a:path w="3190875" h="1257300" fill="norm" stroke="1" extrusionOk="0">
                <a:moveTo>
                  <a:pt x="114301" y="0"/>
                </a:moveTo>
                <a:lnTo>
                  <a:pt x="3076574" y="0"/>
                </a:lnTo>
                <a:cubicBezTo>
                  <a:pt x="3139658" y="0"/>
                  <a:pt x="3190875" y="51217"/>
                  <a:pt x="3190875" y="114301"/>
                </a:cubicBezTo>
                <a:lnTo>
                  <a:pt x="3190875" y="1142999"/>
                </a:lnTo>
                <a:cubicBezTo>
                  <a:pt x="3190875" y="1206083"/>
                  <a:pt x="3139658" y="1257300"/>
                  <a:pt x="3076574" y="1257300"/>
                </a:cubicBezTo>
                <a:lnTo>
                  <a:pt x="114301" y="1257300"/>
                </a:lnTo>
                <a:cubicBezTo>
                  <a:pt x="51217" y="1257300"/>
                  <a:pt x="0" y="1206083"/>
                  <a:pt x="0" y="11429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 bwMode="auto">
          <a:xfrm>
            <a:off x="819150" y="23812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 fill="norm" stroke="1" extrusionOk="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90488"/>
                </a:lnTo>
                <a:lnTo>
                  <a:pt x="54203" y="90488"/>
                </a:lnTo>
                <a:lnTo>
                  <a:pt x="44976" y="81260"/>
                </a:lnTo>
                <a:cubicBezTo>
                  <a:pt x="42178" y="78462"/>
                  <a:pt x="42178" y="73938"/>
                  <a:pt x="44976" y="71170"/>
                </a:cubicBezTo>
                <a:cubicBezTo>
                  <a:pt x="47774" y="68401"/>
                  <a:pt x="52298" y="68372"/>
                  <a:pt x="55066" y="71170"/>
                </a:cubicBezTo>
                <a:lnTo>
                  <a:pt x="76498" y="92601"/>
                </a:lnTo>
                <a:cubicBezTo>
                  <a:pt x="79296" y="95399"/>
                  <a:pt x="79296" y="99923"/>
                  <a:pt x="76498" y="102691"/>
                </a:cubicBezTo>
                <a:lnTo>
                  <a:pt x="55066" y="124123"/>
                </a:lnTo>
                <a:cubicBezTo>
                  <a:pt x="52268" y="126921"/>
                  <a:pt x="47744" y="126921"/>
                  <a:pt x="44976" y="124123"/>
                </a:cubicBezTo>
                <a:cubicBezTo>
                  <a:pt x="42208" y="121325"/>
                  <a:pt x="42178" y="116800"/>
                  <a:pt x="44976" y="114032"/>
                </a:cubicBezTo>
                <a:lnTo>
                  <a:pt x="54203" y="104805"/>
                </a:lnTo>
                <a:lnTo>
                  <a:pt x="0" y="104805"/>
                </a:lnTo>
                <a:lnTo>
                  <a:pt x="0" y="133380"/>
                </a:lnTo>
                <a:cubicBezTo>
                  <a:pt x="0" y="143887"/>
                  <a:pt x="8543" y="152430"/>
                  <a:pt x="19050" y="152430"/>
                </a:cubicBezTo>
                <a:lnTo>
                  <a:pt x="95250" y="152430"/>
                </a:lnTo>
                <a:cubicBezTo>
                  <a:pt x="105757" y="152430"/>
                  <a:pt x="114300" y="143887"/>
                  <a:pt x="114300" y="133380"/>
                </a:cubicBezTo>
                <a:lnTo>
                  <a:pt x="114300" y="50780"/>
                </a:lnTo>
                <a:cubicBezTo>
                  <a:pt x="114300" y="45720"/>
                  <a:pt x="112306" y="40868"/>
                  <a:pt x="108734" y="37296"/>
                </a:cubicBezTo>
                <a:lnTo>
                  <a:pt x="77004" y="5566"/>
                </a:lnTo>
                <a:cubicBezTo>
                  <a:pt x="73432" y="1994"/>
                  <a:pt x="68610" y="0"/>
                  <a:pt x="63550" y="0"/>
                </a:cubicBezTo>
                <a:lnTo>
                  <a:pt x="19050" y="0"/>
                </a:lnTo>
                <a:close/>
                <a:moveTo>
                  <a:pt x="96887" y="52388"/>
                </a:moveTo>
                <a:lnTo>
                  <a:pt x="69056" y="52388"/>
                </a:lnTo>
                <a:cubicBezTo>
                  <a:pt x="65097" y="52388"/>
                  <a:pt x="61912" y="49203"/>
                  <a:pt x="61912" y="45244"/>
                </a:cubicBezTo>
                <a:lnTo>
                  <a:pt x="61912" y="17413"/>
                </a:lnTo>
                <a:lnTo>
                  <a:pt x="96887" y="52388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 bwMode="auto">
          <a:xfrm>
            <a:off x="971550" y="2343150"/>
            <a:ext cx="2771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Upload &amp; Store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 bwMode="auto">
          <a:xfrm>
            <a:off x="781050" y="2647949"/>
            <a:ext cx="2952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05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Upload datasets in multiple formats (CSV, JSON, Excel, Parquet). Files are automatically validated and stored in distributed object storage.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 bwMode="auto">
          <a:xfrm>
            <a:off x="628650" y="3602831"/>
            <a:ext cx="3190875" cy="1333500"/>
          </a:xfrm>
          <a:custGeom>
            <a:avLst/>
            <a:gdLst/>
            <a:ahLst/>
            <a:cxnLst/>
            <a:rect l="l" t="t" r="r" b="b"/>
            <a:pathLst>
              <a:path w="3190875" h="1333500" fill="norm" stroke="1" extrusionOk="0">
                <a:moveTo>
                  <a:pt x="114294" y="0"/>
                </a:moveTo>
                <a:lnTo>
                  <a:pt x="3076581" y="0"/>
                </a:lnTo>
                <a:cubicBezTo>
                  <a:pt x="3139661" y="0"/>
                  <a:pt x="3190875" y="51214"/>
                  <a:pt x="3190875" y="114294"/>
                </a:cubicBezTo>
                <a:lnTo>
                  <a:pt x="3190875" y="1219206"/>
                </a:lnTo>
                <a:cubicBezTo>
                  <a:pt x="3190875" y="1282286"/>
                  <a:pt x="3139661" y="1333500"/>
                  <a:pt x="3076581" y="1333500"/>
                </a:cubicBezTo>
                <a:lnTo>
                  <a:pt x="114294" y="1333500"/>
                </a:lnTo>
                <a:cubicBezTo>
                  <a:pt x="51214" y="1333500"/>
                  <a:pt x="0" y="1282286"/>
                  <a:pt x="0" y="121920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 bwMode="auto">
          <a:xfrm>
            <a:off x="809625" y="379333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 fill="norm" stroke="1" extrusionOk="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 bwMode="auto">
          <a:xfrm>
            <a:off x="971550" y="3755231"/>
            <a:ext cx="2771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Technology Stack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 bwMode="auto">
          <a:xfrm>
            <a:off x="781050" y="411718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 fill="norm" stroke="1" extrusionOk="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 bwMode="auto">
          <a:xfrm>
            <a:off x="933450" y="4060031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5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MinIO</a:t>
            </a:r>
            <a:r>
              <a:rPr lang="en-US" sz="105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with S3 API</a:t>
            </a:r>
            <a:endParaRPr lang="en-US" sz="1600"/>
          </a:p>
        </p:txBody>
      </p:sp>
      <p:sp>
        <p:nvSpPr>
          <p:cNvPr id="21" name="Shape 19"/>
          <p:cNvSpPr/>
          <p:nvPr/>
        </p:nvSpPr>
        <p:spPr bwMode="auto">
          <a:xfrm>
            <a:off x="781050" y="438388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 fill="norm" stroke="1" extrusionOk="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 bwMode="auto">
          <a:xfrm>
            <a:off x="933450" y="4326731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5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Docker containerized storage</a:t>
            </a:r>
            <a:endParaRPr lang="en-US" sz="1600"/>
          </a:p>
        </p:txBody>
      </p:sp>
      <p:sp>
        <p:nvSpPr>
          <p:cNvPr id="23" name="Shape 21"/>
          <p:cNvSpPr/>
          <p:nvPr/>
        </p:nvSpPr>
        <p:spPr bwMode="auto">
          <a:xfrm>
            <a:off x="781050" y="465058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 fill="norm" stroke="1" extrusionOk="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 bwMode="auto">
          <a:xfrm>
            <a:off x="933450" y="4593431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5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Cloud mode: Google Cloud Storage</a:t>
            </a:r>
            <a:endParaRPr lang="en-US" sz="1600"/>
          </a:p>
        </p:txBody>
      </p:sp>
      <p:sp>
        <p:nvSpPr>
          <p:cNvPr id="25" name="Shape 23"/>
          <p:cNvSpPr/>
          <p:nvPr/>
        </p:nvSpPr>
        <p:spPr bwMode="auto">
          <a:xfrm>
            <a:off x="647700" y="5088731"/>
            <a:ext cx="3171825" cy="876299"/>
          </a:xfrm>
          <a:custGeom>
            <a:avLst/>
            <a:gdLst/>
            <a:ahLst/>
            <a:cxnLst/>
            <a:rect l="l" t="t" r="r" b="b"/>
            <a:pathLst>
              <a:path w="3171825" h="876300" fill="norm" stroke="1" extrusionOk="0">
                <a:moveTo>
                  <a:pt x="38100" y="0"/>
                </a:moveTo>
                <a:lnTo>
                  <a:pt x="3057529" y="0"/>
                </a:lnTo>
                <a:cubicBezTo>
                  <a:pt x="3120653" y="0"/>
                  <a:pt x="3171825" y="51172"/>
                  <a:pt x="3171825" y="114296"/>
                </a:cubicBezTo>
                <a:lnTo>
                  <a:pt x="3171825" y="762004"/>
                </a:lnTo>
                <a:cubicBezTo>
                  <a:pt x="3171825" y="825128"/>
                  <a:pt x="3120653" y="876300"/>
                  <a:pt x="3057529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7C3AED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6" name="Shape 24"/>
          <p:cNvSpPr/>
          <p:nvPr/>
        </p:nvSpPr>
        <p:spPr bwMode="auto">
          <a:xfrm>
            <a:off x="647700" y="5088731"/>
            <a:ext cx="38100" cy="876299"/>
          </a:xfrm>
          <a:custGeom>
            <a:avLst/>
            <a:gdLst/>
            <a:ahLst/>
            <a:cxnLst/>
            <a:rect l="l" t="t" r="r" b="b"/>
            <a:pathLst>
              <a:path w="38100" h="876300" fill="norm" stroke="1" extrusionOk="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7" name="Shape 25"/>
          <p:cNvSpPr/>
          <p:nvPr/>
        </p:nvSpPr>
        <p:spPr bwMode="auto">
          <a:xfrm>
            <a:off x="846534" y="526970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fill="norm" stroke="1" extrusionOk="0">
                <a:moveTo>
                  <a:pt x="0" y="56257"/>
                </a:moveTo>
                <a:cubicBezTo>
                  <a:pt x="0" y="38989"/>
                  <a:pt x="13986" y="25003"/>
                  <a:pt x="31254" y="25003"/>
                </a:cubicBezTo>
                <a:lnTo>
                  <a:pt x="33337" y="25003"/>
                </a:lnTo>
                <a:cubicBezTo>
                  <a:pt x="37947" y="25003"/>
                  <a:pt x="41672" y="28728"/>
                  <a:pt x="41672" y="33337"/>
                </a:cubicBezTo>
                <a:cubicBezTo>
                  <a:pt x="41672" y="37947"/>
                  <a:pt x="37947" y="41672"/>
                  <a:pt x="33337" y="41672"/>
                </a:cubicBezTo>
                <a:lnTo>
                  <a:pt x="31254" y="41672"/>
                </a:lnTo>
                <a:cubicBezTo>
                  <a:pt x="23206" y="41672"/>
                  <a:pt x="16669" y="48209"/>
                  <a:pt x="16669" y="56257"/>
                </a:cubicBezTo>
                <a:lnTo>
                  <a:pt x="16669" y="58341"/>
                </a:lnTo>
                <a:lnTo>
                  <a:pt x="33337" y="58341"/>
                </a:lnTo>
                <a:cubicBezTo>
                  <a:pt x="42531" y="58341"/>
                  <a:pt x="50006" y="65816"/>
                  <a:pt x="50006" y="75009"/>
                </a:cubicBezTo>
                <a:lnTo>
                  <a:pt x="50006" y="91678"/>
                </a:lnTo>
                <a:cubicBezTo>
                  <a:pt x="50006" y="100872"/>
                  <a:pt x="42531" y="108347"/>
                  <a:pt x="33337" y="108347"/>
                </a:cubicBezTo>
                <a:lnTo>
                  <a:pt x="16669" y="108347"/>
                </a:lnTo>
                <a:cubicBezTo>
                  <a:pt x="7475" y="108347"/>
                  <a:pt x="0" y="100872"/>
                  <a:pt x="0" y="91678"/>
                </a:cubicBezTo>
                <a:lnTo>
                  <a:pt x="0" y="56257"/>
                </a:lnTo>
                <a:close/>
                <a:moveTo>
                  <a:pt x="66675" y="56257"/>
                </a:moveTo>
                <a:cubicBezTo>
                  <a:pt x="66675" y="38989"/>
                  <a:pt x="80661" y="25003"/>
                  <a:pt x="97929" y="25003"/>
                </a:cubicBezTo>
                <a:lnTo>
                  <a:pt x="100013" y="25003"/>
                </a:lnTo>
                <a:cubicBezTo>
                  <a:pt x="104622" y="25003"/>
                  <a:pt x="108347" y="28728"/>
                  <a:pt x="108347" y="33337"/>
                </a:cubicBezTo>
                <a:cubicBezTo>
                  <a:pt x="108347" y="37947"/>
                  <a:pt x="104622" y="41672"/>
                  <a:pt x="100013" y="41672"/>
                </a:cubicBezTo>
                <a:lnTo>
                  <a:pt x="97929" y="41672"/>
                </a:lnTo>
                <a:cubicBezTo>
                  <a:pt x="89881" y="41672"/>
                  <a:pt x="83344" y="48209"/>
                  <a:pt x="83344" y="56257"/>
                </a:cubicBezTo>
                <a:lnTo>
                  <a:pt x="83344" y="58341"/>
                </a:lnTo>
                <a:lnTo>
                  <a:pt x="100013" y="58341"/>
                </a:lnTo>
                <a:cubicBezTo>
                  <a:pt x="109206" y="58341"/>
                  <a:pt x="116681" y="65816"/>
                  <a:pt x="116681" y="75009"/>
                </a:cubicBezTo>
                <a:lnTo>
                  <a:pt x="116681" y="91678"/>
                </a:lnTo>
                <a:cubicBezTo>
                  <a:pt x="116681" y="100872"/>
                  <a:pt x="109206" y="108347"/>
                  <a:pt x="100013" y="108347"/>
                </a:cubicBezTo>
                <a:lnTo>
                  <a:pt x="83344" y="108347"/>
                </a:lnTo>
                <a:cubicBezTo>
                  <a:pt x="74150" y="108347"/>
                  <a:pt x="66675" y="100872"/>
                  <a:pt x="66675" y="91678"/>
                </a:cubicBezTo>
                <a:lnTo>
                  <a:pt x="66675" y="56257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 bwMode="auto">
          <a:xfrm>
            <a:off x="1047750" y="5241131"/>
            <a:ext cx="26860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5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Storage is completely separate from processing, so multiple workers can access the same data safely and quickly.</a:t>
            </a:r>
            <a:endParaRPr lang="en-US" sz="1600"/>
          </a:p>
        </p:txBody>
      </p:sp>
      <p:sp>
        <p:nvSpPr>
          <p:cNvPr id="29" name="Shape 27"/>
          <p:cNvSpPr/>
          <p:nvPr/>
        </p:nvSpPr>
        <p:spPr bwMode="auto">
          <a:xfrm>
            <a:off x="4263926" y="1152525"/>
            <a:ext cx="3667125" cy="5314950"/>
          </a:xfrm>
          <a:custGeom>
            <a:avLst/>
            <a:gdLst/>
            <a:ahLst/>
            <a:cxnLst/>
            <a:rect l="l" t="t" r="r" b="b"/>
            <a:pathLst>
              <a:path w="3667125" h="5314950" fill="norm" stroke="1" extrusionOk="0">
                <a:moveTo>
                  <a:pt x="152406" y="0"/>
                </a:moveTo>
                <a:lnTo>
                  <a:pt x="3514719" y="0"/>
                </a:lnTo>
                <a:cubicBezTo>
                  <a:pt x="3598834" y="0"/>
                  <a:pt x="3667125" y="68291"/>
                  <a:pt x="3667125" y="152406"/>
                </a:cubicBezTo>
                <a:lnTo>
                  <a:pt x="3667125" y="5162544"/>
                </a:lnTo>
                <a:cubicBezTo>
                  <a:pt x="3667125" y="5246659"/>
                  <a:pt x="3598834" y="5314950"/>
                  <a:pt x="3514719" y="5314950"/>
                </a:cubicBezTo>
                <a:lnTo>
                  <a:pt x="152406" y="5314950"/>
                </a:lnTo>
                <a:cubicBezTo>
                  <a:pt x="68291" y="5314950"/>
                  <a:pt x="0" y="5246659"/>
                  <a:pt x="0" y="516254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>
            <a:gsLst>
              <a:gs pos="0">
                <a:srgbClr val="EC4899">
                  <a:alpha val="30000"/>
                </a:srgbClr>
              </a:gs>
              <a:gs pos="100000">
                <a:srgbClr val="EC4899">
                  <a:alpha val="10000"/>
                </a:srgbClr>
              </a:gs>
            </a:gsLst>
            <a:lin ang="2700000" scaled="1"/>
          </a:gradFill>
          <a:ln w="25400">
            <a:solidFill>
              <a:srgbClr val="EC4899"/>
            </a:solidFill>
            <a:prstDash val="solid"/>
          </a:ln>
        </p:spPr>
      </p:sp>
      <p:sp>
        <p:nvSpPr>
          <p:cNvPr id="30" name="Shape 28"/>
          <p:cNvSpPr/>
          <p:nvPr/>
        </p:nvSpPr>
        <p:spPr bwMode="auto">
          <a:xfrm>
            <a:off x="4502051" y="13906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 fill="norm" stroke="1" extrusionOk="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>
            <a:gsLst>
              <a:gs pos="0">
                <a:srgbClr val="EC4899"/>
              </a:gs>
              <a:gs pos="100000">
                <a:srgbClr val="EC4899">
                  <a:alpha val="70000"/>
                </a:srgbClr>
              </a:gs>
            </a:gsLst>
            <a:lin ang="2700000" scaled="1"/>
          </a:gradFill>
          <a:ln/>
          <a:effectLst>
            <a:outerShdw blurRad="101600" dist="50800" dir="2700000" sx="100000" sy="100000" kx="0" ky="0" algn="bl" rotWithShape="0">
              <a:srgbClr val="FFFFFF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 bwMode="auto">
          <a:xfrm>
            <a:off x="4630638" y="155257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 fill="norm" stroke="1" extrusionOk="0">
                <a:moveTo>
                  <a:pt x="232116" y="117481"/>
                </a:moveTo>
                <a:cubicBezTo>
                  <a:pt x="238925" y="115639"/>
                  <a:pt x="246069" y="118876"/>
                  <a:pt x="249138" y="125183"/>
                </a:cubicBezTo>
                <a:lnTo>
                  <a:pt x="259519" y="146168"/>
                </a:lnTo>
                <a:cubicBezTo>
                  <a:pt x="265268" y="146949"/>
                  <a:pt x="270904" y="148512"/>
                  <a:pt x="276206" y="150688"/>
                </a:cubicBezTo>
                <a:lnTo>
                  <a:pt x="295740" y="137685"/>
                </a:lnTo>
                <a:cubicBezTo>
                  <a:pt x="301600" y="133778"/>
                  <a:pt x="309358" y="134559"/>
                  <a:pt x="314325" y="139526"/>
                </a:cubicBezTo>
                <a:lnTo>
                  <a:pt x="325041" y="150242"/>
                </a:lnTo>
                <a:cubicBezTo>
                  <a:pt x="330008" y="155209"/>
                  <a:pt x="330789" y="163023"/>
                  <a:pt x="326882" y="168827"/>
                </a:cubicBezTo>
                <a:lnTo>
                  <a:pt x="313879" y="188305"/>
                </a:lnTo>
                <a:cubicBezTo>
                  <a:pt x="314939" y="190928"/>
                  <a:pt x="315888" y="193663"/>
                  <a:pt x="316669" y="196509"/>
                </a:cubicBezTo>
                <a:cubicBezTo>
                  <a:pt x="317450" y="199355"/>
                  <a:pt x="317953" y="202146"/>
                  <a:pt x="318343" y="204992"/>
                </a:cubicBezTo>
                <a:lnTo>
                  <a:pt x="339384" y="215373"/>
                </a:lnTo>
                <a:cubicBezTo>
                  <a:pt x="345691" y="218498"/>
                  <a:pt x="348928" y="225642"/>
                  <a:pt x="347086" y="232395"/>
                </a:cubicBezTo>
                <a:lnTo>
                  <a:pt x="343179" y="247017"/>
                </a:lnTo>
                <a:cubicBezTo>
                  <a:pt x="341337" y="253771"/>
                  <a:pt x="335031" y="258347"/>
                  <a:pt x="327999" y="257901"/>
                </a:cubicBezTo>
                <a:lnTo>
                  <a:pt x="304558" y="256394"/>
                </a:lnTo>
                <a:cubicBezTo>
                  <a:pt x="301042" y="260914"/>
                  <a:pt x="296968" y="265100"/>
                  <a:pt x="292336" y="268672"/>
                </a:cubicBezTo>
                <a:lnTo>
                  <a:pt x="293843" y="292057"/>
                </a:lnTo>
                <a:cubicBezTo>
                  <a:pt x="294289" y="299089"/>
                  <a:pt x="289713" y="305451"/>
                  <a:pt x="282959" y="307237"/>
                </a:cubicBezTo>
                <a:lnTo>
                  <a:pt x="268337" y="311144"/>
                </a:lnTo>
                <a:cubicBezTo>
                  <a:pt x="261528" y="312986"/>
                  <a:pt x="254440" y="309749"/>
                  <a:pt x="251315" y="303442"/>
                </a:cubicBezTo>
                <a:lnTo>
                  <a:pt x="240934" y="282457"/>
                </a:lnTo>
                <a:cubicBezTo>
                  <a:pt x="235186" y="281676"/>
                  <a:pt x="229549" y="280113"/>
                  <a:pt x="224247" y="277937"/>
                </a:cubicBezTo>
                <a:lnTo>
                  <a:pt x="204713" y="290940"/>
                </a:lnTo>
                <a:cubicBezTo>
                  <a:pt x="198853" y="294847"/>
                  <a:pt x="191095" y="294066"/>
                  <a:pt x="186128" y="289099"/>
                </a:cubicBezTo>
                <a:lnTo>
                  <a:pt x="175413" y="278383"/>
                </a:lnTo>
                <a:cubicBezTo>
                  <a:pt x="170445" y="273416"/>
                  <a:pt x="169664" y="265658"/>
                  <a:pt x="173571" y="259798"/>
                </a:cubicBezTo>
                <a:lnTo>
                  <a:pt x="186575" y="240264"/>
                </a:lnTo>
                <a:cubicBezTo>
                  <a:pt x="185514" y="237641"/>
                  <a:pt x="184565" y="234907"/>
                  <a:pt x="183784" y="232060"/>
                </a:cubicBezTo>
                <a:cubicBezTo>
                  <a:pt x="183003" y="229214"/>
                  <a:pt x="182500" y="226368"/>
                  <a:pt x="182110" y="223577"/>
                </a:cubicBezTo>
                <a:lnTo>
                  <a:pt x="161069" y="213196"/>
                </a:lnTo>
                <a:cubicBezTo>
                  <a:pt x="154763" y="210071"/>
                  <a:pt x="151581" y="202927"/>
                  <a:pt x="153367" y="196174"/>
                </a:cubicBezTo>
                <a:lnTo>
                  <a:pt x="157274" y="181552"/>
                </a:lnTo>
                <a:cubicBezTo>
                  <a:pt x="159116" y="174799"/>
                  <a:pt x="165422" y="170222"/>
                  <a:pt x="172455" y="170669"/>
                </a:cubicBezTo>
                <a:lnTo>
                  <a:pt x="195839" y="172176"/>
                </a:lnTo>
                <a:cubicBezTo>
                  <a:pt x="199355" y="167655"/>
                  <a:pt x="203429" y="163469"/>
                  <a:pt x="208062" y="159897"/>
                </a:cubicBezTo>
                <a:lnTo>
                  <a:pt x="206555" y="136568"/>
                </a:lnTo>
                <a:cubicBezTo>
                  <a:pt x="206108" y="129536"/>
                  <a:pt x="210685" y="123174"/>
                  <a:pt x="217438" y="121388"/>
                </a:cubicBezTo>
                <a:lnTo>
                  <a:pt x="232060" y="117481"/>
                </a:lnTo>
                <a:close/>
                <a:moveTo>
                  <a:pt x="250254" y="189756"/>
                </a:moveTo>
                <a:cubicBezTo>
                  <a:pt x="236701" y="189771"/>
                  <a:pt x="225710" y="200787"/>
                  <a:pt x="225726" y="214340"/>
                </a:cubicBezTo>
                <a:cubicBezTo>
                  <a:pt x="225741" y="227894"/>
                  <a:pt x="236757" y="238885"/>
                  <a:pt x="250310" y="238869"/>
                </a:cubicBezTo>
                <a:cubicBezTo>
                  <a:pt x="263863" y="238854"/>
                  <a:pt x="274854" y="227838"/>
                  <a:pt x="274839" y="214285"/>
                </a:cubicBezTo>
                <a:cubicBezTo>
                  <a:pt x="274824" y="200731"/>
                  <a:pt x="263808" y="189740"/>
                  <a:pt x="250254" y="189756"/>
                </a:cubicBezTo>
                <a:close/>
                <a:moveTo>
                  <a:pt x="125518" y="-25394"/>
                </a:moveTo>
                <a:lnTo>
                  <a:pt x="140140" y="-21487"/>
                </a:lnTo>
                <a:cubicBezTo>
                  <a:pt x="146893" y="-19645"/>
                  <a:pt x="151470" y="-13283"/>
                  <a:pt x="151023" y="-6307"/>
                </a:cubicBezTo>
                <a:lnTo>
                  <a:pt x="149516" y="17022"/>
                </a:lnTo>
                <a:cubicBezTo>
                  <a:pt x="154149" y="20594"/>
                  <a:pt x="158223" y="24724"/>
                  <a:pt x="161739" y="29301"/>
                </a:cubicBezTo>
                <a:lnTo>
                  <a:pt x="185179" y="27794"/>
                </a:lnTo>
                <a:cubicBezTo>
                  <a:pt x="192156" y="27347"/>
                  <a:pt x="198518" y="31924"/>
                  <a:pt x="200360" y="38677"/>
                </a:cubicBezTo>
                <a:lnTo>
                  <a:pt x="204267" y="53299"/>
                </a:lnTo>
                <a:cubicBezTo>
                  <a:pt x="206053" y="60052"/>
                  <a:pt x="202871" y="67196"/>
                  <a:pt x="196565" y="70321"/>
                </a:cubicBezTo>
                <a:lnTo>
                  <a:pt x="175524" y="80702"/>
                </a:lnTo>
                <a:cubicBezTo>
                  <a:pt x="175133" y="83548"/>
                  <a:pt x="174575" y="86395"/>
                  <a:pt x="173850" y="89185"/>
                </a:cubicBezTo>
                <a:cubicBezTo>
                  <a:pt x="173124" y="91976"/>
                  <a:pt x="172120" y="94766"/>
                  <a:pt x="171059" y="97389"/>
                </a:cubicBezTo>
                <a:lnTo>
                  <a:pt x="184063" y="116923"/>
                </a:lnTo>
                <a:cubicBezTo>
                  <a:pt x="187970" y="122783"/>
                  <a:pt x="187189" y="130541"/>
                  <a:pt x="182221" y="135508"/>
                </a:cubicBezTo>
                <a:lnTo>
                  <a:pt x="171506" y="146224"/>
                </a:lnTo>
                <a:cubicBezTo>
                  <a:pt x="166539" y="151191"/>
                  <a:pt x="158781" y="151972"/>
                  <a:pt x="152921" y="148065"/>
                </a:cubicBezTo>
                <a:lnTo>
                  <a:pt x="133387" y="135062"/>
                </a:lnTo>
                <a:cubicBezTo>
                  <a:pt x="128085" y="137238"/>
                  <a:pt x="122448" y="138801"/>
                  <a:pt x="116700" y="139582"/>
                </a:cubicBezTo>
                <a:lnTo>
                  <a:pt x="106319" y="160567"/>
                </a:lnTo>
                <a:cubicBezTo>
                  <a:pt x="103194" y="166874"/>
                  <a:pt x="96050" y="170055"/>
                  <a:pt x="89297" y="168269"/>
                </a:cubicBezTo>
                <a:lnTo>
                  <a:pt x="74675" y="164362"/>
                </a:lnTo>
                <a:cubicBezTo>
                  <a:pt x="67866" y="162520"/>
                  <a:pt x="63345" y="156158"/>
                  <a:pt x="63791" y="149182"/>
                </a:cubicBezTo>
                <a:lnTo>
                  <a:pt x="65298" y="125797"/>
                </a:lnTo>
                <a:cubicBezTo>
                  <a:pt x="60666" y="122225"/>
                  <a:pt x="56592" y="118095"/>
                  <a:pt x="53076" y="113519"/>
                </a:cubicBezTo>
                <a:lnTo>
                  <a:pt x="29635" y="115026"/>
                </a:lnTo>
                <a:cubicBezTo>
                  <a:pt x="22659" y="115472"/>
                  <a:pt x="16297" y="110896"/>
                  <a:pt x="14455" y="104142"/>
                </a:cubicBezTo>
                <a:lnTo>
                  <a:pt x="10548" y="89520"/>
                </a:lnTo>
                <a:cubicBezTo>
                  <a:pt x="8762" y="82767"/>
                  <a:pt x="11943" y="75623"/>
                  <a:pt x="18250" y="72498"/>
                </a:cubicBezTo>
                <a:lnTo>
                  <a:pt x="39291" y="62117"/>
                </a:lnTo>
                <a:cubicBezTo>
                  <a:pt x="39681" y="59271"/>
                  <a:pt x="40239" y="56480"/>
                  <a:pt x="40965" y="53634"/>
                </a:cubicBezTo>
                <a:cubicBezTo>
                  <a:pt x="41746" y="50788"/>
                  <a:pt x="42639" y="48053"/>
                  <a:pt x="43755" y="45430"/>
                </a:cubicBezTo>
                <a:lnTo>
                  <a:pt x="30752" y="25952"/>
                </a:lnTo>
                <a:cubicBezTo>
                  <a:pt x="26845" y="20092"/>
                  <a:pt x="27626" y="12334"/>
                  <a:pt x="32593" y="7367"/>
                </a:cubicBezTo>
                <a:lnTo>
                  <a:pt x="43309" y="-3349"/>
                </a:lnTo>
                <a:cubicBezTo>
                  <a:pt x="48276" y="-8316"/>
                  <a:pt x="56034" y="-9097"/>
                  <a:pt x="61894" y="-5190"/>
                </a:cubicBezTo>
                <a:lnTo>
                  <a:pt x="81428" y="7813"/>
                </a:lnTo>
                <a:cubicBezTo>
                  <a:pt x="86730" y="5637"/>
                  <a:pt x="92366" y="4074"/>
                  <a:pt x="98115" y="3293"/>
                </a:cubicBezTo>
                <a:lnTo>
                  <a:pt x="108496" y="-17692"/>
                </a:lnTo>
                <a:cubicBezTo>
                  <a:pt x="111621" y="-23999"/>
                  <a:pt x="118709" y="-27180"/>
                  <a:pt x="125518" y="-25394"/>
                </a:cubicBezTo>
                <a:close/>
                <a:moveTo>
                  <a:pt x="107379" y="46881"/>
                </a:moveTo>
                <a:cubicBezTo>
                  <a:pt x="93826" y="46881"/>
                  <a:pt x="82823" y="57884"/>
                  <a:pt x="82823" y="71438"/>
                </a:cubicBezTo>
                <a:cubicBezTo>
                  <a:pt x="82823" y="84991"/>
                  <a:pt x="93826" y="95994"/>
                  <a:pt x="107379" y="95994"/>
                </a:cubicBezTo>
                <a:cubicBezTo>
                  <a:pt x="120933" y="95994"/>
                  <a:pt x="131936" y="84991"/>
                  <a:pt x="131936" y="71438"/>
                </a:cubicBezTo>
                <a:cubicBezTo>
                  <a:pt x="131936" y="57884"/>
                  <a:pt x="120933" y="46881"/>
                  <a:pt x="107379" y="4688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 bwMode="auto">
          <a:xfrm>
            <a:off x="5264051" y="1419225"/>
            <a:ext cx="647700" cy="228600"/>
          </a:xfrm>
          <a:custGeom>
            <a:avLst/>
            <a:gdLst/>
            <a:ahLst/>
            <a:cxnLst/>
            <a:rect l="l" t="t" r="r" b="b"/>
            <a:pathLst>
              <a:path w="647700" h="228600" fill="norm" stroke="1" extrusionOk="0">
                <a:moveTo>
                  <a:pt x="114300" y="0"/>
                </a:moveTo>
                <a:lnTo>
                  <a:pt x="533400" y="0"/>
                </a:lnTo>
                <a:cubicBezTo>
                  <a:pt x="596484" y="0"/>
                  <a:pt x="647700" y="51216"/>
                  <a:pt x="647700" y="114300"/>
                </a:cubicBezTo>
                <a:lnTo>
                  <a:pt x="647700" y="114300"/>
                </a:lnTo>
                <a:cubicBezTo>
                  <a:pt x="647700" y="177384"/>
                  <a:pt x="596484" y="228600"/>
                  <a:pt x="5334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3" name="Text 31"/>
          <p:cNvSpPr/>
          <p:nvPr/>
        </p:nvSpPr>
        <p:spPr bwMode="auto">
          <a:xfrm flipH="0" flipV="0">
            <a:off x="5264049" y="1419224"/>
            <a:ext cx="842962" cy="228600"/>
          </a:xfrm>
          <a:prstGeom prst="rect">
            <a:avLst/>
          </a:prstGeom>
          <a:noFill/>
          <a:ln/>
        </p:spPr>
        <p:txBody>
          <a:bodyPr wrap="square" lIns="114300" tIns="38099" rIns="114300" bIns="38099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9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STAGE 2</a:t>
            </a:r>
            <a:endParaRPr lang="en-US" sz="1600"/>
          </a:p>
        </p:txBody>
      </p:sp>
      <p:sp>
        <p:nvSpPr>
          <p:cNvPr id="34" name="Text 32"/>
          <p:cNvSpPr/>
          <p:nvPr/>
        </p:nvSpPr>
        <p:spPr bwMode="auto">
          <a:xfrm flipH="0" flipV="0">
            <a:off x="5264049" y="1685925"/>
            <a:ext cx="2196160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Processing Stage</a:t>
            </a:r>
            <a:endParaRPr lang="en-US" sz="1600"/>
          </a:p>
        </p:txBody>
      </p:sp>
      <p:sp>
        <p:nvSpPr>
          <p:cNvPr id="35" name="Shape 33"/>
          <p:cNvSpPr/>
          <p:nvPr/>
        </p:nvSpPr>
        <p:spPr bwMode="auto">
          <a:xfrm>
            <a:off x="4502051" y="2190750"/>
            <a:ext cx="3190875" cy="1257300"/>
          </a:xfrm>
          <a:custGeom>
            <a:avLst/>
            <a:gdLst/>
            <a:ahLst/>
            <a:cxnLst/>
            <a:rect l="l" t="t" r="r" b="b"/>
            <a:pathLst>
              <a:path w="3190875" h="1257300" fill="norm" stroke="1" extrusionOk="0">
                <a:moveTo>
                  <a:pt x="114301" y="0"/>
                </a:moveTo>
                <a:lnTo>
                  <a:pt x="3076574" y="0"/>
                </a:lnTo>
                <a:cubicBezTo>
                  <a:pt x="3139658" y="0"/>
                  <a:pt x="3190875" y="51217"/>
                  <a:pt x="3190875" y="114301"/>
                </a:cubicBezTo>
                <a:lnTo>
                  <a:pt x="3190875" y="1142999"/>
                </a:lnTo>
                <a:cubicBezTo>
                  <a:pt x="3190875" y="1206083"/>
                  <a:pt x="3139658" y="1257300"/>
                  <a:pt x="3076574" y="1257300"/>
                </a:cubicBezTo>
                <a:lnTo>
                  <a:pt x="114301" y="1257300"/>
                </a:lnTo>
                <a:cubicBezTo>
                  <a:pt x="51217" y="1257300"/>
                  <a:pt x="0" y="1206083"/>
                  <a:pt x="0" y="11429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 bwMode="auto">
          <a:xfrm>
            <a:off x="4683026" y="23812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 fill="norm" stroke="1" extrusionOk="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7" name="Text 35"/>
          <p:cNvSpPr/>
          <p:nvPr/>
        </p:nvSpPr>
        <p:spPr bwMode="auto">
          <a:xfrm>
            <a:off x="4844951" y="2343150"/>
            <a:ext cx="2771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Parallel Analytics</a:t>
            </a:r>
            <a:endParaRPr lang="en-US" sz="1600"/>
          </a:p>
        </p:txBody>
      </p:sp>
      <p:sp>
        <p:nvSpPr>
          <p:cNvPr id="38" name="Text 36"/>
          <p:cNvSpPr/>
          <p:nvPr/>
        </p:nvSpPr>
        <p:spPr bwMode="auto">
          <a:xfrm>
            <a:off x="4654451" y="2647949"/>
            <a:ext cx="2952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05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Apache Spark with PySpark processes data in parallel, infers schema types automatically and computes adaptive statistics for your file.</a:t>
            </a:r>
            <a:endParaRPr lang="en-US" sz="1600"/>
          </a:p>
        </p:txBody>
      </p:sp>
      <p:sp>
        <p:nvSpPr>
          <p:cNvPr id="39" name="Shape 37"/>
          <p:cNvSpPr/>
          <p:nvPr/>
        </p:nvSpPr>
        <p:spPr bwMode="auto">
          <a:xfrm>
            <a:off x="4502051" y="3602831"/>
            <a:ext cx="3190875" cy="1333500"/>
          </a:xfrm>
          <a:custGeom>
            <a:avLst/>
            <a:gdLst/>
            <a:ahLst/>
            <a:cxnLst/>
            <a:rect l="l" t="t" r="r" b="b"/>
            <a:pathLst>
              <a:path w="3190875" h="1333500" fill="norm" stroke="1" extrusionOk="0">
                <a:moveTo>
                  <a:pt x="114294" y="0"/>
                </a:moveTo>
                <a:lnTo>
                  <a:pt x="3076581" y="0"/>
                </a:lnTo>
                <a:cubicBezTo>
                  <a:pt x="3139661" y="0"/>
                  <a:pt x="3190875" y="51214"/>
                  <a:pt x="3190875" y="114294"/>
                </a:cubicBezTo>
                <a:lnTo>
                  <a:pt x="3190875" y="1219206"/>
                </a:lnTo>
                <a:cubicBezTo>
                  <a:pt x="3190875" y="1282286"/>
                  <a:pt x="3139661" y="1333500"/>
                  <a:pt x="3076581" y="1333500"/>
                </a:cubicBezTo>
                <a:lnTo>
                  <a:pt x="114294" y="1333500"/>
                </a:lnTo>
                <a:cubicBezTo>
                  <a:pt x="51214" y="1333500"/>
                  <a:pt x="0" y="1282286"/>
                  <a:pt x="0" y="121920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40" name="Shape 38"/>
          <p:cNvSpPr/>
          <p:nvPr/>
        </p:nvSpPr>
        <p:spPr bwMode="auto">
          <a:xfrm>
            <a:off x="4673501" y="379333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fill="norm" stroke="1" extrusionOk="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41" name="Text 39"/>
          <p:cNvSpPr/>
          <p:nvPr/>
        </p:nvSpPr>
        <p:spPr bwMode="auto">
          <a:xfrm>
            <a:off x="4844951" y="3755231"/>
            <a:ext cx="2771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Automatic Detection</a:t>
            </a:r>
            <a:endParaRPr lang="en-US" sz="1600"/>
          </a:p>
        </p:txBody>
      </p:sp>
      <p:sp>
        <p:nvSpPr>
          <p:cNvPr id="42" name="Shape 40"/>
          <p:cNvSpPr/>
          <p:nvPr/>
        </p:nvSpPr>
        <p:spPr bwMode="auto">
          <a:xfrm>
            <a:off x="4654451" y="411718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 fill="norm" stroke="1" extrusionOk="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43" name="Text 41"/>
          <p:cNvSpPr/>
          <p:nvPr/>
        </p:nvSpPr>
        <p:spPr bwMode="auto">
          <a:xfrm flipH="0" flipV="0">
            <a:off x="4806850" y="4060029"/>
            <a:ext cx="2120606" cy="190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5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Numeric:</a:t>
            </a:r>
            <a:r>
              <a:rPr lang="en-US" sz="105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Mean, min, max, spread</a:t>
            </a:r>
            <a:endParaRPr lang="en-US" sz="1600"/>
          </a:p>
        </p:txBody>
      </p:sp>
      <p:sp>
        <p:nvSpPr>
          <p:cNvPr id="44" name="Shape 42"/>
          <p:cNvSpPr/>
          <p:nvPr/>
        </p:nvSpPr>
        <p:spPr bwMode="auto">
          <a:xfrm>
            <a:off x="4654451" y="438388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 fill="norm" stroke="1" extrusionOk="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45" name="Text 43"/>
          <p:cNvSpPr/>
          <p:nvPr/>
        </p:nvSpPr>
        <p:spPr bwMode="auto">
          <a:xfrm flipH="0" flipV="0">
            <a:off x="4806850" y="4326730"/>
            <a:ext cx="2265903" cy="190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5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Categorical:</a:t>
            </a:r>
            <a:r>
              <a:rPr lang="en-US" sz="105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Most common values</a:t>
            </a:r>
            <a:endParaRPr lang="en-US" sz="1600"/>
          </a:p>
        </p:txBody>
      </p:sp>
      <p:sp>
        <p:nvSpPr>
          <p:cNvPr id="46" name="Shape 44"/>
          <p:cNvSpPr/>
          <p:nvPr/>
        </p:nvSpPr>
        <p:spPr bwMode="auto">
          <a:xfrm>
            <a:off x="4654451" y="465058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 fill="norm" stroke="1" extrusionOk="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47" name="Text 45"/>
          <p:cNvSpPr/>
          <p:nvPr/>
        </p:nvSpPr>
        <p:spPr bwMode="auto">
          <a:xfrm flipH="0" flipV="0">
            <a:off x="4806850" y="4593430"/>
            <a:ext cx="2120606" cy="190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5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DateTime:</a:t>
            </a:r>
            <a:r>
              <a:rPr lang="en-US" sz="105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Daily &amp; monthly trends</a:t>
            </a:r>
            <a:endParaRPr lang="en-US" sz="1600"/>
          </a:p>
        </p:txBody>
      </p:sp>
      <p:sp>
        <p:nvSpPr>
          <p:cNvPr id="48" name="Shape 46"/>
          <p:cNvSpPr/>
          <p:nvPr/>
        </p:nvSpPr>
        <p:spPr bwMode="auto">
          <a:xfrm>
            <a:off x="4521101" y="5088731"/>
            <a:ext cx="3171825" cy="876299"/>
          </a:xfrm>
          <a:custGeom>
            <a:avLst/>
            <a:gdLst/>
            <a:ahLst/>
            <a:cxnLst/>
            <a:rect l="l" t="t" r="r" b="b"/>
            <a:pathLst>
              <a:path w="3171825" h="876300" fill="norm" stroke="1" extrusionOk="0">
                <a:moveTo>
                  <a:pt x="38100" y="0"/>
                </a:moveTo>
                <a:lnTo>
                  <a:pt x="3057529" y="0"/>
                </a:lnTo>
                <a:cubicBezTo>
                  <a:pt x="3120653" y="0"/>
                  <a:pt x="3171825" y="51172"/>
                  <a:pt x="3171825" y="114296"/>
                </a:cubicBezTo>
                <a:lnTo>
                  <a:pt x="3171825" y="762004"/>
                </a:lnTo>
                <a:cubicBezTo>
                  <a:pt x="3171825" y="825128"/>
                  <a:pt x="3120653" y="876300"/>
                  <a:pt x="3057529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EC4899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9" name="Shape 47"/>
          <p:cNvSpPr/>
          <p:nvPr/>
        </p:nvSpPr>
        <p:spPr bwMode="auto">
          <a:xfrm>
            <a:off x="4521101" y="5088731"/>
            <a:ext cx="38100" cy="876299"/>
          </a:xfrm>
          <a:custGeom>
            <a:avLst/>
            <a:gdLst/>
            <a:ahLst/>
            <a:cxnLst/>
            <a:rect l="l" t="t" r="r" b="b"/>
            <a:pathLst>
              <a:path w="38100" h="876300" fill="norm" stroke="1" extrusionOk="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50" name="Shape 48"/>
          <p:cNvSpPr/>
          <p:nvPr/>
        </p:nvSpPr>
        <p:spPr bwMode="auto">
          <a:xfrm>
            <a:off x="4719935" y="526970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fill="norm" stroke="1" extrusionOk="0">
                <a:moveTo>
                  <a:pt x="0" y="56257"/>
                </a:moveTo>
                <a:cubicBezTo>
                  <a:pt x="0" y="38989"/>
                  <a:pt x="13986" y="25003"/>
                  <a:pt x="31254" y="25003"/>
                </a:cubicBezTo>
                <a:lnTo>
                  <a:pt x="33337" y="25003"/>
                </a:lnTo>
                <a:cubicBezTo>
                  <a:pt x="37947" y="25003"/>
                  <a:pt x="41672" y="28728"/>
                  <a:pt x="41672" y="33337"/>
                </a:cubicBezTo>
                <a:cubicBezTo>
                  <a:pt x="41672" y="37947"/>
                  <a:pt x="37947" y="41672"/>
                  <a:pt x="33337" y="41672"/>
                </a:cubicBezTo>
                <a:lnTo>
                  <a:pt x="31254" y="41672"/>
                </a:lnTo>
                <a:cubicBezTo>
                  <a:pt x="23206" y="41672"/>
                  <a:pt x="16669" y="48209"/>
                  <a:pt x="16669" y="56257"/>
                </a:cubicBezTo>
                <a:lnTo>
                  <a:pt x="16669" y="58341"/>
                </a:lnTo>
                <a:lnTo>
                  <a:pt x="33337" y="58341"/>
                </a:lnTo>
                <a:cubicBezTo>
                  <a:pt x="42531" y="58341"/>
                  <a:pt x="50006" y="65816"/>
                  <a:pt x="50006" y="75009"/>
                </a:cubicBezTo>
                <a:lnTo>
                  <a:pt x="50006" y="91678"/>
                </a:lnTo>
                <a:cubicBezTo>
                  <a:pt x="50006" y="100872"/>
                  <a:pt x="42531" y="108347"/>
                  <a:pt x="33337" y="108347"/>
                </a:cubicBezTo>
                <a:lnTo>
                  <a:pt x="16669" y="108347"/>
                </a:lnTo>
                <a:cubicBezTo>
                  <a:pt x="7475" y="108347"/>
                  <a:pt x="0" y="100872"/>
                  <a:pt x="0" y="91678"/>
                </a:cubicBezTo>
                <a:lnTo>
                  <a:pt x="0" y="56257"/>
                </a:lnTo>
                <a:close/>
                <a:moveTo>
                  <a:pt x="66675" y="56257"/>
                </a:moveTo>
                <a:cubicBezTo>
                  <a:pt x="66675" y="38989"/>
                  <a:pt x="80661" y="25003"/>
                  <a:pt x="97929" y="25003"/>
                </a:cubicBezTo>
                <a:lnTo>
                  <a:pt x="100013" y="25003"/>
                </a:lnTo>
                <a:cubicBezTo>
                  <a:pt x="104622" y="25003"/>
                  <a:pt x="108347" y="28728"/>
                  <a:pt x="108347" y="33337"/>
                </a:cubicBezTo>
                <a:cubicBezTo>
                  <a:pt x="108347" y="37947"/>
                  <a:pt x="104622" y="41672"/>
                  <a:pt x="100013" y="41672"/>
                </a:cubicBezTo>
                <a:lnTo>
                  <a:pt x="97929" y="41672"/>
                </a:lnTo>
                <a:cubicBezTo>
                  <a:pt x="89881" y="41672"/>
                  <a:pt x="83344" y="48209"/>
                  <a:pt x="83344" y="56257"/>
                </a:cubicBezTo>
                <a:lnTo>
                  <a:pt x="83344" y="58341"/>
                </a:lnTo>
                <a:lnTo>
                  <a:pt x="100013" y="58341"/>
                </a:lnTo>
                <a:cubicBezTo>
                  <a:pt x="109206" y="58341"/>
                  <a:pt x="116681" y="65816"/>
                  <a:pt x="116681" y="75009"/>
                </a:cubicBezTo>
                <a:lnTo>
                  <a:pt x="116681" y="91678"/>
                </a:lnTo>
                <a:cubicBezTo>
                  <a:pt x="116681" y="100872"/>
                  <a:pt x="109206" y="108347"/>
                  <a:pt x="100013" y="108347"/>
                </a:cubicBezTo>
                <a:lnTo>
                  <a:pt x="83344" y="108347"/>
                </a:lnTo>
                <a:cubicBezTo>
                  <a:pt x="74150" y="108347"/>
                  <a:pt x="66675" y="100872"/>
                  <a:pt x="66675" y="91678"/>
                </a:cubicBezTo>
                <a:lnTo>
                  <a:pt x="66675" y="56257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51" name="Text 49"/>
          <p:cNvSpPr/>
          <p:nvPr/>
        </p:nvSpPr>
        <p:spPr bwMode="auto">
          <a:xfrm>
            <a:off x="4921151" y="5241131"/>
            <a:ext cx="26860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5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This automatic approach makes the pipeline work with almost any structured dataset without custom code.</a:t>
            </a:r>
            <a:endParaRPr lang="en-US" sz="1600"/>
          </a:p>
        </p:txBody>
      </p:sp>
      <p:sp>
        <p:nvSpPr>
          <p:cNvPr id="52" name="Shape 50"/>
          <p:cNvSpPr/>
          <p:nvPr/>
        </p:nvSpPr>
        <p:spPr bwMode="auto">
          <a:xfrm>
            <a:off x="8137475" y="1152525"/>
            <a:ext cx="3667125" cy="5314950"/>
          </a:xfrm>
          <a:custGeom>
            <a:avLst/>
            <a:gdLst/>
            <a:ahLst/>
            <a:cxnLst/>
            <a:rect l="l" t="t" r="r" b="b"/>
            <a:pathLst>
              <a:path w="3667125" h="5314950" fill="norm" stroke="1" extrusionOk="0">
                <a:moveTo>
                  <a:pt x="152406" y="0"/>
                </a:moveTo>
                <a:lnTo>
                  <a:pt x="3514719" y="0"/>
                </a:lnTo>
                <a:cubicBezTo>
                  <a:pt x="3598834" y="0"/>
                  <a:pt x="3667125" y="68291"/>
                  <a:pt x="3667125" y="152406"/>
                </a:cubicBezTo>
                <a:lnTo>
                  <a:pt x="3667125" y="5162544"/>
                </a:lnTo>
                <a:cubicBezTo>
                  <a:pt x="3667125" y="5246659"/>
                  <a:pt x="3598834" y="5314950"/>
                  <a:pt x="3514719" y="5314950"/>
                </a:cubicBezTo>
                <a:lnTo>
                  <a:pt x="152406" y="5314950"/>
                </a:lnTo>
                <a:cubicBezTo>
                  <a:pt x="68291" y="5314950"/>
                  <a:pt x="0" y="5246659"/>
                  <a:pt x="0" y="516254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>
            <a:gsLst>
              <a:gs pos="0">
                <a:srgbClr val="7C3AED">
                  <a:alpha val="30000"/>
                </a:srgbClr>
              </a:gs>
              <a:gs pos="100000">
                <a:srgbClr val="7C3AED">
                  <a:alpha val="10000"/>
                </a:srgbClr>
              </a:gs>
            </a:gsLst>
            <a:lin ang="2700000" scaled="1"/>
          </a:gradFill>
          <a:ln w="25400">
            <a:solidFill>
              <a:srgbClr val="7C3AED"/>
            </a:solidFill>
            <a:prstDash val="solid"/>
          </a:ln>
        </p:spPr>
      </p:sp>
      <p:sp>
        <p:nvSpPr>
          <p:cNvPr id="53" name="Shape 51"/>
          <p:cNvSpPr/>
          <p:nvPr/>
        </p:nvSpPr>
        <p:spPr bwMode="auto">
          <a:xfrm>
            <a:off x="8375600" y="13906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 fill="norm" stroke="1" extrusionOk="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7C3AED">
                  <a:alpha val="70000"/>
                </a:srgbClr>
              </a:gs>
            </a:gsLst>
            <a:lin ang="2700000" scaled="1"/>
          </a:gradFill>
          <a:ln/>
          <a:effectLst>
            <a:outerShdw blurRad="101600" dist="50800" dir="2700000" sx="100000" sy="100000" kx="0" ky="0" algn="bl" rotWithShape="0">
              <a:srgbClr val="FFFFFF">
                <a:alpha val="75000"/>
              </a:srgbClr>
            </a:outerShdw>
          </a:effectLst>
        </p:spPr>
      </p:sp>
      <p:sp>
        <p:nvSpPr>
          <p:cNvPr id="54" name="Shape 52"/>
          <p:cNvSpPr/>
          <p:nvPr/>
        </p:nvSpPr>
        <p:spPr bwMode="auto">
          <a:xfrm>
            <a:off x="8522047" y="155257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 fill="norm" stroke="1" extrusionOk="0">
                <a:moveTo>
                  <a:pt x="0" y="79307"/>
                </a:moveTo>
                <a:lnTo>
                  <a:pt x="0" y="267891"/>
                </a:lnTo>
                <a:cubicBezTo>
                  <a:pt x="0" y="277769"/>
                  <a:pt x="7981" y="285750"/>
                  <a:pt x="17859" y="285750"/>
                </a:cubicBezTo>
                <a:cubicBezTo>
                  <a:pt x="27738" y="285750"/>
                  <a:pt x="35719" y="277769"/>
                  <a:pt x="35719" y="267891"/>
                </a:cubicBezTo>
                <a:lnTo>
                  <a:pt x="35719" y="133945"/>
                </a:lnTo>
                <a:cubicBezTo>
                  <a:pt x="35719" y="124067"/>
                  <a:pt x="43700" y="116086"/>
                  <a:pt x="53578" y="116086"/>
                </a:cubicBezTo>
                <a:lnTo>
                  <a:pt x="267891" y="116086"/>
                </a:lnTo>
                <a:cubicBezTo>
                  <a:pt x="277769" y="116086"/>
                  <a:pt x="285750" y="124067"/>
                  <a:pt x="285750" y="133945"/>
                </a:cubicBezTo>
                <a:lnTo>
                  <a:pt x="285750" y="267891"/>
                </a:lnTo>
                <a:cubicBezTo>
                  <a:pt x="285750" y="277769"/>
                  <a:pt x="293731" y="285750"/>
                  <a:pt x="303609" y="285750"/>
                </a:cubicBezTo>
                <a:cubicBezTo>
                  <a:pt x="313488" y="285750"/>
                  <a:pt x="321469" y="277769"/>
                  <a:pt x="321469" y="267891"/>
                </a:cubicBezTo>
                <a:lnTo>
                  <a:pt x="321469" y="79307"/>
                </a:lnTo>
                <a:cubicBezTo>
                  <a:pt x="321469" y="63959"/>
                  <a:pt x="311646" y="50285"/>
                  <a:pt x="297024" y="45430"/>
                </a:cubicBezTo>
                <a:lnTo>
                  <a:pt x="169218" y="2846"/>
                </a:lnTo>
                <a:cubicBezTo>
                  <a:pt x="163692" y="1005"/>
                  <a:pt x="157776" y="1005"/>
                  <a:pt x="152251" y="2846"/>
                </a:cubicBezTo>
                <a:lnTo>
                  <a:pt x="24445" y="45430"/>
                </a:lnTo>
                <a:cubicBezTo>
                  <a:pt x="9823" y="50285"/>
                  <a:pt x="0" y="63959"/>
                  <a:pt x="0" y="79307"/>
                </a:cubicBezTo>
                <a:close/>
                <a:moveTo>
                  <a:pt x="258961" y="142875"/>
                </a:moveTo>
                <a:lnTo>
                  <a:pt x="62508" y="142875"/>
                </a:lnTo>
                <a:lnTo>
                  <a:pt x="62508" y="178594"/>
                </a:lnTo>
                <a:lnTo>
                  <a:pt x="258961" y="178594"/>
                </a:lnTo>
                <a:lnTo>
                  <a:pt x="258961" y="142875"/>
                </a:lnTo>
                <a:close/>
                <a:moveTo>
                  <a:pt x="62508" y="232172"/>
                </a:moveTo>
                <a:lnTo>
                  <a:pt x="258961" y="232172"/>
                </a:lnTo>
                <a:lnTo>
                  <a:pt x="258961" y="196453"/>
                </a:lnTo>
                <a:lnTo>
                  <a:pt x="62508" y="196453"/>
                </a:lnTo>
                <a:lnTo>
                  <a:pt x="62508" y="232172"/>
                </a:lnTo>
                <a:close/>
                <a:moveTo>
                  <a:pt x="258961" y="250031"/>
                </a:moveTo>
                <a:lnTo>
                  <a:pt x="62508" y="250031"/>
                </a:lnTo>
                <a:lnTo>
                  <a:pt x="62508" y="285750"/>
                </a:lnTo>
                <a:lnTo>
                  <a:pt x="258961" y="285750"/>
                </a:lnTo>
                <a:lnTo>
                  <a:pt x="258961" y="25003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5" name="Shape 53"/>
          <p:cNvSpPr/>
          <p:nvPr/>
        </p:nvSpPr>
        <p:spPr bwMode="auto">
          <a:xfrm>
            <a:off x="9137600" y="1419225"/>
            <a:ext cx="647700" cy="228600"/>
          </a:xfrm>
          <a:custGeom>
            <a:avLst/>
            <a:gdLst/>
            <a:ahLst/>
            <a:cxnLst/>
            <a:rect l="l" t="t" r="r" b="b"/>
            <a:pathLst>
              <a:path w="647700" h="228600" fill="norm" stroke="1" extrusionOk="0">
                <a:moveTo>
                  <a:pt x="114300" y="0"/>
                </a:moveTo>
                <a:lnTo>
                  <a:pt x="533400" y="0"/>
                </a:lnTo>
                <a:cubicBezTo>
                  <a:pt x="596484" y="0"/>
                  <a:pt x="647700" y="51216"/>
                  <a:pt x="647700" y="114300"/>
                </a:cubicBezTo>
                <a:lnTo>
                  <a:pt x="647700" y="114300"/>
                </a:lnTo>
                <a:cubicBezTo>
                  <a:pt x="647700" y="177384"/>
                  <a:pt x="596484" y="228600"/>
                  <a:pt x="5334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56" name="Text 54"/>
          <p:cNvSpPr/>
          <p:nvPr/>
        </p:nvSpPr>
        <p:spPr bwMode="auto">
          <a:xfrm flipH="0" flipV="0">
            <a:off x="9137599" y="1419224"/>
            <a:ext cx="866774" cy="228600"/>
          </a:xfrm>
          <a:prstGeom prst="rect">
            <a:avLst/>
          </a:prstGeom>
          <a:noFill/>
          <a:ln/>
        </p:spPr>
        <p:txBody>
          <a:bodyPr wrap="square" lIns="114300" tIns="38099" rIns="114300" bIns="38099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9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STAGE 3</a:t>
            </a:r>
            <a:endParaRPr lang="en-US" sz="1600"/>
          </a:p>
        </p:txBody>
      </p:sp>
      <p:sp>
        <p:nvSpPr>
          <p:cNvPr id="57" name="Text 55"/>
          <p:cNvSpPr/>
          <p:nvPr/>
        </p:nvSpPr>
        <p:spPr bwMode="auto">
          <a:xfrm flipH="0" flipV="0">
            <a:off x="9137599" y="1685925"/>
            <a:ext cx="2084179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Results Stage</a:t>
            </a:r>
            <a:endParaRPr lang="en-US" sz="1600"/>
          </a:p>
        </p:txBody>
      </p:sp>
      <p:sp>
        <p:nvSpPr>
          <p:cNvPr id="58" name="Shape 56"/>
          <p:cNvSpPr/>
          <p:nvPr/>
        </p:nvSpPr>
        <p:spPr bwMode="auto">
          <a:xfrm>
            <a:off x="8375600" y="2190750"/>
            <a:ext cx="3190875" cy="1257300"/>
          </a:xfrm>
          <a:custGeom>
            <a:avLst/>
            <a:gdLst/>
            <a:ahLst/>
            <a:cxnLst/>
            <a:rect l="l" t="t" r="r" b="b"/>
            <a:pathLst>
              <a:path w="3190875" h="1257300" fill="norm" stroke="1" extrusionOk="0">
                <a:moveTo>
                  <a:pt x="114301" y="0"/>
                </a:moveTo>
                <a:lnTo>
                  <a:pt x="3076574" y="0"/>
                </a:lnTo>
                <a:cubicBezTo>
                  <a:pt x="3139658" y="0"/>
                  <a:pt x="3190875" y="51217"/>
                  <a:pt x="3190875" y="114301"/>
                </a:cubicBezTo>
                <a:lnTo>
                  <a:pt x="3190875" y="1142999"/>
                </a:lnTo>
                <a:cubicBezTo>
                  <a:pt x="3190875" y="1206083"/>
                  <a:pt x="3139658" y="1257300"/>
                  <a:pt x="3076574" y="1257300"/>
                </a:cubicBezTo>
                <a:lnTo>
                  <a:pt x="114301" y="1257300"/>
                </a:lnTo>
                <a:cubicBezTo>
                  <a:pt x="51217" y="1257300"/>
                  <a:pt x="0" y="1206083"/>
                  <a:pt x="0" y="11429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59" name="Shape 57"/>
          <p:cNvSpPr/>
          <p:nvPr/>
        </p:nvSpPr>
        <p:spPr bwMode="auto">
          <a:xfrm>
            <a:off x="8547050" y="2381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fill="norm" stroke="1" extrusionOk="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60" name="Text 58"/>
          <p:cNvSpPr/>
          <p:nvPr/>
        </p:nvSpPr>
        <p:spPr bwMode="auto">
          <a:xfrm>
            <a:off x="8718500" y="2343150"/>
            <a:ext cx="2771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Layered Warehouse</a:t>
            </a:r>
            <a:endParaRPr lang="en-US" sz="1600"/>
          </a:p>
        </p:txBody>
      </p:sp>
      <p:sp>
        <p:nvSpPr>
          <p:cNvPr id="61" name="Text 59"/>
          <p:cNvSpPr/>
          <p:nvPr/>
        </p:nvSpPr>
        <p:spPr bwMode="auto">
          <a:xfrm>
            <a:off x="8528000" y="2647949"/>
            <a:ext cx="2952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05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Processed outputs written to DuckDB in layered schemas: raw data, processed data  and analytics marts with star schema for categorical data.</a:t>
            </a:r>
            <a:endParaRPr lang="en-US" sz="1600"/>
          </a:p>
        </p:txBody>
      </p:sp>
      <p:sp>
        <p:nvSpPr>
          <p:cNvPr id="62" name="Shape 60"/>
          <p:cNvSpPr/>
          <p:nvPr/>
        </p:nvSpPr>
        <p:spPr bwMode="auto">
          <a:xfrm>
            <a:off x="8375600" y="3602831"/>
            <a:ext cx="3190875" cy="1333500"/>
          </a:xfrm>
          <a:custGeom>
            <a:avLst/>
            <a:gdLst/>
            <a:ahLst/>
            <a:cxnLst/>
            <a:rect l="l" t="t" r="r" b="b"/>
            <a:pathLst>
              <a:path w="3190875" h="1333500" fill="norm" stroke="1" extrusionOk="0">
                <a:moveTo>
                  <a:pt x="114294" y="0"/>
                </a:moveTo>
                <a:lnTo>
                  <a:pt x="3076581" y="0"/>
                </a:lnTo>
                <a:cubicBezTo>
                  <a:pt x="3139661" y="0"/>
                  <a:pt x="3190875" y="51214"/>
                  <a:pt x="3190875" y="114294"/>
                </a:cubicBezTo>
                <a:lnTo>
                  <a:pt x="3190875" y="1219206"/>
                </a:lnTo>
                <a:cubicBezTo>
                  <a:pt x="3190875" y="1282286"/>
                  <a:pt x="3139661" y="1333500"/>
                  <a:pt x="3076581" y="1333500"/>
                </a:cubicBezTo>
                <a:lnTo>
                  <a:pt x="114294" y="1333500"/>
                </a:lnTo>
                <a:cubicBezTo>
                  <a:pt x="51214" y="1333500"/>
                  <a:pt x="0" y="1282286"/>
                  <a:pt x="0" y="121920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63" name="Shape 61"/>
          <p:cNvSpPr/>
          <p:nvPr/>
        </p:nvSpPr>
        <p:spPr bwMode="auto">
          <a:xfrm>
            <a:off x="8547050" y="379333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 fill="norm" stroke="1" extrusionOk="0">
                <a:moveTo>
                  <a:pt x="84534" y="-387"/>
                </a:moveTo>
                <a:cubicBezTo>
                  <a:pt x="79385" y="-3364"/>
                  <a:pt x="73015" y="-3364"/>
                  <a:pt x="67866" y="-387"/>
                </a:cubicBezTo>
                <a:lnTo>
                  <a:pt x="42803" y="14079"/>
                </a:lnTo>
                <a:cubicBezTo>
                  <a:pt x="37654" y="17056"/>
                  <a:pt x="34469" y="22562"/>
                  <a:pt x="34469" y="28515"/>
                </a:cubicBezTo>
                <a:lnTo>
                  <a:pt x="34469" y="58847"/>
                </a:lnTo>
                <a:lnTo>
                  <a:pt x="8186" y="74027"/>
                </a:lnTo>
                <a:cubicBezTo>
                  <a:pt x="3036" y="77004"/>
                  <a:pt x="-149" y="82510"/>
                  <a:pt x="-149" y="88463"/>
                </a:cubicBezTo>
                <a:lnTo>
                  <a:pt x="-149" y="117425"/>
                </a:lnTo>
                <a:cubicBezTo>
                  <a:pt x="-149" y="123379"/>
                  <a:pt x="3036" y="128885"/>
                  <a:pt x="8186" y="131862"/>
                </a:cubicBezTo>
                <a:lnTo>
                  <a:pt x="33278" y="146328"/>
                </a:lnTo>
                <a:cubicBezTo>
                  <a:pt x="38427" y="149304"/>
                  <a:pt x="44797" y="149304"/>
                  <a:pt x="49947" y="146328"/>
                </a:cubicBezTo>
                <a:lnTo>
                  <a:pt x="76230" y="131147"/>
                </a:lnTo>
                <a:lnTo>
                  <a:pt x="102513" y="146328"/>
                </a:lnTo>
                <a:cubicBezTo>
                  <a:pt x="107662" y="149304"/>
                  <a:pt x="114032" y="149304"/>
                  <a:pt x="119182" y="146328"/>
                </a:cubicBezTo>
                <a:lnTo>
                  <a:pt x="144214" y="131862"/>
                </a:lnTo>
                <a:cubicBezTo>
                  <a:pt x="149364" y="128885"/>
                  <a:pt x="152549" y="123379"/>
                  <a:pt x="152549" y="117425"/>
                </a:cubicBezTo>
                <a:lnTo>
                  <a:pt x="152549" y="88463"/>
                </a:lnTo>
                <a:cubicBezTo>
                  <a:pt x="152549" y="82510"/>
                  <a:pt x="149364" y="77004"/>
                  <a:pt x="144214" y="74027"/>
                </a:cubicBezTo>
                <a:lnTo>
                  <a:pt x="117931" y="58847"/>
                </a:lnTo>
                <a:lnTo>
                  <a:pt x="117931" y="28515"/>
                </a:lnTo>
                <a:cubicBezTo>
                  <a:pt x="117931" y="22562"/>
                  <a:pt x="114746" y="17056"/>
                  <a:pt x="109597" y="14079"/>
                </a:cubicBezTo>
                <a:lnTo>
                  <a:pt x="84534" y="-387"/>
                </a:lnTo>
                <a:close/>
                <a:moveTo>
                  <a:pt x="69056" y="87094"/>
                </a:moveTo>
                <a:lnTo>
                  <a:pt x="69056" y="118795"/>
                </a:lnTo>
                <a:lnTo>
                  <a:pt x="42773" y="133975"/>
                </a:lnTo>
                <a:cubicBezTo>
                  <a:pt x="42416" y="134183"/>
                  <a:pt x="41999" y="134303"/>
                  <a:pt x="41583" y="134303"/>
                </a:cubicBezTo>
                <a:lnTo>
                  <a:pt x="41583" y="102959"/>
                </a:lnTo>
                <a:lnTo>
                  <a:pt x="69056" y="87094"/>
                </a:lnTo>
                <a:close/>
                <a:moveTo>
                  <a:pt x="137934" y="87273"/>
                </a:moveTo>
                <a:cubicBezTo>
                  <a:pt x="138142" y="87630"/>
                  <a:pt x="138261" y="88047"/>
                  <a:pt x="138261" y="88463"/>
                </a:cubicBezTo>
                <a:lnTo>
                  <a:pt x="138261" y="117425"/>
                </a:lnTo>
                <a:cubicBezTo>
                  <a:pt x="138261" y="118289"/>
                  <a:pt x="137815" y="119063"/>
                  <a:pt x="137071" y="119479"/>
                </a:cubicBezTo>
                <a:lnTo>
                  <a:pt x="111978" y="133945"/>
                </a:lnTo>
                <a:cubicBezTo>
                  <a:pt x="111621" y="134154"/>
                  <a:pt x="111204" y="134273"/>
                  <a:pt x="110788" y="134273"/>
                </a:cubicBezTo>
                <a:lnTo>
                  <a:pt x="110788" y="102930"/>
                </a:lnTo>
                <a:lnTo>
                  <a:pt x="137934" y="87273"/>
                </a:lnTo>
                <a:close/>
                <a:moveTo>
                  <a:pt x="103674" y="28515"/>
                </a:moveTo>
                <a:lnTo>
                  <a:pt x="103674" y="58847"/>
                </a:lnTo>
                <a:lnTo>
                  <a:pt x="76200" y="74712"/>
                </a:lnTo>
                <a:lnTo>
                  <a:pt x="76200" y="43011"/>
                </a:lnTo>
                <a:lnTo>
                  <a:pt x="103346" y="27355"/>
                </a:lnTo>
                <a:cubicBezTo>
                  <a:pt x="103555" y="27712"/>
                  <a:pt x="103674" y="28129"/>
                  <a:pt x="103674" y="28545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64" name="Text 62"/>
          <p:cNvSpPr/>
          <p:nvPr/>
        </p:nvSpPr>
        <p:spPr bwMode="auto">
          <a:xfrm>
            <a:off x="8718500" y="3755231"/>
            <a:ext cx="2771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Three Clear Layers</a:t>
            </a:r>
            <a:endParaRPr lang="en-US" sz="1600"/>
          </a:p>
        </p:txBody>
      </p:sp>
      <p:sp>
        <p:nvSpPr>
          <p:cNvPr id="65" name="Shape 63"/>
          <p:cNvSpPr/>
          <p:nvPr/>
        </p:nvSpPr>
        <p:spPr bwMode="auto">
          <a:xfrm>
            <a:off x="8528000" y="411718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 fill="norm" stroke="1" extrusionOk="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66" name="Text 64"/>
          <p:cNvSpPr/>
          <p:nvPr/>
        </p:nvSpPr>
        <p:spPr bwMode="auto">
          <a:xfrm flipH="0" flipV="0">
            <a:off x="8680399" y="4060029"/>
            <a:ext cx="1782608" cy="190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5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Raw:</a:t>
            </a:r>
            <a:r>
              <a:rPr lang="en-US" sz="105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Original data snapshots</a:t>
            </a:r>
            <a:endParaRPr lang="en-US" sz="1600"/>
          </a:p>
        </p:txBody>
      </p:sp>
      <p:sp>
        <p:nvSpPr>
          <p:cNvPr id="67" name="Shape 65"/>
          <p:cNvSpPr/>
          <p:nvPr/>
        </p:nvSpPr>
        <p:spPr bwMode="auto">
          <a:xfrm>
            <a:off x="8528000" y="438388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 fill="norm" stroke="1" extrusionOk="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68" name="Text 66"/>
          <p:cNvSpPr/>
          <p:nvPr/>
        </p:nvSpPr>
        <p:spPr bwMode="auto">
          <a:xfrm flipH="0" flipV="0">
            <a:off x="8680399" y="4326730"/>
            <a:ext cx="2234642" cy="190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5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Processed:</a:t>
            </a:r>
            <a:r>
              <a:rPr lang="en-US" sz="105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Cleaned &amp; transformed</a:t>
            </a:r>
            <a:endParaRPr lang="en-US" sz="1600"/>
          </a:p>
        </p:txBody>
      </p:sp>
      <p:sp>
        <p:nvSpPr>
          <p:cNvPr id="69" name="Shape 67"/>
          <p:cNvSpPr/>
          <p:nvPr/>
        </p:nvSpPr>
        <p:spPr bwMode="auto">
          <a:xfrm>
            <a:off x="8528000" y="465058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 fill="norm" stroke="1" extrusionOk="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70" name="Text 68"/>
          <p:cNvSpPr/>
          <p:nvPr/>
        </p:nvSpPr>
        <p:spPr bwMode="auto">
          <a:xfrm flipH="0" flipV="0">
            <a:off x="8680399" y="4593430"/>
            <a:ext cx="2396082" cy="190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5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Analytics:</a:t>
            </a:r>
            <a:r>
              <a:rPr lang="en-US" sz="105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Summaries &amp; star schema</a:t>
            </a:r>
            <a:endParaRPr lang="en-US" sz="1600"/>
          </a:p>
        </p:txBody>
      </p:sp>
      <p:sp>
        <p:nvSpPr>
          <p:cNvPr id="71" name="Shape 69"/>
          <p:cNvSpPr/>
          <p:nvPr/>
        </p:nvSpPr>
        <p:spPr bwMode="auto">
          <a:xfrm>
            <a:off x="8394650" y="5088731"/>
            <a:ext cx="3171825" cy="685800"/>
          </a:xfrm>
          <a:custGeom>
            <a:avLst/>
            <a:gdLst/>
            <a:ahLst/>
            <a:cxnLst/>
            <a:rect l="l" t="t" r="r" b="b"/>
            <a:pathLst>
              <a:path w="3171825" h="685800" fill="norm" stroke="1" extrusionOk="0">
                <a:moveTo>
                  <a:pt x="38100" y="0"/>
                </a:moveTo>
                <a:lnTo>
                  <a:pt x="3057523" y="0"/>
                </a:lnTo>
                <a:cubicBezTo>
                  <a:pt x="3120608" y="0"/>
                  <a:pt x="3171825" y="51217"/>
                  <a:pt x="3171825" y="114302"/>
                </a:cubicBezTo>
                <a:lnTo>
                  <a:pt x="3171825" y="571498"/>
                </a:lnTo>
                <a:cubicBezTo>
                  <a:pt x="3171825" y="634583"/>
                  <a:pt x="3120608" y="685800"/>
                  <a:pt x="3057523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7C3AED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2" name="Shape 70"/>
          <p:cNvSpPr/>
          <p:nvPr/>
        </p:nvSpPr>
        <p:spPr bwMode="auto">
          <a:xfrm>
            <a:off x="8394650" y="5088731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 fill="norm" stroke="1" extrusionOk="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73" name="Shape 71"/>
          <p:cNvSpPr/>
          <p:nvPr/>
        </p:nvSpPr>
        <p:spPr bwMode="auto">
          <a:xfrm>
            <a:off x="8593485" y="526970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 fill="norm" stroke="1" extrusionOk="0">
                <a:moveTo>
                  <a:pt x="0" y="56257"/>
                </a:moveTo>
                <a:cubicBezTo>
                  <a:pt x="0" y="38989"/>
                  <a:pt x="13986" y="25003"/>
                  <a:pt x="31254" y="25003"/>
                </a:cubicBezTo>
                <a:lnTo>
                  <a:pt x="33337" y="25003"/>
                </a:lnTo>
                <a:cubicBezTo>
                  <a:pt x="37947" y="25003"/>
                  <a:pt x="41672" y="28728"/>
                  <a:pt x="41672" y="33337"/>
                </a:cubicBezTo>
                <a:cubicBezTo>
                  <a:pt x="41672" y="37947"/>
                  <a:pt x="37947" y="41672"/>
                  <a:pt x="33337" y="41672"/>
                </a:cubicBezTo>
                <a:lnTo>
                  <a:pt x="31254" y="41672"/>
                </a:lnTo>
                <a:cubicBezTo>
                  <a:pt x="23206" y="41672"/>
                  <a:pt x="16669" y="48209"/>
                  <a:pt x="16669" y="56257"/>
                </a:cubicBezTo>
                <a:lnTo>
                  <a:pt x="16669" y="58341"/>
                </a:lnTo>
                <a:lnTo>
                  <a:pt x="33337" y="58341"/>
                </a:lnTo>
                <a:cubicBezTo>
                  <a:pt x="42531" y="58341"/>
                  <a:pt x="50006" y="65816"/>
                  <a:pt x="50006" y="75009"/>
                </a:cubicBezTo>
                <a:lnTo>
                  <a:pt x="50006" y="91678"/>
                </a:lnTo>
                <a:cubicBezTo>
                  <a:pt x="50006" y="100872"/>
                  <a:pt x="42531" y="108347"/>
                  <a:pt x="33337" y="108347"/>
                </a:cubicBezTo>
                <a:lnTo>
                  <a:pt x="16669" y="108347"/>
                </a:lnTo>
                <a:cubicBezTo>
                  <a:pt x="7475" y="108347"/>
                  <a:pt x="0" y="100872"/>
                  <a:pt x="0" y="91678"/>
                </a:cubicBezTo>
                <a:lnTo>
                  <a:pt x="0" y="56257"/>
                </a:lnTo>
                <a:close/>
                <a:moveTo>
                  <a:pt x="66675" y="56257"/>
                </a:moveTo>
                <a:cubicBezTo>
                  <a:pt x="66675" y="38989"/>
                  <a:pt x="80661" y="25003"/>
                  <a:pt x="97929" y="25003"/>
                </a:cubicBezTo>
                <a:lnTo>
                  <a:pt x="100013" y="25003"/>
                </a:lnTo>
                <a:cubicBezTo>
                  <a:pt x="104622" y="25003"/>
                  <a:pt x="108347" y="28728"/>
                  <a:pt x="108347" y="33337"/>
                </a:cubicBezTo>
                <a:cubicBezTo>
                  <a:pt x="108347" y="37947"/>
                  <a:pt x="104622" y="41672"/>
                  <a:pt x="100013" y="41672"/>
                </a:cubicBezTo>
                <a:lnTo>
                  <a:pt x="97929" y="41672"/>
                </a:lnTo>
                <a:cubicBezTo>
                  <a:pt x="89881" y="41672"/>
                  <a:pt x="83344" y="48209"/>
                  <a:pt x="83344" y="56257"/>
                </a:cubicBezTo>
                <a:lnTo>
                  <a:pt x="83344" y="58341"/>
                </a:lnTo>
                <a:lnTo>
                  <a:pt x="100013" y="58341"/>
                </a:lnTo>
                <a:cubicBezTo>
                  <a:pt x="109206" y="58341"/>
                  <a:pt x="116681" y="65816"/>
                  <a:pt x="116681" y="75009"/>
                </a:cubicBezTo>
                <a:lnTo>
                  <a:pt x="116681" y="91678"/>
                </a:lnTo>
                <a:cubicBezTo>
                  <a:pt x="116681" y="100872"/>
                  <a:pt x="109206" y="108347"/>
                  <a:pt x="100013" y="108347"/>
                </a:cubicBezTo>
                <a:lnTo>
                  <a:pt x="83344" y="108347"/>
                </a:lnTo>
                <a:cubicBezTo>
                  <a:pt x="74150" y="108347"/>
                  <a:pt x="66675" y="100872"/>
                  <a:pt x="66675" y="91678"/>
                </a:cubicBezTo>
                <a:lnTo>
                  <a:pt x="66675" y="56257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74" name="Text 72"/>
          <p:cNvSpPr/>
          <p:nvPr/>
        </p:nvSpPr>
        <p:spPr bwMode="auto">
          <a:xfrm>
            <a:off x="8794700" y="5241131"/>
            <a:ext cx="2686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5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Query both raw and aggregated values through web interface or direct SQL queries.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7">
    <p:bg>
      <p:bgPr shadeToTitle="0">
        <a:solidFill>
          <a:srgbClr val="1A0F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317500" y="33337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 fill="norm" stroke="1" extrusionOk="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 bwMode="auto">
          <a:xfrm>
            <a:off x="432594" y="4603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 fill="norm" stroke="1" extrusionOk="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 bwMode="auto">
          <a:xfrm flipH="0" flipV="0">
            <a:off x="888999" y="317499"/>
            <a:ext cx="5929312" cy="380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00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Technical Implementation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 bwMode="auto">
          <a:xfrm>
            <a:off x="889000" y="762000"/>
            <a:ext cx="1016000" cy="31750"/>
          </a:xfrm>
          <a:custGeom>
            <a:avLst/>
            <a:gdLst/>
            <a:ahLst/>
            <a:cxnLst/>
            <a:rect l="l" t="t" r="r" b="b"/>
            <a:pathLst>
              <a:path w="1016000" h="31750" fill="norm" stroke="1" extrusionOk="0">
                <a:moveTo>
                  <a:pt x="15875" y="0"/>
                </a:moveTo>
                <a:lnTo>
                  <a:pt x="1000125" y="0"/>
                </a:lnTo>
                <a:cubicBezTo>
                  <a:pt x="1008887" y="0"/>
                  <a:pt x="1016000" y="7113"/>
                  <a:pt x="1016000" y="15875"/>
                </a:cubicBezTo>
                <a:lnTo>
                  <a:pt x="1016000" y="15875"/>
                </a:lnTo>
                <a:cubicBezTo>
                  <a:pt x="1016000" y="24637"/>
                  <a:pt x="1008887" y="31750"/>
                  <a:pt x="1000125" y="31750"/>
                </a:cubicBezTo>
                <a:lnTo>
                  <a:pt x="15875" y="31750"/>
                </a:lnTo>
                <a:cubicBezTo>
                  <a:pt x="7113" y="31750"/>
                  <a:pt x="0" y="24637"/>
                  <a:pt x="0" y="15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 bwMode="auto">
          <a:xfrm>
            <a:off x="321469" y="956469"/>
            <a:ext cx="5691188" cy="2865438"/>
          </a:xfrm>
          <a:custGeom>
            <a:avLst/>
            <a:gdLst/>
            <a:ahLst/>
            <a:cxnLst/>
            <a:rect l="l" t="t" r="r" b="b"/>
            <a:pathLst>
              <a:path w="5691188" h="2865438" fill="norm" stroke="1" extrusionOk="0">
                <a:moveTo>
                  <a:pt x="126996" y="0"/>
                </a:moveTo>
                <a:lnTo>
                  <a:pt x="5564191" y="0"/>
                </a:lnTo>
                <a:cubicBezTo>
                  <a:pt x="5634329" y="0"/>
                  <a:pt x="5691188" y="56858"/>
                  <a:pt x="5691188" y="126996"/>
                </a:cubicBezTo>
                <a:lnTo>
                  <a:pt x="5691188" y="2738441"/>
                </a:lnTo>
                <a:cubicBezTo>
                  <a:pt x="5691188" y="2808579"/>
                  <a:pt x="5634329" y="2865438"/>
                  <a:pt x="5564191" y="2865438"/>
                </a:cubicBezTo>
                <a:lnTo>
                  <a:pt x="126996" y="2865438"/>
                </a:lnTo>
                <a:cubicBezTo>
                  <a:pt x="56858" y="2865438"/>
                  <a:pt x="0" y="2808579"/>
                  <a:pt x="0" y="2738441"/>
                </a:cubicBezTo>
                <a:lnTo>
                  <a:pt x="0" y="126996"/>
                </a:lnTo>
                <a:cubicBezTo>
                  <a:pt x="0" y="56905"/>
                  <a:pt x="56905" y="0"/>
                  <a:pt x="126996" y="0"/>
                </a:cubicBezTo>
                <a:close/>
              </a:path>
            </a:pathLst>
          </a:custGeom>
          <a:solidFill>
            <a:srgbClr val="4C1D95">
              <a:alpha val="30194"/>
            </a:srgbClr>
          </a:solidFill>
          <a:ln w="12700">
            <a:solidFill>
              <a:srgbClr val="7C3AED">
                <a:alpha val="30194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 bwMode="auto">
          <a:xfrm>
            <a:off x="484186" y="11191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fill="norm" stroke="1" extrusionOk="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8" name="Shape 6"/>
          <p:cNvSpPr/>
          <p:nvPr/>
        </p:nvSpPr>
        <p:spPr bwMode="auto">
          <a:xfrm>
            <a:off x="595313" y="12303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 fill="norm" stroke="1" extrusionOk="0">
                <a:moveTo>
                  <a:pt x="19844" y="9922"/>
                </a:moveTo>
                <a:cubicBezTo>
                  <a:pt x="8899" y="9922"/>
                  <a:pt x="0" y="18821"/>
                  <a:pt x="0" y="29766"/>
                </a:cubicBezTo>
                <a:lnTo>
                  <a:pt x="0" y="109141"/>
                </a:lnTo>
                <a:cubicBezTo>
                  <a:pt x="0" y="120086"/>
                  <a:pt x="8899" y="128984"/>
                  <a:pt x="19844" y="128984"/>
                </a:cubicBezTo>
                <a:lnTo>
                  <a:pt x="64492" y="128984"/>
                </a:lnTo>
                <a:lnTo>
                  <a:pt x="59531" y="143867"/>
                </a:lnTo>
                <a:lnTo>
                  <a:pt x="37207" y="143867"/>
                </a:lnTo>
                <a:cubicBezTo>
                  <a:pt x="33083" y="143867"/>
                  <a:pt x="29766" y="147185"/>
                  <a:pt x="29766" y="151309"/>
                </a:cubicBezTo>
                <a:cubicBezTo>
                  <a:pt x="29766" y="155432"/>
                  <a:pt x="33083" y="158750"/>
                  <a:pt x="37207" y="158750"/>
                </a:cubicBezTo>
                <a:lnTo>
                  <a:pt x="121543" y="158750"/>
                </a:lnTo>
                <a:cubicBezTo>
                  <a:pt x="125667" y="158750"/>
                  <a:pt x="128984" y="155432"/>
                  <a:pt x="128984" y="151309"/>
                </a:cubicBezTo>
                <a:cubicBezTo>
                  <a:pt x="128984" y="147185"/>
                  <a:pt x="125667" y="143867"/>
                  <a:pt x="121543" y="143867"/>
                </a:cubicBezTo>
                <a:lnTo>
                  <a:pt x="99219" y="143867"/>
                </a:lnTo>
                <a:lnTo>
                  <a:pt x="94258" y="128984"/>
                </a:lnTo>
                <a:lnTo>
                  <a:pt x="138906" y="128984"/>
                </a:lnTo>
                <a:cubicBezTo>
                  <a:pt x="149851" y="128984"/>
                  <a:pt x="158750" y="120086"/>
                  <a:pt x="158750" y="109141"/>
                </a:cubicBezTo>
                <a:lnTo>
                  <a:pt x="158750" y="29766"/>
                </a:lnTo>
                <a:cubicBezTo>
                  <a:pt x="158750" y="18821"/>
                  <a:pt x="149851" y="9922"/>
                  <a:pt x="138906" y="9922"/>
                </a:cubicBezTo>
                <a:lnTo>
                  <a:pt x="19844" y="9922"/>
                </a:lnTo>
                <a:close/>
                <a:moveTo>
                  <a:pt x="29766" y="29766"/>
                </a:moveTo>
                <a:lnTo>
                  <a:pt x="128984" y="29766"/>
                </a:lnTo>
                <a:cubicBezTo>
                  <a:pt x="134472" y="29766"/>
                  <a:pt x="138906" y="34199"/>
                  <a:pt x="138906" y="39688"/>
                </a:cubicBezTo>
                <a:lnTo>
                  <a:pt x="138906" y="89297"/>
                </a:lnTo>
                <a:cubicBezTo>
                  <a:pt x="138906" y="94785"/>
                  <a:pt x="134472" y="99219"/>
                  <a:pt x="128984" y="99219"/>
                </a:cubicBezTo>
                <a:lnTo>
                  <a:pt x="29766" y="99219"/>
                </a:lnTo>
                <a:cubicBezTo>
                  <a:pt x="24278" y="99219"/>
                  <a:pt x="19844" y="94785"/>
                  <a:pt x="19844" y="89297"/>
                </a:cubicBezTo>
                <a:lnTo>
                  <a:pt x="19844" y="39688"/>
                </a:lnTo>
                <a:cubicBezTo>
                  <a:pt x="19844" y="34199"/>
                  <a:pt x="24278" y="29766"/>
                  <a:pt x="29766" y="29766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 bwMode="auto">
          <a:xfrm flipH="0" flipV="0">
            <a:off x="960437" y="1182687"/>
            <a:ext cx="3157951" cy="25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50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Frontend Implementation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 bwMode="auto">
          <a:xfrm>
            <a:off x="484186" y="1627188"/>
            <a:ext cx="5429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Built with </a:t>
            </a:r>
            <a:r>
              <a:rPr lang="en-US" sz="100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React</a:t>
            </a: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and organized into four clear pages. Every screen is designed to be simple and informative so users always know what is happening.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 bwMode="auto">
          <a:xfrm>
            <a:off x="484186" y="2166938"/>
            <a:ext cx="2635250" cy="698500"/>
          </a:xfrm>
          <a:custGeom>
            <a:avLst/>
            <a:gdLst/>
            <a:ahLst/>
            <a:cxnLst/>
            <a:rect l="l" t="t" r="r" b="b"/>
            <a:pathLst>
              <a:path w="2635250" h="698500" fill="norm" stroke="1" extrusionOk="0">
                <a:moveTo>
                  <a:pt x="63501" y="0"/>
                </a:moveTo>
                <a:lnTo>
                  <a:pt x="2571749" y="0"/>
                </a:lnTo>
                <a:cubicBezTo>
                  <a:pt x="2606820" y="0"/>
                  <a:pt x="2635250" y="28430"/>
                  <a:pt x="2635250" y="63501"/>
                </a:cubicBezTo>
                <a:lnTo>
                  <a:pt x="2635250" y="634999"/>
                </a:lnTo>
                <a:cubicBezTo>
                  <a:pt x="2635250" y="670070"/>
                  <a:pt x="2606820" y="698500"/>
                  <a:pt x="2571749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 bwMode="auto">
          <a:xfrm>
            <a:off x="1732359" y="2262188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 fill="norm" stroke="1" extrusionOk="0">
                <a:moveTo>
                  <a:pt x="119062" y="29766"/>
                </a:moveTo>
                <a:lnTo>
                  <a:pt x="79375" y="29766"/>
                </a:lnTo>
                <a:lnTo>
                  <a:pt x="79375" y="69453"/>
                </a:lnTo>
                <a:lnTo>
                  <a:pt x="119062" y="69453"/>
                </a:lnTo>
                <a:lnTo>
                  <a:pt x="119062" y="29766"/>
                </a:lnTo>
                <a:close/>
                <a:moveTo>
                  <a:pt x="138906" y="69453"/>
                </a:moveTo>
                <a:lnTo>
                  <a:pt x="138906" y="128984"/>
                </a:lnTo>
                <a:cubicBezTo>
                  <a:pt x="138906" y="139929"/>
                  <a:pt x="130008" y="148828"/>
                  <a:pt x="119062" y="148828"/>
                </a:cubicBezTo>
                <a:lnTo>
                  <a:pt x="19844" y="148828"/>
                </a:lnTo>
                <a:cubicBezTo>
                  <a:pt x="8899" y="148828"/>
                  <a:pt x="0" y="139929"/>
                  <a:pt x="0" y="128984"/>
                </a:cubicBezTo>
                <a:lnTo>
                  <a:pt x="0" y="29766"/>
                </a:lnTo>
                <a:cubicBezTo>
                  <a:pt x="0" y="18821"/>
                  <a:pt x="8899" y="9922"/>
                  <a:pt x="19844" y="9922"/>
                </a:cubicBezTo>
                <a:lnTo>
                  <a:pt x="119062" y="9922"/>
                </a:lnTo>
                <a:cubicBezTo>
                  <a:pt x="130008" y="9922"/>
                  <a:pt x="138906" y="18821"/>
                  <a:pt x="138906" y="29766"/>
                </a:cubicBezTo>
                <a:lnTo>
                  <a:pt x="138906" y="69453"/>
                </a:lnTo>
                <a:close/>
                <a:moveTo>
                  <a:pt x="19844" y="89297"/>
                </a:moveTo>
                <a:lnTo>
                  <a:pt x="19844" y="128984"/>
                </a:lnTo>
                <a:lnTo>
                  <a:pt x="59531" y="128984"/>
                </a:lnTo>
                <a:lnTo>
                  <a:pt x="59531" y="89297"/>
                </a:lnTo>
                <a:lnTo>
                  <a:pt x="19844" y="89297"/>
                </a:lnTo>
                <a:close/>
                <a:moveTo>
                  <a:pt x="59531" y="69453"/>
                </a:moveTo>
                <a:lnTo>
                  <a:pt x="59531" y="29766"/>
                </a:lnTo>
                <a:lnTo>
                  <a:pt x="19844" y="29766"/>
                </a:lnTo>
                <a:lnTo>
                  <a:pt x="19844" y="69453"/>
                </a:lnTo>
                <a:lnTo>
                  <a:pt x="59531" y="69453"/>
                </a:lnTo>
                <a:close/>
                <a:moveTo>
                  <a:pt x="79375" y="89297"/>
                </a:moveTo>
                <a:lnTo>
                  <a:pt x="79375" y="128984"/>
                </a:lnTo>
                <a:lnTo>
                  <a:pt x="119062" y="128984"/>
                </a:lnTo>
                <a:lnTo>
                  <a:pt x="119062" y="89297"/>
                </a:lnTo>
                <a:lnTo>
                  <a:pt x="79375" y="89297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 bwMode="auto">
          <a:xfrm>
            <a:off x="551656" y="2484438"/>
            <a:ext cx="250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9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Dashboard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 bwMode="auto">
          <a:xfrm>
            <a:off x="555625" y="2643188"/>
            <a:ext cx="2492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75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Three-stage overview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 bwMode="auto">
          <a:xfrm>
            <a:off x="3214688" y="2166938"/>
            <a:ext cx="2635250" cy="698500"/>
          </a:xfrm>
          <a:custGeom>
            <a:avLst/>
            <a:gdLst/>
            <a:ahLst/>
            <a:cxnLst/>
            <a:rect l="l" t="t" r="r" b="b"/>
            <a:pathLst>
              <a:path w="2635250" h="698500" fill="norm" stroke="1" extrusionOk="0">
                <a:moveTo>
                  <a:pt x="63501" y="0"/>
                </a:moveTo>
                <a:lnTo>
                  <a:pt x="2571749" y="0"/>
                </a:lnTo>
                <a:cubicBezTo>
                  <a:pt x="2606820" y="0"/>
                  <a:pt x="2635250" y="28430"/>
                  <a:pt x="2635250" y="63501"/>
                </a:cubicBezTo>
                <a:lnTo>
                  <a:pt x="2635250" y="634999"/>
                </a:lnTo>
                <a:cubicBezTo>
                  <a:pt x="2635250" y="670070"/>
                  <a:pt x="2606820" y="698500"/>
                  <a:pt x="2571749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16" name="Shape 14"/>
          <p:cNvSpPr/>
          <p:nvPr/>
        </p:nvSpPr>
        <p:spPr bwMode="auto">
          <a:xfrm>
            <a:off x="4462859" y="2262188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 fill="norm" stroke="1" extrusionOk="0">
                <a:moveTo>
                  <a:pt x="79375" y="33889"/>
                </a:moveTo>
                <a:lnTo>
                  <a:pt x="79375" y="99219"/>
                </a:lnTo>
                <a:cubicBezTo>
                  <a:pt x="79375" y="104707"/>
                  <a:pt x="74941" y="109141"/>
                  <a:pt x="69453" y="109141"/>
                </a:cubicBezTo>
                <a:cubicBezTo>
                  <a:pt x="63965" y="109141"/>
                  <a:pt x="59531" y="104707"/>
                  <a:pt x="59531" y="99219"/>
                </a:cubicBezTo>
                <a:lnTo>
                  <a:pt x="59531" y="33889"/>
                </a:lnTo>
                <a:lnTo>
                  <a:pt x="46695" y="46726"/>
                </a:lnTo>
                <a:cubicBezTo>
                  <a:pt x="42819" y="50602"/>
                  <a:pt x="36525" y="50602"/>
                  <a:pt x="32649" y="46726"/>
                </a:cubicBezTo>
                <a:cubicBezTo>
                  <a:pt x="28773" y="42850"/>
                  <a:pt x="28773" y="36556"/>
                  <a:pt x="32649" y="32680"/>
                </a:cubicBezTo>
                <a:lnTo>
                  <a:pt x="62415" y="2915"/>
                </a:lnTo>
                <a:cubicBezTo>
                  <a:pt x="66291" y="-961"/>
                  <a:pt x="72585" y="-961"/>
                  <a:pt x="76460" y="2915"/>
                </a:cubicBezTo>
                <a:lnTo>
                  <a:pt x="106226" y="32680"/>
                </a:lnTo>
                <a:cubicBezTo>
                  <a:pt x="110102" y="36556"/>
                  <a:pt x="110102" y="42850"/>
                  <a:pt x="106226" y="46726"/>
                </a:cubicBezTo>
                <a:cubicBezTo>
                  <a:pt x="102350" y="50602"/>
                  <a:pt x="96056" y="50602"/>
                  <a:pt x="92180" y="46726"/>
                </a:cubicBezTo>
                <a:lnTo>
                  <a:pt x="79375" y="33889"/>
                </a:lnTo>
                <a:close/>
                <a:moveTo>
                  <a:pt x="69453" y="124023"/>
                </a:moveTo>
                <a:cubicBezTo>
                  <a:pt x="83158" y="124023"/>
                  <a:pt x="94258" y="112923"/>
                  <a:pt x="94258" y="99219"/>
                </a:cubicBezTo>
                <a:lnTo>
                  <a:pt x="119062" y="99219"/>
                </a:lnTo>
                <a:cubicBezTo>
                  <a:pt x="130008" y="99219"/>
                  <a:pt x="138906" y="108117"/>
                  <a:pt x="138906" y="119062"/>
                </a:cubicBezTo>
                <a:lnTo>
                  <a:pt x="138906" y="128984"/>
                </a:lnTo>
                <a:cubicBezTo>
                  <a:pt x="138906" y="139929"/>
                  <a:pt x="130008" y="148828"/>
                  <a:pt x="119062" y="148828"/>
                </a:cubicBezTo>
                <a:lnTo>
                  <a:pt x="19844" y="148828"/>
                </a:lnTo>
                <a:cubicBezTo>
                  <a:pt x="8899" y="148828"/>
                  <a:pt x="0" y="139929"/>
                  <a:pt x="0" y="128984"/>
                </a:cubicBezTo>
                <a:lnTo>
                  <a:pt x="0" y="119062"/>
                </a:lnTo>
                <a:cubicBezTo>
                  <a:pt x="0" y="108117"/>
                  <a:pt x="8899" y="99219"/>
                  <a:pt x="19844" y="99219"/>
                </a:cubicBezTo>
                <a:lnTo>
                  <a:pt x="44648" y="99219"/>
                </a:lnTo>
                <a:cubicBezTo>
                  <a:pt x="44648" y="112923"/>
                  <a:pt x="55749" y="124023"/>
                  <a:pt x="69453" y="124023"/>
                </a:cubicBezTo>
                <a:close/>
                <a:moveTo>
                  <a:pt x="114102" y="131465"/>
                </a:moveTo>
                <a:cubicBezTo>
                  <a:pt x="118209" y="131465"/>
                  <a:pt x="121543" y="128130"/>
                  <a:pt x="121543" y="124023"/>
                </a:cubicBezTo>
                <a:cubicBezTo>
                  <a:pt x="121543" y="119916"/>
                  <a:pt x="118209" y="116582"/>
                  <a:pt x="114102" y="116582"/>
                </a:cubicBezTo>
                <a:cubicBezTo>
                  <a:pt x="109995" y="116582"/>
                  <a:pt x="106660" y="119916"/>
                  <a:pt x="106660" y="124023"/>
                </a:cubicBezTo>
                <a:cubicBezTo>
                  <a:pt x="106660" y="128130"/>
                  <a:pt x="109995" y="131465"/>
                  <a:pt x="114102" y="131465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17" name="Text 15"/>
          <p:cNvSpPr/>
          <p:nvPr/>
        </p:nvSpPr>
        <p:spPr bwMode="auto">
          <a:xfrm>
            <a:off x="3282156" y="2484438"/>
            <a:ext cx="250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9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Input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 bwMode="auto">
          <a:xfrm>
            <a:off x="3286125" y="2643188"/>
            <a:ext cx="2492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75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File upload page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 bwMode="auto">
          <a:xfrm>
            <a:off x="484186" y="2960688"/>
            <a:ext cx="2635250" cy="698500"/>
          </a:xfrm>
          <a:custGeom>
            <a:avLst/>
            <a:gdLst/>
            <a:ahLst/>
            <a:cxnLst/>
            <a:rect l="l" t="t" r="r" b="b"/>
            <a:pathLst>
              <a:path w="2635250" h="698500" fill="norm" stroke="1" extrusionOk="0">
                <a:moveTo>
                  <a:pt x="63501" y="0"/>
                </a:moveTo>
                <a:lnTo>
                  <a:pt x="2571749" y="0"/>
                </a:lnTo>
                <a:cubicBezTo>
                  <a:pt x="2606820" y="0"/>
                  <a:pt x="2635250" y="28430"/>
                  <a:pt x="2635250" y="63501"/>
                </a:cubicBezTo>
                <a:lnTo>
                  <a:pt x="2635250" y="634999"/>
                </a:lnTo>
                <a:cubicBezTo>
                  <a:pt x="2635250" y="670070"/>
                  <a:pt x="2606820" y="698500"/>
                  <a:pt x="2571749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 bwMode="auto">
          <a:xfrm>
            <a:off x="1722438" y="305593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 fill="norm" stroke="1" extrusionOk="0">
                <a:moveTo>
                  <a:pt x="64492" y="14883"/>
                </a:moveTo>
                <a:cubicBezTo>
                  <a:pt x="64492" y="6669"/>
                  <a:pt x="71161" y="0"/>
                  <a:pt x="79375" y="0"/>
                </a:cubicBezTo>
                <a:cubicBezTo>
                  <a:pt x="87589" y="0"/>
                  <a:pt x="94258" y="6669"/>
                  <a:pt x="94258" y="14883"/>
                </a:cubicBezTo>
                <a:cubicBezTo>
                  <a:pt x="94258" y="23097"/>
                  <a:pt x="87589" y="29766"/>
                  <a:pt x="79375" y="29766"/>
                </a:cubicBezTo>
                <a:cubicBezTo>
                  <a:pt x="71161" y="29766"/>
                  <a:pt x="64492" y="23097"/>
                  <a:pt x="64492" y="14883"/>
                </a:cubicBezTo>
                <a:close/>
                <a:moveTo>
                  <a:pt x="64492" y="143867"/>
                </a:moveTo>
                <a:cubicBezTo>
                  <a:pt x="64492" y="135653"/>
                  <a:pt x="71161" y="128984"/>
                  <a:pt x="79375" y="128984"/>
                </a:cubicBezTo>
                <a:cubicBezTo>
                  <a:pt x="87589" y="128984"/>
                  <a:pt x="94258" y="135653"/>
                  <a:pt x="94258" y="143867"/>
                </a:cubicBezTo>
                <a:cubicBezTo>
                  <a:pt x="94258" y="152081"/>
                  <a:pt x="87589" y="158750"/>
                  <a:pt x="79375" y="158750"/>
                </a:cubicBezTo>
                <a:cubicBezTo>
                  <a:pt x="71161" y="158750"/>
                  <a:pt x="64492" y="152081"/>
                  <a:pt x="64492" y="143867"/>
                </a:cubicBezTo>
                <a:close/>
                <a:moveTo>
                  <a:pt x="14883" y="64492"/>
                </a:moveTo>
                <a:cubicBezTo>
                  <a:pt x="23097" y="64492"/>
                  <a:pt x="29766" y="71161"/>
                  <a:pt x="29766" y="79375"/>
                </a:cubicBezTo>
                <a:cubicBezTo>
                  <a:pt x="29766" y="87589"/>
                  <a:pt x="23097" y="94258"/>
                  <a:pt x="14883" y="94258"/>
                </a:cubicBezTo>
                <a:cubicBezTo>
                  <a:pt x="6669" y="94258"/>
                  <a:pt x="0" y="87589"/>
                  <a:pt x="0" y="79375"/>
                </a:cubicBezTo>
                <a:cubicBezTo>
                  <a:pt x="0" y="71161"/>
                  <a:pt x="6669" y="64492"/>
                  <a:pt x="14883" y="64492"/>
                </a:cubicBezTo>
                <a:close/>
                <a:moveTo>
                  <a:pt x="128984" y="79375"/>
                </a:moveTo>
                <a:cubicBezTo>
                  <a:pt x="128984" y="71161"/>
                  <a:pt x="135653" y="64492"/>
                  <a:pt x="143867" y="64492"/>
                </a:cubicBezTo>
                <a:cubicBezTo>
                  <a:pt x="152081" y="64492"/>
                  <a:pt x="158750" y="71161"/>
                  <a:pt x="158750" y="79375"/>
                </a:cubicBezTo>
                <a:cubicBezTo>
                  <a:pt x="158750" y="87589"/>
                  <a:pt x="152081" y="94258"/>
                  <a:pt x="143867" y="94258"/>
                </a:cubicBezTo>
                <a:cubicBezTo>
                  <a:pt x="135653" y="94258"/>
                  <a:pt x="128984" y="87589"/>
                  <a:pt x="128984" y="79375"/>
                </a:cubicBezTo>
                <a:close/>
                <a:moveTo>
                  <a:pt x="23254" y="114443"/>
                </a:moveTo>
                <a:cubicBezTo>
                  <a:pt x="29064" y="108633"/>
                  <a:pt x="38498" y="108633"/>
                  <a:pt x="44307" y="114443"/>
                </a:cubicBezTo>
                <a:cubicBezTo>
                  <a:pt x="50117" y="120252"/>
                  <a:pt x="50117" y="129686"/>
                  <a:pt x="44307" y="135496"/>
                </a:cubicBezTo>
                <a:cubicBezTo>
                  <a:pt x="38498" y="141305"/>
                  <a:pt x="29064" y="141305"/>
                  <a:pt x="23254" y="135496"/>
                </a:cubicBezTo>
                <a:cubicBezTo>
                  <a:pt x="17445" y="129686"/>
                  <a:pt x="17445" y="120252"/>
                  <a:pt x="23254" y="114443"/>
                </a:cubicBezTo>
                <a:close/>
                <a:moveTo>
                  <a:pt x="23254" y="23254"/>
                </a:moveTo>
                <a:cubicBezTo>
                  <a:pt x="29064" y="17445"/>
                  <a:pt x="38498" y="17445"/>
                  <a:pt x="44307" y="23254"/>
                </a:cubicBezTo>
                <a:cubicBezTo>
                  <a:pt x="50117" y="29064"/>
                  <a:pt x="50117" y="38498"/>
                  <a:pt x="44307" y="44307"/>
                </a:cubicBezTo>
                <a:cubicBezTo>
                  <a:pt x="38498" y="50117"/>
                  <a:pt x="29064" y="50117"/>
                  <a:pt x="23254" y="44307"/>
                </a:cubicBezTo>
                <a:cubicBezTo>
                  <a:pt x="17445" y="38498"/>
                  <a:pt x="17445" y="29064"/>
                  <a:pt x="23254" y="23254"/>
                </a:cubicBezTo>
                <a:close/>
                <a:moveTo>
                  <a:pt x="135496" y="114443"/>
                </a:moveTo>
                <a:cubicBezTo>
                  <a:pt x="141309" y="120256"/>
                  <a:pt x="141309" y="129682"/>
                  <a:pt x="135496" y="135496"/>
                </a:cubicBezTo>
                <a:cubicBezTo>
                  <a:pt x="129682" y="141309"/>
                  <a:pt x="120256" y="141309"/>
                  <a:pt x="114443" y="135496"/>
                </a:cubicBezTo>
                <a:cubicBezTo>
                  <a:pt x="108629" y="129682"/>
                  <a:pt x="108629" y="120256"/>
                  <a:pt x="114443" y="114443"/>
                </a:cubicBezTo>
                <a:cubicBezTo>
                  <a:pt x="120256" y="108629"/>
                  <a:pt x="129682" y="108629"/>
                  <a:pt x="135496" y="114443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 bwMode="auto">
          <a:xfrm>
            <a:off x="551656" y="3278188"/>
            <a:ext cx="250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9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Processing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 bwMode="auto">
          <a:xfrm>
            <a:off x="555625" y="3436938"/>
            <a:ext cx="2492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75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Live progress</a:t>
            </a:r>
            <a:endParaRPr lang="en-US" sz="1600"/>
          </a:p>
        </p:txBody>
      </p:sp>
      <p:sp>
        <p:nvSpPr>
          <p:cNvPr id="23" name="Shape 21"/>
          <p:cNvSpPr/>
          <p:nvPr/>
        </p:nvSpPr>
        <p:spPr bwMode="auto">
          <a:xfrm>
            <a:off x="3214688" y="2960688"/>
            <a:ext cx="2635250" cy="698500"/>
          </a:xfrm>
          <a:custGeom>
            <a:avLst/>
            <a:gdLst/>
            <a:ahLst/>
            <a:cxnLst/>
            <a:rect l="l" t="t" r="r" b="b"/>
            <a:pathLst>
              <a:path w="2635250" h="698500" fill="norm" stroke="1" extrusionOk="0">
                <a:moveTo>
                  <a:pt x="63501" y="0"/>
                </a:moveTo>
                <a:lnTo>
                  <a:pt x="2571749" y="0"/>
                </a:lnTo>
                <a:cubicBezTo>
                  <a:pt x="2606820" y="0"/>
                  <a:pt x="2635250" y="28430"/>
                  <a:pt x="2635250" y="63501"/>
                </a:cubicBezTo>
                <a:lnTo>
                  <a:pt x="2635250" y="634999"/>
                </a:lnTo>
                <a:cubicBezTo>
                  <a:pt x="2635250" y="670070"/>
                  <a:pt x="2606820" y="698500"/>
                  <a:pt x="2571749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24" name="Shape 22"/>
          <p:cNvSpPr/>
          <p:nvPr/>
        </p:nvSpPr>
        <p:spPr bwMode="auto">
          <a:xfrm>
            <a:off x="4452938" y="305593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 fill="norm" stroke="1" extrusionOk="0">
                <a:moveTo>
                  <a:pt x="9922" y="9922"/>
                </a:moveTo>
                <a:cubicBezTo>
                  <a:pt x="15410" y="9922"/>
                  <a:pt x="19844" y="14356"/>
                  <a:pt x="19844" y="19844"/>
                </a:cubicBezTo>
                <a:lnTo>
                  <a:pt x="19844" y="124023"/>
                </a:lnTo>
                <a:cubicBezTo>
                  <a:pt x="19844" y="126752"/>
                  <a:pt x="22076" y="128984"/>
                  <a:pt x="24805" y="128984"/>
                </a:cubicBezTo>
                <a:lnTo>
                  <a:pt x="148828" y="128984"/>
                </a:lnTo>
                <a:cubicBezTo>
                  <a:pt x="154316" y="128984"/>
                  <a:pt x="158750" y="133418"/>
                  <a:pt x="158750" y="138906"/>
                </a:cubicBezTo>
                <a:cubicBezTo>
                  <a:pt x="158750" y="144394"/>
                  <a:pt x="154316" y="148828"/>
                  <a:pt x="148828" y="148828"/>
                </a:cubicBezTo>
                <a:lnTo>
                  <a:pt x="24805" y="148828"/>
                </a:lnTo>
                <a:cubicBezTo>
                  <a:pt x="11100" y="148828"/>
                  <a:pt x="0" y="137728"/>
                  <a:pt x="0" y="124023"/>
                </a:cubicBezTo>
                <a:lnTo>
                  <a:pt x="0" y="19844"/>
                </a:lnTo>
                <a:cubicBezTo>
                  <a:pt x="0" y="14356"/>
                  <a:pt x="4434" y="9922"/>
                  <a:pt x="9922" y="9922"/>
                </a:cubicBezTo>
                <a:close/>
                <a:moveTo>
                  <a:pt x="39688" y="29766"/>
                </a:moveTo>
                <a:cubicBezTo>
                  <a:pt x="39688" y="24278"/>
                  <a:pt x="44121" y="19844"/>
                  <a:pt x="49609" y="19844"/>
                </a:cubicBezTo>
                <a:lnTo>
                  <a:pt x="109141" y="19844"/>
                </a:lnTo>
                <a:cubicBezTo>
                  <a:pt x="114629" y="19844"/>
                  <a:pt x="119062" y="24278"/>
                  <a:pt x="119062" y="29766"/>
                </a:cubicBezTo>
                <a:cubicBezTo>
                  <a:pt x="119062" y="35254"/>
                  <a:pt x="114629" y="39688"/>
                  <a:pt x="109141" y="39688"/>
                </a:cubicBezTo>
                <a:lnTo>
                  <a:pt x="49609" y="39688"/>
                </a:lnTo>
                <a:cubicBezTo>
                  <a:pt x="44121" y="39688"/>
                  <a:pt x="39688" y="35254"/>
                  <a:pt x="39688" y="29766"/>
                </a:cubicBezTo>
                <a:close/>
                <a:moveTo>
                  <a:pt x="49609" y="54570"/>
                </a:moveTo>
                <a:lnTo>
                  <a:pt x="89297" y="54570"/>
                </a:lnTo>
                <a:cubicBezTo>
                  <a:pt x="94785" y="54570"/>
                  <a:pt x="99219" y="59004"/>
                  <a:pt x="99219" y="64492"/>
                </a:cubicBezTo>
                <a:cubicBezTo>
                  <a:pt x="99219" y="69980"/>
                  <a:pt x="94785" y="74414"/>
                  <a:pt x="89297" y="74414"/>
                </a:cubicBezTo>
                <a:lnTo>
                  <a:pt x="49609" y="74414"/>
                </a:lnTo>
                <a:cubicBezTo>
                  <a:pt x="44121" y="74414"/>
                  <a:pt x="39688" y="69980"/>
                  <a:pt x="39688" y="64492"/>
                </a:cubicBezTo>
                <a:cubicBezTo>
                  <a:pt x="39688" y="59004"/>
                  <a:pt x="44121" y="54570"/>
                  <a:pt x="49609" y="54570"/>
                </a:cubicBezTo>
                <a:close/>
                <a:moveTo>
                  <a:pt x="49609" y="89297"/>
                </a:moveTo>
                <a:lnTo>
                  <a:pt x="128984" y="89297"/>
                </a:lnTo>
                <a:cubicBezTo>
                  <a:pt x="134472" y="89297"/>
                  <a:pt x="138906" y="93731"/>
                  <a:pt x="138906" y="99219"/>
                </a:cubicBezTo>
                <a:cubicBezTo>
                  <a:pt x="138906" y="104707"/>
                  <a:pt x="134472" y="109141"/>
                  <a:pt x="128984" y="109141"/>
                </a:cubicBezTo>
                <a:lnTo>
                  <a:pt x="49609" y="109141"/>
                </a:lnTo>
                <a:cubicBezTo>
                  <a:pt x="44121" y="109141"/>
                  <a:pt x="39688" y="104707"/>
                  <a:pt x="39688" y="99219"/>
                </a:cubicBezTo>
                <a:cubicBezTo>
                  <a:pt x="39688" y="93731"/>
                  <a:pt x="44121" y="89297"/>
                  <a:pt x="49609" y="89297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25" name="Text 23"/>
          <p:cNvSpPr/>
          <p:nvPr/>
        </p:nvSpPr>
        <p:spPr bwMode="auto">
          <a:xfrm>
            <a:off x="3282156" y="3278188"/>
            <a:ext cx="250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9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Results</a:t>
            </a:r>
            <a:endParaRPr lang="en-US" sz="1600"/>
          </a:p>
        </p:txBody>
      </p:sp>
      <p:sp>
        <p:nvSpPr>
          <p:cNvPr id="26" name="Text 24"/>
          <p:cNvSpPr/>
          <p:nvPr/>
        </p:nvSpPr>
        <p:spPr bwMode="auto">
          <a:xfrm>
            <a:off x="3286125" y="3436938"/>
            <a:ext cx="2492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75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Charts &amp; summaries</a:t>
            </a:r>
            <a:endParaRPr lang="en-US" sz="1600"/>
          </a:p>
        </p:txBody>
      </p:sp>
      <p:sp>
        <p:nvSpPr>
          <p:cNvPr id="27" name="Shape 25"/>
          <p:cNvSpPr/>
          <p:nvPr/>
        </p:nvSpPr>
        <p:spPr bwMode="auto">
          <a:xfrm>
            <a:off x="321469" y="3956844"/>
            <a:ext cx="5691188" cy="2357438"/>
          </a:xfrm>
          <a:custGeom>
            <a:avLst/>
            <a:gdLst/>
            <a:ahLst/>
            <a:cxnLst/>
            <a:rect l="l" t="t" r="r" b="b"/>
            <a:pathLst>
              <a:path w="5691188" h="2357438" fill="norm" stroke="1" extrusionOk="0">
                <a:moveTo>
                  <a:pt x="126995" y="0"/>
                </a:moveTo>
                <a:lnTo>
                  <a:pt x="5564192" y="0"/>
                </a:lnTo>
                <a:cubicBezTo>
                  <a:pt x="5634330" y="0"/>
                  <a:pt x="5691188" y="56858"/>
                  <a:pt x="5691188" y="126995"/>
                </a:cubicBezTo>
                <a:lnTo>
                  <a:pt x="5691188" y="2230442"/>
                </a:lnTo>
                <a:cubicBezTo>
                  <a:pt x="5691188" y="2300580"/>
                  <a:pt x="5634330" y="2357438"/>
                  <a:pt x="5564192" y="2357438"/>
                </a:cubicBezTo>
                <a:lnTo>
                  <a:pt x="126995" y="2357438"/>
                </a:lnTo>
                <a:cubicBezTo>
                  <a:pt x="56858" y="2357438"/>
                  <a:pt x="0" y="2300580"/>
                  <a:pt x="0" y="2230442"/>
                </a:cubicBezTo>
                <a:lnTo>
                  <a:pt x="0" y="126995"/>
                </a:lnTo>
                <a:cubicBezTo>
                  <a:pt x="0" y="56905"/>
                  <a:pt x="56905" y="0"/>
                  <a:pt x="126995" y="0"/>
                </a:cubicBezTo>
                <a:close/>
              </a:path>
            </a:pathLst>
          </a:custGeom>
          <a:solidFill>
            <a:srgbClr val="4C1D95">
              <a:alpha val="30194"/>
            </a:srgbClr>
          </a:solidFill>
          <a:ln w="12700">
            <a:solidFill>
              <a:srgbClr val="7C3AED">
                <a:alpha val="30194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 bwMode="auto">
          <a:xfrm>
            <a:off x="484186" y="411956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fill="norm" stroke="1" extrusionOk="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/>
        </p:spPr>
      </p:sp>
      <p:sp>
        <p:nvSpPr>
          <p:cNvPr id="29" name="Shape 27"/>
          <p:cNvSpPr/>
          <p:nvPr/>
        </p:nvSpPr>
        <p:spPr bwMode="auto">
          <a:xfrm>
            <a:off x="605234" y="4230688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 fill="norm" stroke="1" extrusionOk="0">
                <a:moveTo>
                  <a:pt x="19844" y="9922"/>
                </a:moveTo>
                <a:cubicBezTo>
                  <a:pt x="8899" y="9922"/>
                  <a:pt x="0" y="18821"/>
                  <a:pt x="0" y="29766"/>
                </a:cubicBezTo>
                <a:lnTo>
                  <a:pt x="0" y="49609"/>
                </a:lnTo>
                <a:cubicBezTo>
                  <a:pt x="0" y="60554"/>
                  <a:pt x="8899" y="69453"/>
                  <a:pt x="19844" y="69453"/>
                </a:cubicBezTo>
                <a:lnTo>
                  <a:pt x="119062" y="69453"/>
                </a:lnTo>
                <a:cubicBezTo>
                  <a:pt x="130008" y="69453"/>
                  <a:pt x="138906" y="60554"/>
                  <a:pt x="138906" y="49609"/>
                </a:cubicBezTo>
                <a:lnTo>
                  <a:pt x="138906" y="29766"/>
                </a:lnTo>
                <a:cubicBezTo>
                  <a:pt x="138906" y="18821"/>
                  <a:pt x="130008" y="9922"/>
                  <a:pt x="119062" y="9922"/>
                </a:cubicBezTo>
                <a:lnTo>
                  <a:pt x="19844" y="9922"/>
                </a:lnTo>
                <a:close/>
                <a:moveTo>
                  <a:pt x="86816" y="32246"/>
                </a:moveTo>
                <a:cubicBezTo>
                  <a:pt x="90923" y="32246"/>
                  <a:pt x="94258" y="35580"/>
                  <a:pt x="94258" y="39688"/>
                </a:cubicBezTo>
                <a:cubicBezTo>
                  <a:pt x="94258" y="43795"/>
                  <a:pt x="90923" y="47129"/>
                  <a:pt x="86816" y="47129"/>
                </a:cubicBezTo>
                <a:cubicBezTo>
                  <a:pt x="82709" y="47129"/>
                  <a:pt x="79375" y="43795"/>
                  <a:pt x="79375" y="39688"/>
                </a:cubicBezTo>
                <a:cubicBezTo>
                  <a:pt x="79375" y="35580"/>
                  <a:pt x="82709" y="32246"/>
                  <a:pt x="86816" y="32246"/>
                </a:cubicBezTo>
                <a:close/>
                <a:moveTo>
                  <a:pt x="104180" y="39688"/>
                </a:moveTo>
                <a:cubicBezTo>
                  <a:pt x="104180" y="35580"/>
                  <a:pt x="107514" y="32246"/>
                  <a:pt x="111621" y="32246"/>
                </a:cubicBezTo>
                <a:cubicBezTo>
                  <a:pt x="115728" y="32246"/>
                  <a:pt x="119062" y="35580"/>
                  <a:pt x="119062" y="39688"/>
                </a:cubicBezTo>
                <a:cubicBezTo>
                  <a:pt x="119062" y="43795"/>
                  <a:pt x="115728" y="47129"/>
                  <a:pt x="111621" y="47129"/>
                </a:cubicBezTo>
                <a:cubicBezTo>
                  <a:pt x="107514" y="47129"/>
                  <a:pt x="104180" y="43795"/>
                  <a:pt x="104180" y="39688"/>
                </a:cubicBezTo>
                <a:close/>
                <a:moveTo>
                  <a:pt x="19844" y="89297"/>
                </a:moveTo>
                <a:cubicBezTo>
                  <a:pt x="8899" y="89297"/>
                  <a:pt x="0" y="98196"/>
                  <a:pt x="0" y="109141"/>
                </a:cubicBezTo>
                <a:lnTo>
                  <a:pt x="0" y="128984"/>
                </a:lnTo>
                <a:cubicBezTo>
                  <a:pt x="0" y="139929"/>
                  <a:pt x="8899" y="148828"/>
                  <a:pt x="19844" y="148828"/>
                </a:cubicBezTo>
                <a:lnTo>
                  <a:pt x="119062" y="148828"/>
                </a:lnTo>
                <a:cubicBezTo>
                  <a:pt x="130008" y="148828"/>
                  <a:pt x="138906" y="139929"/>
                  <a:pt x="138906" y="128984"/>
                </a:cubicBezTo>
                <a:lnTo>
                  <a:pt x="138906" y="109141"/>
                </a:lnTo>
                <a:cubicBezTo>
                  <a:pt x="138906" y="98196"/>
                  <a:pt x="130008" y="89297"/>
                  <a:pt x="119062" y="89297"/>
                </a:cubicBezTo>
                <a:lnTo>
                  <a:pt x="19844" y="89297"/>
                </a:lnTo>
                <a:close/>
                <a:moveTo>
                  <a:pt x="86816" y="111621"/>
                </a:moveTo>
                <a:cubicBezTo>
                  <a:pt x="90923" y="111621"/>
                  <a:pt x="94258" y="114955"/>
                  <a:pt x="94258" y="119062"/>
                </a:cubicBezTo>
                <a:cubicBezTo>
                  <a:pt x="94258" y="123170"/>
                  <a:pt x="90923" y="126504"/>
                  <a:pt x="86816" y="126504"/>
                </a:cubicBezTo>
                <a:cubicBezTo>
                  <a:pt x="82709" y="126504"/>
                  <a:pt x="79375" y="123170"/>
                  <a:pt x="79375" y="119062"/>
                </a:cubicBezTo>
                <a:cubicBezTo>
                  <a:pt x="79375" y="114955"/>
                  <a:pt x="82709" y="111621"/>
                  <a:pt x="86816" y="111621"/>
                </a:cubicBezTo>
                <a:close/>
                <a:moveTo>
                  <a:pt x="104180" y="119062"/>
                </a:moveTo>
                <a:cubicBezTo>
                  <a:pt x="104180" y="114955"/>
                  <a:pt x="107514" y="111621"/>
                  <a:pt x="111621" y="111621"/>
                </a:cubicBezTo>
                <a:cubicBezTo>
                  <a:pt x="115728" y="111621"/>
                  <a:pt x="119062" y="114955"/>
                  <a:pt x="119062" y="119062"/>
                </a:cubicBezTo>
                <a:cubicBezTo>
                  <a:pt x="119062" y="123170"/>
                  <a:pt x="115728" y="126504"/>
                  <a:pt x="111621" y="126504"/>
                </a:cubicBezTo>
                <a:cubicBezTo>
                  <a:pt x="107514" y="126504"/>
                  <a:pt x="104180" y="123170"/>
                  <a:pt x="104180" y="119062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0" name="Text 28"/>
          <p:cNvSpPr/>
          <p:nvPr/>
        </p:nvSpPr>
        <p:spPr bwMode="auto">
          <a:xfrm flipH="0" flipV="0">
            <a:off x="960437" y="4183062"/>
            <a:ext cx="2206623" cy="25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50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API &amp; Orchestration</a:t>
            </a:r>
            <a:endParaRPr lang="en-US" sz="1600"/>
          </a:p>
        </p:txBody>
      </p:sp>
      <p:sp>
        <p:nvSpPr>
          <p:cNvPr id="31" name="Text 29"/>
          <p:cNvSpPr/>
          <p:nvPr/>
        </p:nvSpPr>
        <p:spPr bwMode="auto">
          <a:xfrm>
            <a:off x="484186" y="4627563"/>
            <a:ext cx="5429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00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FastAPI</a:t>
            </a: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handles all backend operations including secure login and job management. Heavy processing runs in the background so the website stays fast and responsive.</a:t>
            </a:r>
            <a:endParaRPr lang="en-US" sz="1600"/>
          </a:p>
        </p:txBody>
      </p:sp>
      <p:sp>
        <p:nvSpPr>
          <p:cNvPr id="32" name="Shape 30"/>
          <p:cNvSpPr/>
          <p:nvPr/>
        </p:nvSpPr>
        <p:spPr bwMode="auto">
          <a:xfrm>
            <a:off x="484186" y="5167313"/>
            <a:ext cx="5365750" cy="285750"/>
          </a:xfrm>
          <a:custGeom>
            <a:avLst/>
            <a:gdLst/>
            <a:ahLst/>
            <a:cxnLst/>
            <a:rect l="l" t="t" r="r" b="b"/>
            <a:pathLst>
              <a:path w="5365750" h="285750" fill="norm" stroke="1" extrusionOk="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222251"/>
                </a:lnTo>
                <a:cubicBezTo>
                  <a:pt x="5365750" y="257320"/>
                  <a:pt x="5337320" y="285750"/>
                  <a:pt x="530225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33" name="Shape 31"/>
          <p:cNvSpPr/>
          <p:nvPr/>
        </p:nvSpPr>
        <p:spPr bwMode="auto">
          <a:xfrm>
            <a:off x="563563" y="524668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83344" y="87313"/>
                </a:moveTo>
                <a:cubicBezTo>
                  <a:pt x="107454" y="87313"/>
                  <a:pt x="127000" y="67766"/>
                  <a:pt x="127000" y="43656"/>
                </a:cubicBezTo>
                <a:cubicBezTo>
                  <a:pt x="127000" y="19546"/>
                  <a:pt x="107454" y="0"/>
                  <a:pt x="83344" y="0"/>
                </a:cubicBezTo>
                <a:cubicBezTo>
                  <a:pt x="59234" y="0"/>
                  <a:pt x="39688" y="19546"/>
                  <a:pt x="39688" y="43656"/>
                </a:cubicBezTo>
                <a:cubicBezTo>
                  <a:pt x="39688" y="48295"/>
                  <a:pt x="40407" y="52784"/>
                  <a:pt x="41746" y="56976"/>
                </a:cubicBezTo>
                <a:lnTo>
                  <a:pt x="1736" y="96986"/>
                </a:lnTo>
                <a:cubicBezTo>
                  <a:pt x="620" y="98103"/>
                  <a:pt x="0" y="99616"/>
                  <a:pt x="0" y="101203"/>
                </a:cubicBezTo>
                <a:lnTo>
                  <a:pt x="0" y="121047"/>
                </a:lnTo>
                <a:cubicBezTo>
                  <a:pt x="0" y="124346"/>
                  <a:pt x="2654" y="127000"/>
                  <a:pt x="5953" y="127000"/>
                </a:cubicBezTo>
                <a:lnTo>
                  <a:pt x="25797" y="127000"/>
                </a:lnTo>
                <a:cubicBezTo>
                  <a:pt x="29096" y="127000"/>
                  <a:pt x="31750" y="124346"/>
                  <a:pt x="31750" y="121047"/>
                </a:cubicBezTo>
                <a:lnTo>
                  <a:pt x="31750" y="111125"/>
                </a:lnTo>
                <a:lnTo>
                  <a:pt x="41672" y="111125"/>
                </a:lnTo>
                <a:cubicBezTo>
                  <a:pt x="44971" y="111125"/>
                  <a:pt x="47625" y="108471"/>
                  <a:pt x="47625" y="105172"/>
                </a:cubicBezTo>
                <a:lnTo>
                  <a:pt x="47625" y="95250"/>
                </a:lnTo>
                <a:lnTo>
                  <a:pt x="57547" y="95250"/>
                </a:lnTo>
                <a:cubicBezTo>
                  <a:pt x="59134" y="95250"/>
                  <a:pt x="60647" y="94630"/>
                  <a:pt x="61764" y="93514"/>
                </a:cubicBezTo>
                <a:lnTo>
                  <a:pt x="70024" y="85254"/>
                </a:lnTo>
                <a:cubicBezTo>
                  <a:pt x="74216" y="86593"/>
                  <a:pt x="78705" y="87313"/>
                  <a:pt x="83344" y="87313"/>
                </a:cubicBezTo>
                <a:close/>
                <a:moveTo>
                  <a:pt x="93266" y="23812"/>
                </a:moveTo>
                <a:cubicBezTo>
                  <a:pt x="98742" y="23812"/>
                  <a:pt x="103188" y="28258"/>
                  <a:pt x="103188" y="33734"/>
                </a:cubicBezTo>
                <a:cubicBezTo>
                  <a:pt x="103188" y="39210"/>
                  <a:pt x="98742" y="43656"/>
                  <a:pt x="93266" y="43656"/>
                </a:cubicBezTo>
                <a:cubicBezTo>
                  <a:pt x="87790" y="43656"/>
                  <a:pt x="83344" y="39210"/>
                  <a:pt x="83344" y="33734"/>
                </a:cubicBezTo>
                <a:cubicBezTo>
                  <a:pt x="83344" y="28258"/>
                  <a:pt x="87790" y="23812"/>
                  <a:pt x="93266" y="23812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4" name="Text 32"/>
          <p:cNvSpPr/>
          <p:nvPr/>
        </p:nvSpPr>
        <p:spPr bwMode="auto">
          <a:xfrm flipH="0" flipV="0">
            <a:off x="769937" y="5230812"/>
            <a:ext cx="1952624" cy="158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JWT based authentication</a:t>
            </a:r>
            <a:endParaRPr lang="en-US" sz="1600"/>
          </a:p>
        </p:txBody>
      </p:sp>
      <p:sp>
        <p:nvSpPr>
          <p:cNvPr id="35" name="Shape 33"/>
          <p:cNvSpPr/>
          <p:nvPr/>
        </p:nvSpPr>
        <p:spPr bwMode="auto">
          <a:xfrm>
            <a:off x="484186" y="5516563"/>
            <a:ext cx="5365750" cy="285750"/>
          </a:xfrm>
          <a:custGeom>
            <a:avLst/>
            <a:gdLst/>
            <a:ahLst/>
            <a:cxnLst/>
            <a:rect l="l" t="t" r="r" b="b"/>
            <a:pathLst>
              <a:path w="5365750" h="285750" fill="norm" stroke="1" extrusionOk="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222251"/>
                </a:lnTo>
                <a:cubicBezTo>
                  <a:pt x="5365750" y="257320"/>
                  <a:pt x="5337320" y="285750"/>
                  <a:pt x="530225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 bwMode="auto">
          <a:xfrm>
            <a:off x="563563" y="559593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33189" y="9004"/>
                </a:moveTo>
                <a:cubicBezTo>
                  <a:pt x="35892" y="10889"/>
                  <a:pt x="36537" y="14610"/>
                  <a:pt x="34652" y="17289"/>
                </a:cubicBezTo>
                <a:lnTo>
                  <a:pt x="20762" y="37133"/>
                </a:lnTo>
                <a:cubicBezTo>
                  <a:pt x="19745" y="38571"/>
                  <a:pt x="18157" y="39489"/>
                  <a:pt x="16396" y="39638"/>
                </a:cubicBezTo>
                <a:cubicBezTo>
                  <a:pt x="14635" y="39787"/>
                  <a:pt x="12898" y="39191"/>
                  <a:pt x="11658" y="37951"/>
                </a:cubicBezTo>
                <a:lnTo>
                  <a:pt x="1736" y="28029"/>
                </a:lnTo>
                <a:cubicBezTo>
                  <a:pt x="-571" y="25698"/>
                  <a:pt x="-571" y="21927"/>
                  <a:pt x="1736" y="19596"/>
                </a:cubicBezTo>
                <a:cubicBezTo>
                  <a:pt x="4043" y="17264"/>
                  <a:pt x="7838" y="17289"/>
                  <a:pt x="10170" y="19596"/>
                </a:cubicBezTo>
                <a:lnTo>
                  <a:pt x="15081" y="24507"/>
                </a:lnTo>
                <a:lnTo>
                  <a:pt x="24904" y="10468"/>
                </a:lnTo>
                <a:cubicBezTo>
                  <a:pt x="26789" y="7764"/>
                  <a:pt x="30510" y="7119"/>
                  <a:pt x="33189" y="9004"/>
                </a:cubicBezTo>
                <a:close/>
                <a:moveTo>
                  <a:pt x="33189" y="48692"/>
                </a:moveTo>
                <a:cubicBezTo>
                  <a:pt x="35892" y="50577"/>
                  <a:pt x="36537" y="54297"/>
                  <a:pt x="34652" y="56976"/>
                </a:cubicBezTo>
                <a:lnTo>
                  <a:pt x="20762" y="76820"/>
                </a:lnTo>
                <a:cubicBezTo>
                  <a:pt x="19745" y="78259"/>
                  <a:pt x="18157" y="79177"/>
                  <a:pt x="16396" y="79325"/>
                </a:cubicBezTo>
                <a:cubicBezTo>
                  <a:pt x="14635" y="79474"/>
                  <a:pt x="12898" y="78879"/>
                  <a:pt x="11658" y="77639"/>
                </a:cubicBezTo>
                <a:lnTo>
                  <a:pt x="1736" y="67717"/>
                </a:lnTo>
                <a:cubicBezTo>
                  <a:pt x="-595" y="65385"/>
                  <a:pt x="-595" y="61615"/>
                  <a:pt x="1736" y="59308"/>
                </a:cubicBezTo>
                <a:cubicBezTo>
                  <a:pt x="4068" y="57001"/>
                  <a:pt x="7838" y="56976"/>
                  <a:pt x="10145" y="59308"/>
                </a:cubicBezTo>
                <a:lnTo>
                  <a:pt x="15056" y="64219"/>
                </a:lnTo>
                <a:lnTo>
                  <a:pt x="24879" y="50180"/>
                </a:lnTo>
                <a:cubicBezTo>
                  <a:pt x="26764" y="47476"/>
                  <a:pt x="30485" y="46831"/>
                  <a:pt x="33164" y="48716"/>
                </a:cubicBezTo>
                <a:close/>
                <a:moveTo>
                  <a:pt x="55563" y="23812"/>
                </a:moveTo>
                <a:cubicBezTo>
                  <a:pt x="55563" y="19422"/>
                  <a:pt x="59110" y="15875"/>
                  <a:pt x="63500" y="15875"/>
                </a:cubicBezTo>
                <a:lnTo>
                  <a:pt x="119063" y="15875"/>
                </a:lnTo>
                <a:cubicBezTo>
                  <a:pt x="123453" y="15875"/>
                  <a:pt x="127000" y="19422"/>
                  <a:pt x="127000" y="23812"/>
                </a:cubicBezTo>
                <a:cubicBezTo>
                  <a:pt x="127000" y="28203"/>
                  <a:pt x="123453" y="31750"/>
                  <a:pt x="119063" y="31750"/>
                </a:cubicBezTo>
                <a:lnTo>
                  <a:pt x="63500" y="31750"/>
                </a:lnTo>
                <a:cubicBezTo>
                  <a:pt x="59110" y="31750"/>
                  <a:pt x="55563" y="28203"/>
                  <a:pt x="55563" y="23812"/>
                </a:cubicBezTo>
                <a:close/>
                <a:moveTo>
                  <a:pt x="55563" y="63500"/>
                </a:moveTo>
                <a:cubicBezTo>
                  <a:pt x="55563" y="59110"/>
                  <a:pt x="59110" y="55563"/>
                  <a:pt x="63500" y="55563"/>
                </a:cubicBezTo>
                <a:lnTo>
                  <a:pt x="119063" y="55563"/>
                </a:lnTo>
                <a:cubicBezTo>
                  <a:pt x="123453" y="55563"/>
                  <a:pt x="127000" y="59110"/>
                  <a:pt x="127000" y="63500"/>
                </a:cubicBezTo>
                <a:cubicBezTo>
                  <a:pt x="127000" y="67890"/>
                  <a:pt x="123453" y="71438"/>
                  <a:pt x="119063" y="71438"/>
                </a:cubicBezTo>
                <a:lnTo>
                  <a:pt x="63500" y="71438"/>
                </a:lnTo>
                <a:cubicBezTo>
                  <a:pt x="59110" y="71438"/>
                  <a:pt x="55563" y="67890"/>
                  <a:pt x="55563" y="63500"/>
                </a:cubicBezTo>
                <a:close/>
                <a:moveTo>
                  <a:pt x="39688" y="103188"/>
                </a:moveTo>
                <a:cubicBezTo>
                  <a:pt x="39688" y="98797"/>
                  <a:pt x="43235" y="95250"/>
                  <a:pt x="47625" y="95250"/>
                </a:cubicBezTo>
                <a:lnTo>
                  <a:pt x="119063" y="95250"/>
                </a:lnTo>
                <a:cubicBezTo>
                  <a:pt x="123453" y="95250"/>
                  <a:pt x="127000" y="98797"/>
                  <a:pt x="127000" y="103188"/>
                </a:cubicBezTo>
                <a:cubicBezTo>
                  <a:pt x="127000" y="107578"/>
                  <a:pt x="123453" y="111125"/>
                  <a:pt x="119063" y="111125"/>
                </a:cubicBezTo>
                <a:lnTo>
                  <a:pt x="47625" y="111125"/>
                </a:lnTo>
                <a:cubicBezTo>
                  <a:pt x="43235" y="111125"/>
                  <a:pt x="39688" y="107578"/>
                  <a:pt x="39688" y="103188"/>
                </a:cubicBezTo>
                <a:close/>
                <a:moveTo>
                  <a:pt x="15875" y="93266"/>
                </a:moveTo>
                <a:cubicBezTo>
                  <a:pt x="21351" y="93266"/>
                  <a:pt x="25797" y="97711"/>
                  <a:pt x="25797" y="103188"/>
                </a:cubicBezTo>
                <a:cubicBezTo>
                  <a:pt x="25797" y="108664"/>
                  <a:pt x="21351" y="113109"/>
                  <a:pt x="15875" y="113109"/>
                </a:cubicBezTo>
                <a:cubicBezTo>
                  <a:pt x="10399" y="113109"/>
                  <a:pt x="5953" y="108664"/>
                  <a:pt x="5953" y="103188"/>
                </a:cubicBezTo>
                <a:cubicBezTo>
                  <a:pt x="5953" y="97711"/>
                  <a:pt x="10399" y="93266"/>
                  <a:pt x="15875" y="93266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7" name="Text 35"/>
          <p:cNvSpPr/>
          <p:nvPr/>
        </p:nvSpPr>
        <p:spPr bwMode="auto">
          <a:xfrm flipH="0" flipV="0">
            <a:off x="769937" y="5580062"/>
            <a:ext cx="2516186" cy="158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Unique job ID per upload</a:t>
            </a:r>
            <a:endParaRPr lang="en-US" sz="1600"/>
          </a:p>
        </p:txBody>
      </p:sp>
      <p:sp>
        <p:nvSpPr>
          <p:cNvPr id="38" name="Shape 36"/>
          <p:cNvSpPr/>
          <p:nvPr/>
        </p:nvSpPr>
        <p:spPr bwMode="auto">
          <a:xfrm>
            <a:off x="484186" y="5865812"/>
            <a:ext cx="5365750" cy="285750"/>
          </a:xfrm>
          <a:custGeom>
            <a:avLst/>
            <a:gdLst/>
            <a:ahLst/>
            <a:cxnLst/>
            <a:rect l="l" t="t" r="r" b="b"/>
            <a:pathLst>
              <a:path w="5365750" h="285750" fill="norm" stroke="1" extrusionOk="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222251"/>
                </a:lnTo>
                <a:cubicBezTo>
                  <a:pt x="5365750" y="257320"/>
                  <a:pt x="5337320" y="285750"/>
                  <a:pt x="530225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39" name="Shape 37"/>
          <p:cNvSpPr/>
          <p:nvPr/>
        </p:nvSpPr>
        <p:spPr bwMode="auto">
          <a:xfrm>
            <a:off x="563563" y="594518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16346" y="56679"/>
                </a:moveTo>
                <a:cubicBezTo>
                  <a:pt x="19645" y="33610"/>
                  <a:pt x="39514" y="15875"/>
                  <a:pt x="63500" y="15875"/>
                </a:cubicBezTo>
                <a:cubicBezTo>
                  <a:pt x="76646" y="15875"/>
                  <a:pt x="88553" y="21208"/>
                  <a:pt x="97185" y="29815"/>
                </a:cubicBezTo>
                <a:cubicBezTo>
                  <a:pt x="97234" y="29865"/>
                  <a:pt x="97284" y="29914"/>
                  <a:pt x="97334" y="29964"/>
                </a:cubicBezTo>
                <a:lnTo>
                  <a:pt x="99219" y="31750"/>
                </a:lnTo>
                <a:lnTo>
                  <a:pt x="87337" y="31750"/>
                </a:lnTo>
                <a:cubicBezTo>
                  <a:pt x="82947" y="31750"/>
                  <a:pt x="79400" y="35297"/>
                  <a:pt x="79400" y="39688"/>
                </a:cubicBezTo>
                <a:cubicBezTo>
                  <a:pt x="79400" y="44078"/>
                  <a:pt x="82947" y="47625"/>
                  <a:pt x="87337" y="47625"/>
                </a:cubicBezTo>
                <a:lnTo>
                  <a:pt x="119087" y="47625"/>
                </a:lnTo>
                <a:cubicBezTo>
                  <a:pt x="123478" y="47625"/>
                  <a:pt x="127025" y="44078"/>
                  <a:pt x="127025" y="39688"/>
                </a:cubicBezTo>
                <a:lnTo>
                  <a:pt x="127025" y="7938"/>
                </a:lnTo>
                <a:cubicBezTo>
                  <a:pt x="127025" y="3547"/>
                  <a:pt x="123478" y="0"/>
                  <a:pt x="119087" y="0"/>
                </a:cubicBezTo>
                <a:cubicBezTo>
                  <a:pt x="114697" y="0"/>
                  <a:pt x="111150" y="3547"/>
                  <a:pt x="111150" y="7938"/>
                </a:cubicBezTo>
                <a:lnTo>
                  <a:pt x="111150" y="21183"/>
                </a:lnTo>
                <a:lnTo>
                  <a:pt x="108347" y="18529"/>
                </a:lnTo>
                <a:cubicBezTo>
                  <a:pt x="96862" y="7094"/>
                  <a:pt x="80987" y="0"/>
                  <a:pt x="63500" y="0"/>
                </a:cubicBezTo>
                <a:cubicBezTo>
                  <a:pt x="31502" y="0"/>
                  <a:pt x="5035" y="23664"/>
                  <a:pt x="645" y="54446"/>
                </a:cubicBezTo>
                <a:cubicBezTo>
                  <a:pt x="25" y="58787"/>
                  <a:pt x="3026" y="62805"/>
                  <a:pt x="7367" y="63426"/>
                </a:cubicBezTo>
                <a:cubicBezTo>
                  <a:pt x="11708" y="64046"/>
                  <a:pt x="15726" y="61020"/>
                  <a:pt x="16346" y="56704"/>
                </a:cubicBezTo>
                <a:close/>
                <a:moveTo>
                  <a:pt x="126355" y="72554"/>
                </a:moveTo>
                <a:cubicBezTo>
                  <a:pt x="126975" y="68213"/>
                  <a:pt x="123949" y="64195"/>
                  <a:pt x="119633" y="63574"/>
                </a:cubicBezTo>
                <a:cubicBezTo>
                  <a:pt x="115317" y="62954"/>
                  <a:pt x="111274" y="65980"/>
                  <a:pt x="110654" y="70296"/>
                </a:cubicBezTo>
                <a:cubicBezTo>
                  <a:pt x="107355" y="93365"/>
                  <a:pt x="87486" y="111100"/>
                  <a:pt x="63500" y="111100"/>
                </a:cubicBezTo>
                <a:cubicBezTo>
                  <a:pt x="50354" y="111100"/>
                  <a:pt x="38447" y="105767"/>
                  <a:pt x="29815" y="97160"/>
                </a:cubicBezTo>
                <a:cubicBezTo>
                  <a:pt x="29766" y="97110"/>
                  <a:pt x="29716" y="97061"/>
                  <a:pt x="29666" y="97011"/>
                </a:cubicBezTo>
                <a:lnTo>
                  <a:pt x="27781" y="95225"/>
                </a:lnTo>
                <a:lnTo>
                  <a:pt x="39663" y="95225"/>
                </a:lnTo>
                <a:cubicBezTo>
                  <a:pt x="44053" y="95225"/>
                  <a:pt x="47600" y="91678"/>
                  <a:pt x="47600" y="87288"/>
                </a:cubicBezTo>
                <a:cubicBezTo>
                  <a:pt x="47600" y="82897"/>
                  <a:pt x="44053" y="79350"/>
                  <a:pt x="39663" y="79350"/>
                </a:cubicBezTo>
                <a:lnTo>
                  <a:pt x="7938" y="79375"/>
                </a:lnTo>
                <a:cubicBezTo>
                  <a:pt x="5829" y="79375"/>
                  <a:pt x="3795" y="80218"/>
                  <a:pt x="2307" y="81731"/>
                </a:cubicBezTo>
                <a:cubicBezTo>
                  <a:pt x="819" y="83245"/>
                  <a:pt x="-25" y="85254"/>
                  <a:pt x="0" y="87387"/>
                </a:cubicBezTo>
                <a:lnTo>
                  <a:pt x="248" y="118889"/>
                </a:lnTo>
                <a:cubicBezTo>
                  <a:pt x="273" y="123279"/>
                  <a:pt x="3870" y="126802"/>
                  <a:pt x="8260" y="126752"/>
                </a:cubicBezTo>
                <a:cubicBezTo>
                  <a:pt x="12650" y="126702"/>
                  <a:pt x="16173" y="123130"/>
                  <a:pt x="16123" y="118740"/>
                </a:cubicBezTo>
                <a:lnTo>
                  <a:pt x="16024" y="105966"/>
                </a:lnTo>
                <a:lnTo>
                  <a:pt x="18678" y="108471"/>
                </a:lnTo>
                <a:cubicBezTo>
                  <a:pt x="30163" y="119906"/>
                  <a:pt x="46013" y="127000"/>
                  <a:pt x="63500" y="127000"/>
                </a:cubicBezTo>
                <a:cubicBezTo>
                  <a:pt x="95498" y="127000"/>
                  <a:pt x="121965" y="103336"/>
                  <a:pt x="126355" y="72554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40" name="Text 38"/>
          <p:cNvSpPr/>
          <p:nvPr/>
        </p:nvSpPr>
        <p:spPr bwMode="auto">
          <a:xfrm flipH="0" flipV="0">
            <a:off x="769937" y="5929312"/>
            <a:ext cx="2024638" cy="158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Real time status updates</a:t>
            </a:r>
            <a:endParaRPr lang="en-US" sz="1600"/>
          </a:p>
        </p:txBody>
      </p:sp>
      <p:sp>
        <p:nvSpPr>
          <p:cNvPr id="41" name="Shape 39"/>
          <p:cNvSpPr/>
          <p:nvPr/>
        </p:nvSpPr>
        <p:spPr bwMode="auto">
          <a:xfrm>
            <a:off x="6179344" y="956469"/>
            <a:ext cx="5691188" cy="2389188"/>
          </a:xfrm>
          <a:custGeom>
            <a:avLst/>
            <a:gdLst/>
            <a:ahLst/>
            <a:cxnLst/>
            <a:rect l="l" t="t" r="r" b="b"/>
            <a:pathLst>
              <a:path w="5691188" h="2389188" fill="norm" stroke="1" extrusionOk="0">
                <a:moveTo>
                  <a:pt x="127009" y="0"/>
                </a:moveTo>
                <a:lnTo>
                  <a:pt x="5564178" y="0"/>
                </a:lnTo>
                <a:cubicBezTo>
                  <a:pt x="5634324" y="0"/>
                  <a:pt x="5691188" y="56864"/>
                  <a:pt x="5691188" y="127009"/>
                </a:cubicBezTo>
                <a:lnTo>
                  <a:pt x="5691188" y="2262178"/>
                </a:lnTo>
                <a:cubicBezTo>
                  <a:pt x="5691188" y="2332324"/>
                  <a:pt x="5634324" y="2389188"/>
                  <a:pt x="5564178" y="2389188"/>
                </a:cubicBezTo>
                <a:lnTo>
                  <a:pt x="127009" y="2389188"/>
                </a:lnTo>
                <a:cubicBezTo>
                  <a:pt x="56864" y="2389188"/>
                  <a:pt x="0" y="2332324"/>
                  <a:pt x="0" y="2262178"/>
                </a:cubicBezTo>
                <a:lnTo>
                  <a:pt x="0" y="127009"/>
                </a:lnTo>
                <a:cubicBezTo>
                  <a:pt x="0" y="56911"/>
                  <a:pt x="56911" y="0"/>
                  <a:pt x="127009" y="0"/>
                </a:cubicBezTo>
                <a:close/>
              </a:path>
            </a:pathLst>
          </a:custGeom>
          <a:solidFill>
            <a:srgbClr val="4C1D95">
              <a:alpha val="30194"/>
            </a:srgbClr>
          </a:solidFill>
          <a:ln w="12700">
            <a:solidFill>
              <a:srgbClr val="7C3AED">
                <a:alpha val="30194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 bwMode="auto">
          <a:xfrm>
            <a:off x="6342063" y="11191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fill="norm" stroke="1" extrusionOk="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43" name="Shape 41"/>
          <p:cNvSpPr/>
          <p:nvPr/>
        </p:nvSpPr>
        <p:spPr bwMode="auto">
          <a:xfrm>
            <a:off x="6463109" y="1230313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 fill="norm" stroke="1" extrusionOk="0">
                <a:moveTo>
                  <a:pt x="138906" y="63810"/>
                </a:moveTo>
                <a:cubicBezTo>
                  <a:pt x="134317" y="66849"/>
                  <a:pt x="129046" y="69298"/>
                  <a:pt x="123558" y="71251"/>
                </a:cubicBezTo>
                <a:cubicBezTo>
                  <a:pt x="108986" y="76460"/>
                  <a:pt x="89855" y="79375"/>
                  <a:pt x="69453" y="79375"/>
                </a:cubicBezTo>
                <a:cubicBezTo>
                  <a:pt x="49051" y="79375"/>
                  <a:pt x="29890" y="76429"/>
                  <a:pt x="15348" y="71251"/>
                </a:cubicBezTo>
                <a:cubicBezTo>
                  <a:pt x="9891" y="69298"/>
                  <a:pt x="4589" y="66849"/>
                  <a:pt x="0" y="63810"/>
                </a:cubicBezTo>
                <a:lnTo>
                  <a:pt x="0" y="89297"/>
                </a:lnTo>
                <a:cubicBezTo>
                  <a:pt x="0" y="103001"/>
                  <a:pt x="31099" y="114102"/>
                  <a:pt x="69453" y="114102"/>
                </a:cubicBezTo>
                <a:cubicBezTo>
                  <a:pt x="107807" y="114102"/>
                  <a:pt x="138906" y="103001"/>
                  <a:pt x="138906" y="89297"/>
                </a:cubicBezTo>
                <a:lnTo>
                  <a:pt x="138906" y="63810"/>
                </a:lnTo>
                <a:close/>
                <a:moveTo>
                  <a:pt x="138906" y="39688"/>
                </a:moveTo>
                <a:lnTo>
                  <a:pt x="138906" y="24805"/>
                </a:lnTo>
                <a:cubicBezTo>
                  <a:pt x="138906" y="11100"/>
                  <a:pt x="107807" y="0"/>
                  <a:pt x="69453" y="0"/>
                </a:cubicBezTo>
                <a:cubicBezTo>
                  <a:pt x="31099" y="0"/>
                  <a:pt x="0" y="11100"/>
                  <a:pt x="0" y="24805"/>
                </a:cubicBezTo>
                <a:lnTo>
                  <a:pt x="0" y="39688"/>
                </a:lnTo>
                <a:cubicBezTo>
                  <a:pt x="0" y="53392"/>
                  <a:pt x="31099" y="64492"/>
                  <a:pt x="69453" y="64492"/>
                </a:cubicBezTo>
                <a:cubicBezTo>
                  <a:pt x="107807" y="64492"/>
                  <a:pt x="138906" y="53392"/>
                  <a:pt x="138906" y="39688"/>
                </a:cubicBezTo>
                <a:close/>
                <a:moveTo>
                  <a:pt x="123558" y="120861"/>
                </a:moveTo>
                <a:cubicBezTo>
                  <a:pt x="109017" y="126039"/>
                  <a:pt x="89886" y="128984"/>
                  <a:pt x="69453" y="128984"/>
                </a:cubicBezTo>
                <a:cubicBezTo>
                  <a:pt x="49020" y="128984"/>
                  <a:pt x="29890" y="126039"/>
                  <a:pt x="15348" y="120861"/>
                </a:cubicBezTo>
                <a:cubicBezTo>
                  <a:pt x="9891" y="118907"/>
                  <a:pt x="4589" y="116458"/>
                  <a:pt x="0" y="113419"/>
                </a:cubicBezTo>
                <a:lnTo>
                  <a:pt x="0" y="133945"/>
                </a:lnTo>
                <a:cubicBezTo>
                  <a:pt x="0" y="147650"/>
                  <a:pt x="31099" y="158750"/>
                  <a:pt x="69453" y="158750"/>
                </a:cubicBezTo>
                <a:cubicBezTo>
                  <a:pt x="107807" y="158750"/>
                  <a:pt x="138906" y="147650"/>
                  <a:pt x="138906" y="133945"/>
                </a:cubicBezTo>
                <a:lnTo>
                  <a:pt x="138906" y="113419"/>
                </a:lnTo>
                <a:cubicBezTo>
                  <a:pt x="134317" y="116458"/>
                  <a:pt x="129046" y="118907"/>
                  <a:pt x="123558" y="120861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44" name="Text 42"/>
          <p:cNvSpPr/>
          <p:nvPr/>
        </p:nvSpPr>
        <p:spPr bwMode="auto">
          <a:xfrm flipH="0" flipV="0">
            <a:off x="6818312" y="1182687"/>
            <a:ext cx="1904999" cy="25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50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Storage Layer</a:t>
            </a:r>
            <a:endParaRPr lang="en-US" sz="1600"/>
          </a:p>
        </p:txBody>
      </p:sp>
      <p:sp>
        <p:nvSpPr>
          <p:cNvPr id="45" name="Text 43"/>
          <p:cNvSpPr/>
          <p:nvPr/>
        </p:nvSpPr>
        <p:spPr bwMode="auto">
          <a:xfrm>
            <a:off x="6342063" y="1627188"/>
            <a:ext cx="5429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Files are saved in </a:t>
            </a:r>
            <a:r>
              <a:rPr lang="en-US" sz="100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MinIO</a:t>
            </a: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using the standard S3 protocol. This provides true distributed storage that works both locally and in the cloud.</a:t>
            </a:r>
            <a:endParaRPr lang="en-US" sz="1600"/>
          </a:p>
        </p:txBody>
      </p:sp>
      <p:sp>
        <p:nvSpPr>
          <p:cNvPr id="46" name="Shape 44"/>
          <p:cNvSpPr/>
          <p:nvPr/>
        </p:nvSpPr>
        <p:spPr bwMode="auto">
          <a:xfrm>
            <a:off x="6342063" y="2166938"/>
            <a:ext cx="5365750" cy="1016000"/>
          </a:xfrm>
          <a:custGeom>
            <a:avLst/>
            <a:gdLst/>
            <a:ahLst/>
            <a:cxnLst/>
            <a:rect l="l" t="t" r="r" b="b"/>
            <a:pathLst>
              <a:path w="5365750" h="1016000" fill="norm" stroke="1" extrusionOk="0">
                <a:moveTo>
                  <a:pt x="95250" y="0"/>
                </a:moveTo>
                <a:lnTo>
                  <a:pt x="5270500" y="0"/>
                </a:lnTo>
                <a:cubicBezTo>
                  <a:pt x="5323070" y="0"/>
                  <a:pt x="5365750" y="42680"/>
                  <a:pt x="5365750" y="95250"/>
                </a:cubicBezTo>
                <a:lnTo>
                  <a:pt x="5365750" y="920750"/>
                </a:lnTo>
                <a:cubicBezTo>
                  <a:pt x="5365750" y="973320"/>
                  <a:pt x="5323070" y="1016000"/>
                  <a:pt x="5270500" y="1016000"/>
                </a:cubicBezTo>
                <a:lnTo>
                  <a:pt x="95250" y="1016000"/>
                </a:lnTo>
                <a:cubicBezTo>
                  <a:pt x="42680" y="1016000"/>
                  <a:pt x="0" y="973320"/>
                  <a:pt x="0" y="920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 bwMode="auto">
          <a:xfrm flipH="0" flipV="0">
            <a:off x="6469062" y="2293938"/>
            <a:ext cx="1830211" cy="190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S3 API Compatible</a:t>
            </a:r>
            <a:endParaRPr lang="en-US" sz="1600"/>
          </a:p>
        </p:txBody>
      </p:sp>
      <p:sp>
        <p:nvSpPr>
          <p:cNvPr id="48" name="Shape 46"/>
          <p:cNvSpPr/>
          <p:nvPr/>
        </p:nvSpPr>
        <p:spPr bwMode="auto">
          <a:xfrm>
            <a:off x="11437938" y="232568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49" name="Text 47"/>
          <p:cNvSpPr/>
          <p:nvPr/>
        </p:nvSpPr>
        <p:spPr bwMode="auto">
          <a:xfrm flipH="0" flipV="0">
            <a:off x="6469062" y="2579688"/>
            <a:ext cx="2254249" cy="190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Distributed Storage</a:t>
            </a:r>
            <a:endParaRPr lang="en-US" sz="1600"/>
          </a:p>
        </p:txBody>
      </p:sp>
      <p:sp>
        <p:nvSpPr>
          <p:cNvPr id="50" name="Shape 48"/>
          <p:cNvSpPr/>
          <p:nvPr/>
        </p:nvSpPr>
        <p:spPr bwMode="auto">
          <a:xfrm>
            <a:off x="11437938" y="261143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51" name="Text 49"/>
          <p:cNvSpPr/>
          <p:nvPr/>
        </p:nvSpPr>
        <p:spPr bwMode="auto">
          <a:xfrm flipH="0" flipV="0">
            <a:off x="6469062" y="2865438"/>
            <a:ext cx="1273471" cy="190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Cloud Ready</a:t>
            </a:r>
            <a:endParaRPr lang="en-US" sz="1600"/>
          </a:p>
        </p:txBody>
      </p:sp>
      <p:sp>
        <p:nvSpPr>
          <p:cNvPr id="52" name="Shape 50"/>
          <p:cNvSpPr/>
          <p:nvPr/>
        </p:nvSpPr>
        <p:spPr bwMode="auto">
          <a:xfrm>
            <a:off x="11437938" y="289718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53" name="Shape 51"/>
          <p:cNvSpPr/>
          <p:nvPr/>
        </p:nvSpPr>
        <p:spPr bwMode="auto">
          <a:xfrm flipH="0" flipV="0">
            <a:off x="6179343" y="3480593"/>
            <a:ext cx="5691187" cy="2512218"/>
          </a:xfrm>
          <a:custGeom>
            <a:avLst/>
            <a:gdLst/>
            <a:ahLst/>
            <a:cxnLst/>
            <a:rect l="l" t="t" r="r" b="b"/>
            <a:pathLst>
              <a:path w="5691188" h="2770188" fill="norm" stroke="1" extrusionOk="0">
                <a:moveTo>
                  <a:pt x="127013" y="0"/>
                </a:moveTo>
                <a:lnTo>
                  <a:pt x="5564174" y="0"/>
                </a:lnTo>
                <a:cubicBezTo>
                  <a:pt x="5634322" y="0"/>
                  <a:pt x="5691188" y="56866"/>
                  <a:pt x="5691188" y="127013"/>
                </a:cubicBezTo>
                <a:lnTo>
                  <a:pt x="5691188" y="2643174"/>
                </a:lnTo>
                <a:cubicBezTo>
                  <a:pt x="5691188" y="2713322"/>
                  <a:pt x="5634322" y="2770188"/>
                  <a:pt x="5564174" y="2770188"/>
                </a:cubicBezTo>
                <a:lnTo>
                  <a:pt x="127013" y="2770188"/>
                </a:lnTo>
                <a:cubicBezTo>
                  <a:pt x="56866" y="2770188"/>
                  <a:pt x="0" y="2713322"/>
                  <a:pt x="0" y="2643174"/>
                </a:cubicBezTo>
                <a:lnTo>
                  <a:pt x="0" y="127013"/>
                </a:lnTo>
                <a:cubicBezTo>
                  <a:pt x="0" y="56913"/>
                  <a:pt x="56913" y="0"/>
                  <a:pt x="127013" y="0"/>
                </a:cubicBezTo>
                <a:close/>
              </a:path>
            </a:pathLst>
          </a:custGeom>
          <a:solidFill>
            <a:srgbClr val="4C1D95">
              <a:alpha val="30194"/>
            </a:srgbClr>
          </a:solidFill>
          <a:ln w="12700">
            <a:solidFill>
              <a:srgbClr val="7C3AED">
                <a:alpha val="30194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 bwMode="auto">
          <a:xfrm>
            <a:off x="6342063" y="36433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fill="norm" stroke="1" extrusionOk="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/>
        </p:spPr>
      </p:sp>
      <p:sp>
        <p:nvSpPr>
          <p:cNvPr id="55" name="Shape 53"/>
          <p:cNvSpPr/>
          <p:nvPr/>
        </p:nvSpPr>
        <p:spPr bwMode="auto">
          <a:xfrm>
            <a:off x="6463109" y="3754438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 fill="norm" stroke="1" extrusionOk="0">
                <a:moveTo>
                  <a:pt x="105048" y="-3070"/>
                </a:moveTo>
                <a:cubicBezTo>
                  <a:pt x="108738" y="-403"/>
                  <a:pt x="110102" y="4434"/>
                  <a:pt x="108427" y="8651"/>
                </a:cubicBezTo>
                <a:lnTo>
                  <a:pt x="84119" y="69453"/>
                </a:lnTo>
                <a:lnTo>
                  <a:pt x="128984" y="69453"/>
                </a:lnTo>
                <a:cubicBezTo>
                  <a:pt x="133170" y="69453"/>
                  <a:pt x="136891" y="72058"/>
                  <a:pt x="138317" y="75995"/>
                </a:cubicBezTo>
                <a:cubicBezTo>
                  <a:pt x="139743" y="79933"/>
                  <a:pt x="138534" y="84336"/>
                  <a:pt x="135341" y="87002"/>
                </a:cubicBezTo>
                <a:lnTo>
                  <a:pt x="46044" y="161417"/>
                </a:lnTo>
                <a:cubicBezTo>
                  <a:pt x="42540" y="164331"/>
                  <a:pt x="37548" y="164486"/>
                  <a:pt x="33858" y="161820"/>
                </a:cubicBezTo>
                <a:cubicBezTo>
                  <a:pt x="30169" y="159153"/>
                  <a:pt x="28804" y="154316"/>
                  <a:pt x="30479" y="150099"/>
                </a:cubicBezTo>
                <a:lnTo>
                  <a:pt x="54787" y="89297"/>
                </a:lnTo>
                <a:lnTo>
                  <a:pt x="9922" y="89297"/>
                </a:lnTo>
                <a:cubicBezTo>
                  <a:pt x="5736" y="89297"/>
                  <a:pt x="2015" y="86692"/>
                  <a:pt x="589" y="82755"/>
                </a:cubicBezTo>
                <a:cubicBezTo>
                  <a:pt x="-837" y="78817"/>
                  <a:pt x="372" y="74414"/>
                  <a:pt x="3566" y="71748"/>
                </a:cubicBezTo>
                <a:lnTo>
                  <a:pt x="92863" y="-2667"/>
                </a:lnTo>
                <a:cubicBezTo>
                  <a:pt x="96366" y="-5581"/>
                  <a:pt x="101358" y="-5736"/>
                  <a:pt x="105048" y="-307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56" name="Text 54"/>
          <p:cNvSpPr/>
          <p:nvPr/>
        </p:nvSpPr>
        <p:spPr bwMode="auto">
          <a:xfrm flipH="0" flipV="0">
            <a:off x="6818312" y="3706812"/>
            <a:ext cx="2309811" cy="25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50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Spark Analytics Layer</a:t>
            </a:r>
            <a:endParaRPr lang="en-US" sz="1600"/>
          </a:p>
        </p:txBody>
      </p:sp>
      <p:sp>
        <p:nvSpPr>
          <p:cNvPr id="57" name="Text 55"/>
          <p:cNvSpPr/>
          <p:nvPr/>
        </p:nvSpPr>
        <p:spPr bwMode="auto">
          <a:xfrm>
            <a:off x="6342063" y="4151313"/>
            <a:ext cx="5429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00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Apache Spark</a:t>
            </a: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loads the uploaded file and automatically detects whether columns contain numbers, categories, dates, or boolean values.</a:t>
            </a:r>
            <a:endParaRPr lang="en-US" sz="1600"/>
          </a:p>
        </p:txBody>
      </p:sp>
      <p:sp>
        <p:nvSpPr>
          <p:cNvPr id="58" name="Shape 56"/>
          <p:cNvSpPr/>
          <p:nvPr/>
        </p:nvSpPr>
        <p:spPr bwMode="auto">
          <a:xfrm>
            <a:off x="6342063" y="4691063"/>
            <a:ext cx="2651125" cy="666750"/>
          </a:xfrm>
          <a:custGeom>
            <a:avLst/>
            <a:gdLst/>
            <a:ahLst/>
            <a:cxnLst/>
            <a:rect l="l" t="t" r="r" b="b"/>
            <a:pathLst>
              <a:path w="2651125" h="666750" fill="norm" stroke="1" extrusionOk="0">
                <a:moveTo>
                  <a:pt x="63501" y="0"/>
                </a:moveTo>
                <a:lnTo>
                  <a:pt x="2587624" y="0"/>
                </a:lnTo>
                <a:cubicBezTo>
                  <a:pt x="2622695" y="0"/>
                  <a:pt x="2651125" y="28430"/>
                  <a:pt x="2651125" y="63501"/>
                </a:cubicBezTo>
                <a:lnTo>
                  <a:pt x="2651125" y="603249"/>
                </a:lnTo>
                <a:cubicBezTo>
                  <a:pt x="2651125" y="638320"/>
                  <a:pt x="2622695" y="666750"/>
                  <a:pt x="2587624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59" name="Shape 57"/>
          <p:cNvSpPr/>
          <p:nvPr/>
        </p:nvSpPr>
        <p:spPr bwMode="auto">
          <a:xfrm>
            <a:off x="7598172" y="480218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 fill="norm" stroke="1" extrusionOk="0">
                <a:moveTo>
                  <a:pt x="59913" y="195"/>
                </a:moveTo>
                <a:cubicBezTo>
                  <a:pt x="64740" y="1228"/>
                  <a:pt x="67810" y="5972"/>
                  <a:pt x="66777" y="10799"/>
                </a:cubicBezTo>
                <a:lnTo>
                  <a:pt x="61447" y="35719"/>
                </a:lnTo>
                <a:lnTo>
                  <a:pt x="96748" y="35719"/>
                </a:lnTo>
                <a:lnTo>
                  <a:pt x="102887" y="7060"/>
                </a:lnTo>
                <a:cubicBezTo>
                  <a:pt x="103919" y="2232"/>
                  <a:pt x="108663" y="-837"/>
                  <a:pt x="113491" y="195"/>
                </a:cubicBezTo>
                <a:cubicBezTo>
                  <a:pt x="118318" y="1228"/>
                  <a:pt x="121388" y="5972"/>
                  <a:pt x="120355" y="10799"/>
                </a:cubicBezTo>
                <a:lnTo>
                  <a:pt x="115026" y="35719"/>
                </a:lnTo>
                <a:lnTo>
                  <a:pt x="133945" y="35719"/>
                </a:lnTo>
                <a:cubicBezTo>
                  <a:pt x="138885" y="35719"/>
                  <a:pt x="142875" y="39709"/>
                  <a:pt x="142875" y="44648"/>
                </a:cubicBezTo>
                <a:cubicBezTo>
                  <a:pt x="142875" y="49588"/>
                  <a:pt x="138885" y="53578"/>
                  <a:pt x="133945" y="53578"/>
                </a:cubicBezTo>
                <a:lnTo>
                  <a:pt x="111175" y="53578"/>
                </a:lnTo>
                <a:lnTo>
                  <a:pt x="103529" y="89297"/>
                </a:lnTo>
                <a:lnTo>
                  <a:pt x="122448" y="89297"/>
                </a:lnTo>
                <a:cubicBezTo>
                  <a:pt x="127388" y="89297"/>
                  <a:pt x="131378" y="93287"/>
                  <a:pt x="131378" y="98227"/>
                </a:cubicBezTo>
                <a:cubicBezTo>
                  <a:pt x="131378" y="103166"/>
                  <a:pt x="127388" y="107156"/>
                  <a:pt x="122448" y="107156"/>
                </a:cubicBezTo>
                <a:lnTo>
                  <a:pt x="99678" y="107156"/>
                </a:lnTo>
                <a:lnTo>
                  <a:pt x="93538" y="135815"/>
                </a:lnTo>
                <a:cubicBezTo>
                  <a:pt x="92506" y="140643"/>
                  <a:pt x="87762" y="143712"/>
                  <a:pt x="82934" y="142680"/>
                </a:cubicBezTo>
                <a:cubicBezTo>
                  <a:pt x="78107" y="141647"/>
                  <a:pt x="75037" y="136903"/>
                  <a:pt x="76070" y="132076"/>
                </a:cubicBezTo>
                <a:lnTo>
                  <a:pt x="81400" y="107156"/>
                </a:lnTo>
                <a:lnTo>
                  <a:pt x="46100" y="107156"/>
                </a:lnTo>
                <a:lnTo>
                  <a:pt x="39960" y="135815"/>
                </a:lnTo>
                <a:cubicBezTo>
                  <a:pt x="38928" y="140643"/>
                  <a:pt x="34184" y="143712"/>
                  <a:pt x="29356" y="142680"/>
                </a:cubicBezTo>
                <a:cubicBezTo>
                  <a:pt x="24529" y="141647"/>
                  <a:pt x="21459" y="136903"/>
                  <a:pt x="22492" y="132076"/>
                </a:cubicBezTo>
                <a:lnTo>
                  <a:pt x="27849" y="107156"/>
                </a:lnTo>
                <a:lnTo>
                  <a:pt x="8930" y="107156"/>
                </a:lnTo>
                <a:cubicBezTo>
                  <a:pt x="3990" y="107156"/>
                  <a:pt x="0" y="103166"/>
                  <a:pt x="0" y="98227"/>
                </a:cubicBezTo>
                <a:cubicBezTo>
                  <a:pt x="0" y="93287"/>
                  <a:pt x="3990" y="89297"/>
                  <a:pt x="8930" y="89297"/>
                </a:cubicBezTo>
                <a:lnTo>
                  <a:pt x="31700" y="89297"/>
                </a:lnTo>
                <a:lnTo>
                  <a:pt x="39346" y="53578"/>
                </a:lnTo>
                <a:lnTo>
                  <a:pt x="20427" y="53578"/>
                </a:lnTo>
                <a:cubicBezTo>
                  <a:pt x="15487" y="53578"/>
                  <a:pt x="11497" y="49588"/>
                  <a:pt x="11497" y="44648"/>
                </a:cubicBezTo>
                <a:cubicBezTo>
                  <a:pt x="11497" y="39709"/>
                  <a:pt x="15487" y="35719"/>
                  <a:pt x="20427" y="35719"/>
                </a:cubicBezTo>
                <a:lnTo>
                  <a:pt x="43197" y="35719"/>
                </a:lnTo>
                <a:lnTo>
                  <a:pt x="49337" y="7060"/>
                </a:lnTo>
                <a:cubicBezTo>
                  <a:pt x="50341" y="2232"/>
                  <a:pt x="55085" y="-837"/>
                  <a:pt x="59913" y="195"/>
                </a:cubicBezTo>
                <a:close/>
                <a:moveTo>
                  <a:pt x="57596" y="53578"/>
                </a:moveTo>
                <a:lnTo>
                  <a:pt x="49950" y="89297"/>
                </a:lnTo>
                <a:lnTo>
                  <a:pt x="85251" y="89297"/>
                </a:lnTo>
                <a:lnTo>
                  <a:pt x="92897" y="53578"/>
                </a:lnTo>
                <a:lnTo>
                  <a:pt x="57596" y="53578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60" name="Text 58"/>
          <p:cNvSpPr/>
          <p:nvPr/>
        </p:nvSpPr>
        <p:spPr bwMode="auto">
          <a:xfrm>
            <a:off x="6409530" y="4976813"/>
            <a:ext cx="2516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9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Numeric</a:t>
            </a:r>
            <a:endParaRPr lang="en-US" sz="1600"/>
          </a:p>
        </p:txBody>
      </p:sp>
      <p:sp>
        <p:nvSpPr>
          <p:cNvPr id="61" name="Text 59"/>
          <p:cNvSpPr/>
          <p:nvPr/>
        </p:nvSpPr>
        <p:spPr bwMode="auto">
          <a:xfrm>
            <a:off x="6413500" y="5135563"/>
            <a:ext cx="2508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75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Mean, min, max</a:t>
            </a:r>
            <a:endParaRPr lang="en-US" sz="1600"/>
          </a:p>
        </p:txBody>
      </p:sp>
      <p:sp>
        <p:nvSpPr>
          <p:cNvPr id="62" name="Shape 60"/>
          <p:cNvSpPr/>
          <p:nvPr/>
        </p:nvSpPr>
        <p:spPr bwMode="auto">
          <a:xfrm>
            <a:off x="9056688" y="4691063"/>
            <a:ext cx="2651125" cy="666750"/>
          </a:xfrm>
          <a:custGeom>
            <a:avLst/>
            <a:gdLst/>
            <a:ahLst/>
            <a:cxnLst/>
            <a:rect l="l" t="t" r="r" b="b"/>
            <a:pathLst>
              <a:path w="2651125" h="666750" fill="norm" stroke="1" extrusionOk="0">
                <a:moveTo>
                  <a:pt x="63501" y="0"/>
                </a:moveTo>
                <a:lnTo>
                  <a:pt x="2587624" y="0"/>
                </a:lnTo>
                <a:cubicBezTo>
                  <a:pt x="2622695" y="0"/>
                  <a:pt x="2651125" y="28430"/>
                  <a:pt x="2651125" y="63501"/>
                </a:cubicBezTo>
                <a:lnTo>
                  <a:pt x="2651125" y="603249"/>
                </a:lnTo>
                <a:cubicBezTo>
                  <a:pt x="2651125" y="638320"/>
                  <a:pt x="2622695" y="666750"/>
                  <a:pt x="2587624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63" name="Shape 61"/>
          <p:cNvSpPr/>
          <p:nvPr/>
        </p:nvSpPr>
        <p:spPr bwMode="auto">
          <a:xfrm>
            <a:off x="10303866" y="4802188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 fill="norm" stroke="1" extrusionOk="0">
                <a:moveTo>
                  <a:pt x="111956" y="10911"/>
                </a:moveTo>
                <a:lnTo>
                  <a:pt x="153312" y="52853"/>
                </a:lnTo>
                <a:cubicBezTo>
                  <a:pt x="161041" y="60694"/>
                  <a:pt x="161041" y="73251"/>
                  <a:pt x="153312" y="81093"/>
                </a:cubicBezTo>
                <a:lnTo>
                  <a:pt x="109668" y="125267"/>
                </a:lnTo>
                <a:cubicBezTo>
                  <a:pt x="107073" y="127890"/>
                  <a:pt x="102831" y="127918"/>
                  <a:pt x="100208" y="125323"/>
                </a:cubicBezTo>
                <a:cubicBezTo>
                  <a:pt x="97585" y="122727"/>
                  <a:pt x="97557" y="118486"/>
                  <a:pt x="100152" y="115863"/>
                </a:cubicBezTo>
                <a:lnTo>
                  <a:pt x="143796" y="71661"/>
                </a:lnTo>
                <a:cubicBezTo>
                  <a:pt x="146363" y="69066"/>
                  <a:pt x="146363" y="64852"/>
                  <a:pt x="143796" y="62257"/>
                </a:cubicBezTo>
                <a:lnTo>
                  <a:pt x="102412" y="20343"/>
                </a:lnTo>
                <a:cubicBezTo>
                  <a:pt x="99817" y="17720"/>
                  <a:pt x="99845" y="13478"/>
                  <a:pt x="102468" y="10883"/>
                </a:cubicBezTo>
                <a:cubicBezTo>
                  <a:pt x="105091" y="8288"/>
                  <a:pt x="109333" y="8316"/>
                  <a:pt x="111928" y="10939"/>
                </a:cubicBezTo>
                <a:close/>
                <a:moveTo>
                  <a:pt x="8958" y="64043"/>
                </a:moveTo>
                <a:lnTo>
                  <a:pt x="8958" y="26789"/>
                </a:lnTo>
                <a:cubicBezTo>
                  <a:pt x="8958" y="16939"/>
                  <a:pt x="16966" y="8930"/>
                  <a:pt x="26817" y="8930"/>
                </a:cubicBezTo>
                <a:lnTo>
                  <a:pt x="64071" y="8930"/>
                </a:lnTo>
                <a:cubicBezTo>
                  <a:pt x="68814" y="8930"/>
                  <a:pt x="73363" y="10799"/>
                  <a:pt x="76712" y="14148"/>
                </a:cubicBezTo>
                <a:lnTo>
                  <a:pt x="116895" y="54332"/>
                </a:lnTo>
                <a:cubicBezTo>
                  <a:pt x="123872" y="61308"/>
                  <a:pt x="123872" y="72610"/>
                  <a:pt x="116895" y="79586"/>
                </a:cubicBezTo>
                <a:lnTo>
                  <a:pt x="79642" y="116839"/>
                </a:lnTo>
                <a:cubicBezTo>
                  <a:pt x="72665" y="123816"/>
                  <a:pt x="61364" y="123816"/>
                  <a:pt x="54387" y="116839"/>
                </a:cubicBezTo>
                <a:lnTo>
                  <a:pt x="14204" y="76656"/>
                </a:lnTo>
                <a:cubicBezTo>
                  <a:pt x="10855" y="73307"/>
                  <a:pt x="8985" y="68759"/>
                  <a:pt x="8985" y="64015"/>
                </a:cubicBezTo>
                <a:close/>
                <a:moveTo>
                  <a:pt x="49141" y="40184"/>
                </a:moveTo>
                <a:cubicBezTo>
                  <a:pt x="49141" y="35255"/>
                  <a:pt x="45140" y="31254"/>
                  <a:pt x="40211" y="31254"/>
                </a:cubicBezTo>
                <a:cubicBezTo>
                  <a:pt x="35283" y="31254"/>
                  <a:pt x="31282" y="35255"/>
                  <a:pt x="31282" y="40184"/>
                </a:cubicBezTo>
                <a:cubicBezTo>
                  <a:pt x="31282" y="45112"/>
                  <a:pt x="35283" y="49113"/>
                  <a:pt x="40211" y="49113"/>
                </a:cubicBezTo>
                <a:cubicBezTo>
                  <a:pt x="45140" y="49113"/>
                  <a:pt x="49141" y="45112"/>
                  <a:pt x="49141" y="40184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64" name="Text 62"/>
          <p:cNvSpPr/>
          <p:nvPr/>
        </p:nvSpPr>
        <p:spPr bwMode="auto">
          <a:xfrm>
            <a:off x="9124156" y="4976813"/>
            <a:ext cx="2516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9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Categorical</a:t>
            </a:r>
            <a:endParaRPr lang="en-US" sz="1600"/>
          </a:p>
        </p:txBody>
      </p:sp>
      <p:sp>
        <p:nvSpPr>
          <p:cNvPr id="65" name="Text 63"/>
          <p:cNvSpPr/>
          <p:nvPr/>
        </p:nvSpPr>
        <p:spPr bwMode="auto">
          <a:xfrm>
            <a:off x="9128125" y="5135563"/>
            <a:ext cx="2508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75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Top values</a:t>
            </a:r>
            <a:endParaRPr lang="en-US" sz="1600"/>
          </a:p>
        </p:txBody>
      </p:sp>
      <p:sp>
        <p:nvSpPr>
          <p:cNvPr id="66" name="Shape 64"/>
          <p:cNvSpPr/>
          <p:nvPr/>
        </p:nvSpPr>
        <p:spPr bwMode="auto">
          <a:xfrm>
            <a:off x="6342063" y="5421313"/>
            <a:ext cx="2651125" cy="666750"/>
          </a:xfrm>
          <a:custGeom>
            <a:avLst/>
            <a:gdLst/>
            <a:ahLst/>
            <a:cxnLst/>
            <a:rect l="l" t="t" r="r" b="b"/>
            <a:pathLst>
              <a:path w="2651125" h="666750" fill="norm" stroke="1" extrusionOk="0">
                <a:moveTo>
                  <a:pt x="63501" y="0"/>
                </a:moveTo>
                <a:lnTo>
                  <a:pt x="2587624" y="0"/>
                </a:lnTo>
                <a:cubicBezTo>
                  <a:pt x="2622695" y="0"/>
                  <a:pt x="2651125" y="28430"/>
                  <a:pt x="2651125" y="63501"/>
                </a:cubicBezTo>
                <a:lnTo>
                  <a:pt x="2651125" y="603249"/>
                </a:lnTo>
                <a:cubicBezTo>
                  <a:pt x="2651125" y="638320"/>
                  <a:pt x="2622695" y="666750"/>
                  <a:pt x="2587624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67" name="Shape 65"/>
          <p:cNvSpPr/>
          <p:nvPr/>
        </p:nvSpPr>
        <p:spPr bwMode="auto">
          <a:xfrm>
            <a:off x="7607102" y="5532438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 fill="norm" stroke="1" extrusionOk="0">
                <a:moveTo>
                  <a:pt x="35719" y="0"/>
                </a:moveTo>
                <a:cubicBezTo>
                  <a:pt x="40658" y="0"/>
                  <a:pt x="44648" y="3990"/>
                  <a:pt x="44648" y="8930"/>
                </a:cubicBezTo>
                <a:lnTo>
                  <a:pt x="44648" y="17859"/>
                </a:lnTo>
                <a:lnTo>
                  <a:pt x="80367" y="17859"/>
                </a:lnTo>
                <a:lnTo>
                  <a:pt x="80367" y="8930"/>
                </a:lnTo>
                <a:cubicBezTo>
                  <a:pt x="80367" y="3990"/>
                  <a:pt x="84358" y="0"/>
                  <a:pt x="89297" y="0"/>
                </a:cubicBezTo>
                <a:cubicBezTo>
                  <a:pt x="94236" y="0"/>
                  <a:pt x="98227" y="3990"/>
                  <a:pt x="98227" y="8930"/>
                </a:cubicBezTo>
                <a:lnTo>
                  <a:pt x="98227" y="17859"/>
                </a:lnTo>
                <a:lnTo>
                  <a:pt x="107156" y="17859"/>
                </a:lnTo>
                <a:cubicBezTo>
                  <a:pt x="117007" y="17859"/>
                  <a:pt x="125016" y="25868"/>
                  <a:pt x="125016" y="35719"/>
                </a:cubicBezTo>
                <a:lnTo>
                  <a:pt x="125016" y="116086"/>
                </a:lnTo>
                <a:cubicBezTo>
                  <a:pt x="125016" y="125936"/>
                  <a:pt x="117007" y="133945"/>
                  <a:pt x="107156" y="133945"/>
                </a:cubicBezTo>
                <a:lnTo>
                  <a:pt x="17859" y="133945"/>
                </a:lnTo>
                <a:cubicBezTo>
                  <a:pt x="8009" y="133945"/>
                  <a:pt x="0" y="125936"/>
                  <a:pt x="0" y="116086"/>
                </a:cubicBezTo>
                <a:lnTo>
                  <a:pt x="0" y="35719"/>
                </a:lnTo>
                <a:cubicBezTo>
                  <a:pt x="0" y="25868"/>
                  <a:pt x="8009" y="17859"/>
                  <a:pt x="17859" y="17859"/>
                </a:cubicBezTo>
                <a:lnTo>
                  <a:pt x="26789" y="17859"/>
                </a:lnTo>
                <a:lnTo>
                  <a:pt x="26789" y="8930"/>
                </a:lnTo>
                <a:cubicBezTo>
                  <a:pt x="26789" y="3990"/>
                  <a:pt x="30780" y="0"/>
                  <a:pt x="35719" y="0"/>
                </a:cubicBezTo>
                <a:close/>
                <a:moveTo>
                  <a:pt x="17859" y="66973"/>
                </a:moveTo>
                <a:lnTo>
                  <a:pt x="17859" y="75902"/>
                </a:lnTo>
                <a:cubicBezTo>
                  <a:pt x="17859" y="78358"/>
                  <a:pt x="19869" y="80367"/>
                  <a:pt x="22324" y="80367"/>
                </a:cubicBezTo>
                <a:lnTo>
                  <a:pt x="31254" y="80367"/>
                </a:lnTo>
                <a:cubicBezTo>
                  <a:pt x="33710" y="80367"/>
                  <a:pt x="35719" y="78358"/>
                  <a:pt x="35719" y="75902"/>
                </a:cubicBezTo>
                <a:lnTo>
                  <a:pt x="35719" y="66973"/>
                </a:lnTo>
                <a:cubicBezTo>
                  <a:pt x="35719" y="64517"/>
                  <a:pt x="33710" y="62508"/>
                  <a:pt x="31254" y="62508"/>
                </a:cubicBezTo>
                <a:lnTo>
                  <a:pt x="22324" y="62508"/>
                </a:lnTo>
                <a:cubicBezTo>
                  <a:pt x="19869" y="62508"/>
                  <a:pt x="17859" y="64517"/>
                  <a:pt x="17859" y="66973"/>
                </a:cubicBezTo>
                <a:close/>
                <a:moveTo>
                  <a:pt x="53578" y="66973"/>
                </a:moveTo>
                <a:lnTo>
                  <a:pt x="53578" y="75902"/>
                </a:lnTo>
                <a:cubicBezTo>
                  <a:pt x="53578" y="78358"/>
                  <a:pt x="55587" y="80367"/>
                  <a:pt x="58043" y="80367"/>
                </a:cubicBezTo>
                <a:lnTo>
                  <a:pt x="66973" y="80367"/>
                </a:lnTo>
                <a:cubicBezTo>
                  <a:pt x="69428" y="80367"/>
                  <a:pt x="71438" y="78358"/>
                  <a:pt x="71438" y="75902"/>
                </a:cubicBezTo>
                <a:lnTo>
                  <a:pt x="71438" y="66973"/>
                </a:lnTo>
                <a:cubicBezTo>
                  <a:pt x="71438" y="64517"/>
                  <a:pt x="69428" y="62508"/>
                  <a:pt x="66973" y="62508"/>
                </a:cubicBezTo>
                <a:lnTo>
                  <a:pt x="58043" y="62508"/>
                </a:lnTo>
                <a:cubicBezTo>
                  <a:pt x="55587" y="62508"/>
                  <a:pt x="53578" y="64517"/>
                  <a:pt x="53578" y="66973"/>
                </a:cubicBezTo>
                <a:close/>
                <a:moveTo>
                  <a:pt x="93762" y="62508"/>
                </a:moveTo>
                <a:cubicBezTo>
                  <a:pt x="91306" y="62508"/>
                  <a:pt x="89297" y="64517"/>
                  <a:pt x="89297" y="66973"/>
                </a:cubicBezTo>
                <a:lnTo>
                  <a:pt x="89297" y="75902"/>
                </a:lnTo>
                <a:cubicBezTo>
                  <a:pt x="89297" y="78358"/>
                  <a:pt x="91306" y="80367"/>
                  <a:pt x="93762" y="80367"/>
                </a:cubicBezTo>
                <a:lnTo>
                  <a:pt x="102691" y="80367"/>
                </a:lnTo>
                <a:cubicBezTo>
                  <a:pt x="105147" y="80367"/>
                  <a:pt x="107156" y="78358"/>
                  <a:pt x="107156" y="75902"/>
                </a:cubicBezTo>
                <a:lnTo>
                  <a:pt x="107156" y="66973"/>
                </a:lnTo>
                <a:cubicBezTo>
                  <a:pt x="107156" y="64517"/>
                  <a:pt x="105147" y="62508"/>
                  <a:pt x="102691" y="62508"/>
                </a:cubicBezTo>
                <a:lnTo>
                  <a:pt x="93762" y="62508"/>
                </a:lnTo>
                <a:close/>
                <a:moveTo>
                  <a:pt x="17859" y="102691"/>
                </a:moveTo>
                <a:lnTo>
                  <a:pt x="17859" y="111621"/>
                </a:lnTo>
                <a:cubicBezTo>
                  <a:pt x="17859" y="114077"/>
                  <a:pt x="19869" y="116086"/>
                  <a:pt x="22324" y="116086"/>
                </a:cubicBezTo>
                <a:lnTo>
                  <a:pt x="31254" y="116086"/>
                </a:lnTo>
                <a:cubicBezTo>
                  <a:pt x="33710" y="116086"/>
                  <a:pt x="35719" y="114077"/>
                  <a:pt x="35719" y="111621"/>
                </a:cubicBezTo>
                <a:lnTo>
                  <a:pt x="35719" y="102691"/>
                </a:lnTo>
                <a:cubicBezTo>
                  <a:pt x="35719" y="100236"/>
                  <a:pt x="33710" y="98227"/>
                  <a:pt x="31254" y="98227"/>
                </a:cubicBezTo>
                <a:lnTo>
                  <a:pt x="22324" y="98227"/>
                </a:lnTo>
                <a:cubicBezTo>
                  <a:pt x="19869" y="98227"/>
                  <a:pt x="17859" y="100236"/>
                  <a:pt x="17859" y="102691"/>
                </a:cubicBezTo>
                <a:close/>
                <a:moveTo>
                  <a:pt x="58043" y="98227"/>
                </a:moveTo>
                <a:cubicBezTo>
                  <a:pt x="55587" y="98227"/>
                  <a:pt x="53578" y="100236"/>
                  <a:pt x="53578" y="102691"/>
                </a:cubicBezTo>
                <a:lnTo>
                  <a:pt x="53578" y="111621"/>
                </a:lnTo>
                <a:cubicBezTo>
                  <a:pt x="53578" y="114077"/>
                  <a:pt x="55587" y="116086"/>
                  <a:pt x="58043" y="116086"/>
                </a:cubicBezTo>
                <a:lnTo>
                  <a:pt x="66973" y="116086"/>
                </a:lnTo>
                <a:cubicBezTo>
                  <a:pt x="69428" y="116086"/>
                  <a:pt x="71438" y="114077"/>
                  <a:pt x="71438" y="111621"/>
                </a:cubicBezTo>
                <a:lnTo>
                  <a:pt x="71438" y="102691"/>
                </a:lnTo>
                <a:cubicBezTo>
                  <a:pt x="71438" y="100236"/>
                  <a:pt x="69428" y="98227"/>
                  <a:pt x="66973" y="98227"/>
                </a:cubicBezTo>
                <a:lnTo>
                  <a:pt x="58043" y="98227"/>
                </a:lnTo>
                <a:close/>
                <a:moveTo>
                  <a:pt x="89297" y="102691"/>
                </a:moveTo>
                <a:lnTo>
                  <a:pt x="89297" y="111621"/>
                </a:lnTo>
                <a:cubicBezTo>
                  <a:pt x="89297" y="114077"/>
                  <a:pt x="91306" y="116086"/>
                  <a:pt x="93762" y="116086"/>
                </a:cubicBezTo>
                <a:lnTo>
                  <a:pt x="102691" y="116086"/>
                </a:lnTo>
                <a:cubicBezTo>
                  <a:pt x="105147" y="116086"/>
                  <a:pt x="107156" y="114077"/>
                  <a:pt x="107156" y="111621"/>
                </a:cubicBezTo>
                <a:lnTo>
                  <a:pt x="107156" y="102691"/>
                </a:lnTo>
                <a:cubicBezTo>
                  <a:pt x="107156" y="100236"/>
                  <a:pt x="105147" y="98227"/>
                  <a:pt x="102691" y="98227"/>
                </a:cubicBezTo>
                <a:lnTo>
                  <a:pt x="93762" y="98227"/>
                </a:lnTo>
                <a:cubicBezTo>
                  <a:pt x="91306" y="98227"/>
                  <a:pt x="89297" y="100236"/>
                  <a:pt x="89297" y="102691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68" name="Text 66"/>
          <p:cNvSpPr/>
          <p:nvPr/>
        </p:nvSpPr>
        <p:spPr bwMode="auto">
          <a:xfrm>
            <a:off x="6409530" y="5707063"/>
            <a:ext cx="2516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9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DateTime</a:t>
            </a:r>
            <a:endParaRPr lang="en-US" sz="1600"/>
          </a:p>
        </p:txBody>
      </p:sp>
      <p:sp>
        <p:nvSpPr>
          <p:cNvPr id="69" name="Text 67"/>
          <p:cNvSpPr/>
          <p:nvPr/>
        </p:nvSpPr>
        <p:spPr bwMode="auto">
          <a:xfrm>
            <a:off x="6413500" y="5865812"/>
            <a:ext cx="2508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75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Trends</a:t>
            </a:r>
            <a:endParaRPr lang="en-US" sz="1600"/>
          </a:p>
        </p:txBody>
      </p:sp>
      <p:sp>
        <p:nvSpPr>
          <p:cNvPr id="70" name="Shape 68"/>
          <p:cNvSpPr/>
          <p:nvPr/>
        </p:nvSpPr>
        <p:spPr bwMode="auto">
          <a:xfrm>
            <a:off x="9056688" y="5421313"/>
            <a:ext cx="2651125" cy="666750"/>
          </a:xfrm>
          <a:custGeom>
            <a:avLst/>
            <a:gdLst/>
            <a:ahLst/>
            <a:cxnLst/>
            <a:rect l="l" t="t" r="r" b="b"/>
            <a:pathLst>
              <a:path w="2651125" h="666750" fill="norm" stroke="1" extrusionOk="0">
                <a:moveTo>
                  <a:pt x="63501" y="0"/>
                </a:moveTo>
                <a:lnTo>
                  <a:pt x="2587624" y="0"/>
                </a:lnTo>
                <a:cubicBezTo>
                  <a:pt x="2622695" y="0"/>
                  <a:pt x="2651125" y="28430"/>
                  <a:pt x="2651125" y="63501"/>
                </a:cubicBezTo>
                <a:lnTo>
                  <a:pt x="2651125" y="603249"/>
                </a:lnTo>
                <a:cubicBezTo>
                  <a:pt x="2651125" y="638320"/>
                  <a:pt x="2622695" y="666750"/>
                  <a:pt x="2587624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71" name="Shape 69"/>
          <p:cNvSpPr/>
          <p:nvPr/>
        </p:nvSpPr>
        <p:spPr bwMode="auto">
          <a:xfrm>
            <a:off x="10303866" y="5532438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 fill="norm" stroke="1" extrusionOk="0">
                <a:moveTo>
                  <a:pt x="53578" y="17859"/>
                </a:moveTo>
                <a:cubicBezTo>
                  <a:pt x="23999" y="17859"/>
                  <a:pt x="0" y="41858"/>
                  <a:pt x="0" y="71438"/>
                </a:cubicBezTo>
                <a:cubicBezTo>
                  <a:pt x="0" y="101017"/>
                  <a:pt x="23999" y="125016"/>
                  <a:pt x="53578" y="125016"/>
                </a:cubicBezTo>
                <a:lnTo>
                  <a:pt x="107156" y="125016"/>
                </a:lnTo>
                <a:cubicBezTo>
                  <a:pt x="136736" y="125016"/>
                  <a:pt x="160734" y="101017"/>
                  <a:pt x="160734" y="71438"/>
                </a:cubicBezTo>
                <a:cubicBezTo>
                  <a:pt x="160734" y="41858"/>
                  <a:pt x="136736" y="17859"/>
                  <a:pt x="107156" y="17859"/>
                </a:cubicBezTo>
                <a:lnTo>
                  <a:pt x="53578" y="17859"/>
                </a:lnTo>
                <a:close/>
                <a:moveTo>
                  <a:pt x="107156" y="44648"/>
                </a:moveTo>
                <a:cubicBezTo>
                  <a:pt x="121942" y="44648"/>
                  <a:pt x="133945" y="56652"/>
                  <a:pt x="133945" y="71438"/>
                </a:cubicBezTo>
                <a:cubicBezTo>
                  <a:pt x="133945" y="86223"/>
                  <a:pt x="121942" y="98227"/>
                  <a:pt x="107156" y="98227"/>
                </a:cubicBezTo>
                <a:cubicBezTo>
                  <a:pt x="92371" y="98227"/>
                  <a:pt x="80367" y="86223"/>
                  <a:pt x="80367" y="71438"/>
                </a:cubicBezTo>
                <a:cubicBezTo>
                  <a:pt x="80367" y="56652"/>
                  <a:pt x="92371" y="44648"/>
                  <a:pt x="107156" y="44648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72" name="Text 70"/>
          <p:cNvSpPr/>
          <p:nvPr/>
        </p:nvSpPr>
        <p:spPr bwMode="auto">
          <a:xfrm>
            <a:off x="9124156" y="5707063"/>
            <a:ext cx="2516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9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Boolean</a:t>
            </a:r>
            <a:endParaRPr lang="en-US" sz="1600"/>
          </a:p>
        </p:txBody>
      </p:sp>
      <p:sp>
        <p:nvSpPr>
          <p:cNvPr id="73" name="Text 71"/>
          <p:cNvSpPr/>
          <p:nvPr/>
        </p:nvSpPr>
        <p:spPr bwMode="auto">
          <a:xfrm>
            <a:off x="9128125" y="5865812"/>
            <a:ext cx="2508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75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Distribution</a:t>
            </a:r>
            <a:endParaRPr lang="en-US" sz="1600"/>
          </a:p>
        </p:txBody>
      </p:sp>
      <p:sp>
        <p:nvSpPr>
          <p:cNvPr id="74" name="Shape 72"/>
          <p:cNvSpPr/>
          <p:nvPr/>
        </p:nvSpPr>
        <p:spPr bwMode="auto">
          <a:xfrm flipH="0" flipV="0">
            <a:off x="6095999" y="5992812"/>
            <a:ext cx="5774531" cy="840411"/>
          </a:xfrm>
          <a:custGeom>
            <a:avLst/>
            <a:gdLst/>
            <a:ahLst/>
            <a:cxnLst/>
            <a:rect l="l" t="t" r="r" b="b"/>
            <a:pathLst>
              <a:path w="5691188" h="1563688" fill="norm" stroke="1" extrusionOk="0">
                <a:moveTo>
                  <a:pt x="127003" y="0"/>
                </a:moveTo>
                <a:lnTo>
                  <a:pt x="5564185" y="0"/>
                </a:lnTo>
                <a:cubicBezTo>
                  <a:pt x="5634326" y="0"/>
                  <a:pt x="5691188" y="56861"/>
                  <a:pt x="5691188" y="127003"/>
                </a:cubicBezTo>
                <a:lnTo>
                  <a:pt x="5691188" y="1436685"/>
                </a:lnTo>
                <a:cubicBezTo>
                  <a:pt x="5691188" y="1506826"/>
                  <a:pt x="5634326" y="1563687"/>
                  <a:pt x="5564185" y="1563688"/>
                </a:cubicBezTo>
                <a:lnTo>
                  <a:pt x="127003" y="1563688"/>
                </a:lnTo>
                <a:cubicBezTo>
                  <a:pt x="56861" y="1563688"/>
                  <a:pt x="0" y="1506826"/>
                  <a:pt x="0" y="1436685"/>
                </a:cubicBezTo>
                <a:lnTo>
                  <a:pt x="0" y="127003"/>
                </a:lnTo>
                <a:cubicBezTo>
                  <a:pt x="0" y="56861"/>
                  <a:pt x="56861" y="0"/>
                  <a:pt x="127003" y="0"/>
                </a:cubicBezTo>
                <a:close/>
              </a:path>
            </a:pathLst>
          </a:custGeom>
          <a:solidFill>
            <a:srgbClr val="4C1D95">
              <a:alpha val="30194"/>
            </a:srgbClr>
          </a:solidFill>
          <a:ln w="12700">
            <a:solidFill>
              <a:srgbClr val="7C3AED">
                <a:alpha val="30194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 bwMode="auto">
          <a:xfrm>
            <a:off x="6132157" y="605631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fill="norm" stroke="1" extrusionOk="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76" name="Shape 74"/>
          <p:cNvSpPr/>
          <p:nvPr/>
        </p:nvSpPr>
        <p:spPr bwMode="auto">
          <a:xfrm>
            <a:off x="6207124" y="6167437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 fill="norm" stroke="1" extrusionOk="0">
                <a:moveTo>
                  <a:pt x="0" y="44059"/>
                </a:moveTo>
                <a:lnTo>
                  <a:pt x="0" y="148828"/>
                </a:lnTo>
                <a:cubicBezTo>
                  <a:pt x="0" y="154316"/>
                  <a:pt x="4434" y="158750"/>
                  <a:pt x="9922" y="158750"/>
                </a:cubicBezTo>
                <a:cubicBezTo>
                  <a:pt x="15410" y="158750"/>
                  <a:pt x="19844" y="154316"/>
                  <a:pt x="19844" y="148828"/>
                </a:cubicBezTo>
                <a:lnTo>
                  <a:pt x="19844" y="74414"/>
                </a:lnTo>
                <a:cubicBezTo>
                  <a:pt x="19844" y="68926"/>
                  <a:pt x="24278" y="64492"/>
                  <a:pt x="29766" y="64492"/>
                </a:cubicBezTo>
                <a:lnTo>
                  <a:pt x="148828" y="64492"/>
                </a:lnTo>
                <a:cubicBezTo>
                  <a:pt x="154316" y="64492"/>
                  <a:pt x="158750" y="68926"/>
                  <a:pt x="158750" y="74414"/>
                </a:cubicBezTo>
                <a:lnTo>
                  <a:pt x="158750" y="148828"/>
                </a:lnTo>
                <a:cubicBezTo>
                  <a:pt x="158750" y="154316"/>
                  <a:pt x="163184" y="158750"/>
                  <a:pt x="168672" y="158750"/>
                </a:cubicBezTo>
                <a:cubicBezTo>
                  <a:pt x="174160" y="158750"/>
                  <a:pt x="178594" y="154316"/>
                  <a:pt x="178594" y="148828"/>
                </a:cubicBezTo>
                <a:lnTo>
                  <a:pt x="178594" y="44059"/>
                </a:lnTo>
                <a:cubicBezTo>
                  <a:pt x="178594" y="35533"/>
                  <a:pt x="173137" y="27936"/>
                  <a:pt x="165013" y="25239"/>
                </a:cubicBezTo>
                <a:lnTo>
                  <a:pt x="94010" y="1581"/>
                </a:lnTo>
                <a:cubicBezTo>
                  <a:pt x="90940" y="558"/>
                  <a:pt x="87654" y="558"/>
                  <a:pt x="84584" y="1581"/>
                </a:cubicBezTo>
                <a:lnTo>
                  <a:pt x="13581" y="25239"/>
                </a:lnTo>
                <a:cubicBezTo>
                  <a:pt x="5457" y="27936"/>
                  <a:pt x="0" y="35533"/>
                  <a:pt x="0" y="44059"/>
                </a:cubicBezTo>
                <a:close/>
                <a:moveTo>
                  <a:pt x="143867" y="79375"/>
                </a:moveTo>
                <a:lnTo>
                  <a:pt x="34727" y="79375"/>
                </a:lnTo>
                <a:lnTo>
                  <a:pt x="34727" y="99219"/>
                </a:lnTo>
                <a:lnTo>
                  <a:pt x="143867" y="99219"/>
                </a:lnTo>
                <a:lnTo>
                  <a:pt x="143867" y="79375"/>
                </a:lnTo>
                <a:close/>
                <a:moveTo>
                  <a:pt x="34727" y="128984"/>
                </a:moveTo>
                <a:lnTo>
                  <a:pt x="143867" y="128984"/>
                </a:lnTo>
                <a:lnTo>
                  <a:pt x="143867" y="109141"/>
                </a:lnTo>
                <a:lnTo>
                  <a:pt x="34727" y="109141"/>
                </a:lnTo>
                <a:lnTo>
                  <a:pt x="34727" y="128984"/>
                </a:lnTo>
                <a:close/>
                <a:moveTo>
                  <a:pt x="143867" y="138906"/>
                </a:moveTo>
                <a:lnTo>
                  <a:pt x="34727" y="138906"/>
                </a:lnTo>
                <a:lnTo>
                  <a:pt x="34727" y="158750"/>
                </a:lnTo>
                <a:lnTo>
                  <a:pt x="143867" y="158750"/>
                </a:lnTo>
                <a:lnTo>
                  <a:pt x="143867" y="138906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77" name="Text 75"/>
          <p:cNvSpPr/>
          <p:nvPr/>
        </p:nvSpPr>
        <p:spPr bwMode="auto">
          <a:xfrm flipH="0" flipV="0">
            <a:off x="6513157" y="6040437"/>
            <a:ext cx="2569880" cy="25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50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Duck DB Warehouse Layer</a:t>
            </a:r>
            <a:endParaRPr lang="en-US" sz="1600"/>
          </a:p>
        </p:txBody>
      </p:sp>
      <p:sp>
        <p:nvSpPr>
          <p:cNvPr id="78" name="Text 76"/>
          <p:cNvSpPr/>
          <p:nvPr/>
        </p:nvSpPr>
        <p:spPr bwMode="auto">
          <a:xfrm flipH="0" flipV="0">
            <a:off x="6513157" y="6342062"/>
            <a:ext cx="5601890" cy="26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8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All results stored in </a:t>
            </a:r>
            <a:r>
              <a:rPr lang="en-US" sz="80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fast, file based DuckDB</a:t>
            </a:r>
            <a:r>
              <a:rPr lang="en-US" sz="8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database with three clear layers. Users can view everything through web interface or query directly with SQL.</a:t>
            </a:r>
            <a:endParaRPr lang="en-US" sz="1600"/>
          </a:p>
        </p:txBody>
      </p:sp>
      <p:sp>
        <p:nvSpPr>
          <p:cNvPr id="79" name="Shape 77"/>
          <p:cNvSpPr/>
          <p:nvPr/>
        </p:nvSpPr>
        <p:spPr bwMode="auto">
          <a:xfrm flipH="0" flipV="0">
            <a:off x="6357937" y="6610972"/>
            <a:ext cx="761999" cy="222249"/>
          </a:xfrm>
          <a:custGeom>
            <a:avLst/>
            <a:gdLst/>
            <a:ahLst/>
            <a:cxnLst/>
            <a:rect l="l" t="t" r="r" b="b"/>
            <a:pathLst>
              <a:path w="650875" h="222250" fill="norm" stroke="1" extrusionOk="0">
                <a:moveTo>
                  <a:pt x="111125" y="0"/>
                </a:moveTo>
                <a:lnTo>
                  <a:pt x="539750" y="0"/>
                </a:lnTo>
                <a:cubicBezTo>
                  <a:pt x="601082" y="0"/>
                  <a:pt x="650875" y="49793"/>
                  <a:pt x="650875" y="111125"/>
                </a:cubicBezTo>
                <a:lnTo>
                  <a:pt x="650875" y="111125"/>
                </a:lnTo>
                <a:cubicBezTo>
                  <a:pt x="650875" y="172457"/>
                  <a:pt x="601082" y="222250"/>
                  <a:pt x="5397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80" name="Text 78"/>
          <p:cNvSpPr/>
          <p:nvPr/>
        </p:nvSpPr>
        <p:spPr bwMode="auto">
          <a:xfrm flipH="0" flipV="0">
            <a:off x="6385718" y="6556723"/>
            <a:ext cx="706437" cy="330751"/>
          </a:xfrm>
          <a:prstGeom prst="rect">
            <a:avLst/>
          </a:prstGeom>
          <a:noFill/>
          <a:ln/>
        </p:spPr>
        <p:txBody>
          <a:bodyPr wrap="square" lIns="95249" tIns="31749" rIns="95249" bIns="31749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Raw Data</a:t>
            </a:r>
            <a:endParaRPr lang="en-US" sz="1600"/>
          </a:p>
        </p:txBody>
      </p:sp>
      <p:sp>
        <p:nvSpPr>
          <p:cNvPr id="81" name="Shape 79"/>
          <p:cNvSpPr/>
          <p:nvPr/>
        </p:nvSpPr>
        <p:spPr bwMode="auto">
          <a:xfrm>
            <a:off x="7265789" y="6610972"/>
            <a:ext cx="682625" cy="222250"/>
          </a:xfrm>
          <a:custGeom>
            <a:avLst/>
            <a:gdLst/>
            <a:ahLst/>
            <a:cxnLst/>
            <a:rect l="l" t="t" r="r" b="b"/>
            <a:pathLst>
              <a:path w="682625" h="222250" fill="norm" stroke="1" extrusionOk="0">
                <a:moveTo>
                  <a:pt x="111125" y="0"/>
                </a:moveTo>
                <a:lnTo>
                  <a:pt x="571500" y="0"/>
                </a:lnTo>
                <a:cubicBezTo>
                  <a:pt x="632832" y="0"/>
                  <a:pt x="682625" y="49793"/>
                  <a:pt x="682625" y="111125"/>
                </a:cubicBezTo>
                <a:lnTo>
                  <a:pt x="682625" y="111125"/>
                </a:lnTo>
                <a:cubicBezTo>
                  <a:pt x="682625" y="172457"/>
                  <a:pt x="632832" y="222250"/>
                  <a:pt x="57150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/>
        </p:spPr>
      </p:sp>
      <p:sp>
        <p:nvSpPr>
          <p:cNvPr id="82" name="Text 80"/>
          <p:cNvSpPr/>
          <p:nvPr/>
        </p:nvSpPr>
        <p:spPr bwMode="auto">
          <a:xfrm flipH="0" flipV="0">
            <a:off x="7238007" y="6610972"/>
            <a:ext cx="867966" cy="222249"/>
          </a:xfrm>
          <a:prstGeom prst="rect">
            <a:avLst/>
          </a:prstGeom>
          <a:noFill/>
          <a:ln/>
        </p:spPr>
        <p:txBody>
          <a:bodyPr wrap="square" lIns="95249" tIns="31749" rIns="95249" bIns="31749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Processed</a:t>
            </a:r>
            <a:endParaRPr lang="en-US" sz="1600"/>
          </a:p>
        </p:txBody>
      </p:sp>
      <p:sp>
        <p:nvSpPr>
          <p:cNvPr id="83" name="Shape 81"/>
          <p:cNvSpPr/>
          <p:nvPr/>
        </p:nvSpPr>
        <p:spPr bwMode="auto">
          <a:xfrm>
            <a:off x="7948414" y="6610972"/>
            <a:ext cx="928688" cy="222250"/>
          </a:xfrm>
          <a:custGeom>
            <a:avLst/>
            <a:gdLst/>
            <a:ahLst/>
            <a:cxnLst/>
            <a:rect l="l" t="t" r="r" b="b"/>
            <a:pathLst>
              <a:path w="928688" h="222250" fill="norm" stroke="1" extrusionOk="0">
                <a:moveTo>
                  <a:pt x="111125" y="0"/>
                </a:moveTo>
                <a:lnTo>
                  <a:pt x="817563" y="0"/>
                </a:lnTo>
                <a:cubicBezTo>
                  <a:pt x="878894" y="0"/>
                  <a:pt x="928688" y="49793"/>
                  <a:pt x="928688" y="111125"/>
                </a:cubicBezTo>
                <a:lnTo>
                  <a:pt x="928688" y="111125"/>
                </a:lnTo>
                <a:cubicBezTo>
                  <a:pt x="928688" y="172457"/>
                  <a:pt x="878894" y="222250"/>
                  <a:pt x="817563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84" name="Text 82"/>
          <p:cNvSpPr/>
          <p:nvPr/>
        </p:nvSpPr>
        <p:spPr bwMode="auto">
          <a:xfrm flipH="0" flipV="0">
            <a:off x="7937499" y="6610972"/>
            <a:ext cx="1087437" cy="222249"/>
          </a:xfrm>
          <a:prstGeom prst="rect">
            <a:avLst/>
          </a:prstGeom>
          <a:noFill/>
          <a:ln/>
        </p:spPr>
        <p:txBody>
          <a:bodyPr wrap="square" lIns="95249" tIns="31749" rIns="95249" bIns="31749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Analytics Marts</a:t>
            </a:r>
            <a:endParaRPr lang="en-US" sz="1600"/>
          </a:p>
        </p:txBody>
      </p:sp>
      <p:sp>
        <p:nvSpPr>
          <p:cNvPr id="85" name="Shape 83"/>
          <p:cNvSpPr/>
          <p:nvPr/>
        </p:nvSpPr>
        <p:spPr bwMode="auto">
          <a:xfrm>
            <a:off x="9193608" y="6610972"/>
            <a:ext cx="793750" cy="222250"/>
          </a:xfrm>
          <a:custGeom>
            <a:avLst/>
            <a:gdLst/>
            <a:ahLst/>
            <a:cxnLst/>
            <a:rect l="l" t="t" r="r" b="b"/>
            <a:pathLst>
              <a:path w="793750" h="222250" fill="norm" stroke="1" extrusionOk="0">
                <a:moveTo>
                  <a:pt x="111125" y="0"/>
                </a:moveTo>
                <a:lnTo>
                  <a:pt x="682625" y="0"/>
                </a:lnTo>
                <a:cubicBezTo>
                  <a:pt x="743957" y="0"/>
                  <a:pt x="793750" y="49793"/>
                  <a:pt x="793750" y="111125"/>
                </a:cubicBezTo>
                <a:lnTo>
                  <a:pt x="793750" y="111125"/>
                </a:lnTo>
                <a:cubicBezTo>
                  <a:pt x="793750" y="172457"/>
                  <a:pt x="743957" y="222250"/>
                  <a:pt x="68262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/>
        </p:spPr>
      </p:sp>
      <p:sp>
        <p:nvSpPr>
          <p:cNvPr id="86" name="Text 84"/>
          <p:cNvSpPr/>
          <p:nvPr/>
        </p:nvSpPr>
        <p:spPr bwMode="auto">
          <a:xfrm flipH="0" flipV="0">
            <a:off x="9193608" y="6610972"/>
            <a:ext cx="1027238" cy="222249"/>
          </a:xfrm>
          <a:prstGeom prst="rect">
            <a:avLst/>
          </a:prstGeom>
          <a:noFill/>
          <a:ln/>
        </p:spPr>
        <p:txBody>
          <a:bodyPr wrap="square" lIns="95249" tIns="31749" rIns="95249" bIns="31749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Star Schema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8">
    <p:bg>
      <p:bgPr shadeToTitle="0">
        <a:solidFill>
          <a:srgbClr val="1A0F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353904" y="371598"/>
            <a:ext cx="495466" cy="495466"/>
          </a:xfrm>
          <a:custGeom>
            <a:avLst/>
            <a:gdLst/>
            <a:ahLst/>
            <a:cxnLst/>
            <a:rect l="l" t="t" r="r" b="b"/>
            <a:pathLst>
              <a:path w="495466" h="495466" fill="norm" stroke="1" extrusionOk="0">
                <a:moveTo>
                  <a:pt x="106173" y="0"/>
                </a:moveTo>
                <a:lnTo>
                  <a:pt x="389293" y="0"/>
                </a:lnTo>
                <a:cubicBezTo>
                  <a:pt x="447930" y="0"/>
                  <a:pt x="495466" y="47535"/>
                  <a:pt x="495466" y="106173"/>
                </a:cubicBezTo>
                <a:lnTo>
                  <a:pt x="495466" y="389293"/>
                </a:lnTo>
                <a:cubicBezTo>
                  <a:pt x="495466" y="447930"/>
                  <a:pt x="447930" y="495466"/>
                  <a:pt x="389293" y="495466"/>
                </a:cubicBezTo>
                <a:lnTo>
                  <a:pt x="106173" y="495466"/>
                </a:lnTo>
                <a:cubicBezTo>
                  <a:pt x="47535" y="495466"/>
                  <a:pt x="0" y="447930"/>
                  <a:pt x="0" y="389293"/>
                </a:cubicBezTo>
                <a:lnTo>
                  <a:pt x="0" y="106173"/>
                </a:lnTo>
                <a:cubicBezTo>
                  <a:pt x="0" y="47575"/>
                  <a:pt x="47575" y="0"/>
                  <a:pt x="106173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 bwMode="auto">
          <a:xfrm>
            <a:off x="495466" y="513161"/>
            <a:ext cx="212343" cy="212343"/>
          </a:xfrm>
          <a:custGeom>
            <a:avLst/>
            <a:gdLst/>
            <a:ahLst/>
            <a:cxnLst/>
            <a:rect l="l" t="t" r="r" b="b"/>
            <a:pathLst>
              <a:path w="212343" h="212343" fill="norm" stroke="1" extrusionOk="0">
                <a:moveTo>
                  <a:pt x="92900" y="0"/>
                </a:moveTo>
                <a:lnTo>
                  <a:pt x="92900" y="26543"/>
                </a:lnTo>
                <a:cubicBezTo>
                  <a:pt x="92900" y="30192"/>
                  <a:pt x="95886" y="33179"/>
                  <a:pt x="99536" y="33179"/>
                </a:cubicBezTo>
                <a:lnTo>
                  <a:pt x="112807" y="33179"/>
                </a:lnTo>
                <a:cubicBezTo>
                  <a:pt x="116457" y="33179"/>
                  <a:pt x="119443" y="30192"/>
                  <a:pt x="119443" y="26543"/>
                </a:cubicBezTo>
                <a:lnTo>
                  <a:pt x="119443" y="0"/>
                </a:lnTo>
                <a:lnTo>
                  <a:pt x="132714" y="0"/>
                </a:lnTo>
                <a:cubicBezTo>
                  <a:pt x="147354" y="0"/>
                  <a:pt x="159257" y="11903"/>
                  <a:pt x="159257" y="26543"/>
                </a:cubicBezTo>
                <a:lnTo>
                  <a:pt x="159257" y="79628"/>
                </a:lnTo>
                <a:cubicBezTo>
                  <a:pt x="159257" y="81909"/>
                  <a:pt x="158967" y="84149"/>
                  <a:pt x="158427" y="86264"/>
                </a:cubicBezTo>
                <a:lnTo>
                  <a:pt x="53915" y="86264"/>
                </a:lnTo>
                <a:cubicBezTo>
                  <a:pt x="53376" y="84149"/>
                  <a:pt x="53086" y="81909"/>
                  <a:pt x="53086" y="79628"/>
                </a:cubicBezTo>
                <a:lnTo>
                  <a:pt x="53086" y="26543"/>
                </a:lnTo>
                <a:cubicBezTo>
                  <a:pt x="53086" y="11903"/>
                  <a:pt x="64988" y="0"/>
                  <a:pt x="79628" y="0"/>
                </a:cubicBezTo>
                <a:lnTo>
                  <a:pt x="92900" y="0"/>
                </a:lnTo>
                <a:close/>
                <a:moveTo>
                  <a:pt x="132714" y="212343"/>
                </a:moveTo>
                <a:cubicBezTo>
                  <a:pt x="128069" y="212343"/>
                  <a:pt x="123673" y="211140"/>
                  <a:pt x="119857" y="209025"/>
                </a:cubicBezTo>
                <a:cubicBezTo>
                  <a:pt x="123797" y="202182"/>
                  <a:pt x="126078" y="194260"/>
                  <a:pt x="126078" y="185800"/>
                </a:cubicBezTo>
                <a:lnTo>
                  <a:pt x="126078" y="132714"/>
                </a:lnTo>
                <a:cubicBezTo>
                  <a:pt x="126078" y="124254"/>
                  <a:pt x="123797" y="116332"/>
                  <a:pt x="119857" y="109489"/>
                </a:cubicBezTo>
                <a:cubicBezTo>
                  <a:pt x="123673" y="107374"/>
                  <a:pt x="128028" y="106171"/>
                  <a:pt x="132714" y="106171"/>
                </a:cubicBezTo>
                <a:lnTo>
                  <a:pt x="145985" y="106171"/>
                </a:lnTo>
                <a:lnTo>
                  <a:pt x="145985" y="132714"/>
                </a:lnTo>
                <a:cubicBezTo>
                  <a:pt x="145985" y="136364"/>
                  <a:pt x="148972" y="139350"/>
                  <a:pt x="152621" y="139350"/>
                </a:cubicBezTo>
                <a:lnTo>
                  <a:pt x="165893" y="139350"/>
                </a:lnTo>
                <a:cubicBezTo>
                  <a:pt x="169542" y="139350"/>
                  <a:pt x="172528" y="136364"/>
                  <a:pt x="172528" y="132714"/>
                </a:cubicBezTo>
                <a:lnTo>
                  <a:pt x="172528" y="106171"/>
                </a:lnTo>
                <a:lnTo>
                  <a:pt x="185800" y="106171"/>
                </a:lnTo>
                <a:cubicBezTo>
                  <a:pt x="200440" y="106171"/>
                  <a:pt x="212343" y="118074"/>
                  <a:pt x="212343" y="132714"/>
                </a:cubicBezTo>
                <a:lnTo>
                  <a:pt x="212343" y="185800"/>
                </a:lnTo>
                <a:cubicBezTo>
                  <a:pt x="212343" y="200440"/>
                  <a:pt x="200440" y="212343"/>
                  <a:pt x="185800" y="212343"/>
                </a:cubicBezTo>
                <a:lnTo>
                  <a:pt x="132714" y="212343"/>
                </a:lnTo>
                <a:close/>
                <a:moveTo>
                  <a:pt x="0" y="132714"/>
                </a:moveTo>
                <a:cubicBezTo>
                  <a:pt x="0" y="118074"/>
                  <a:pt x="11903" y="106171"/>
                  <a:pt x="26543" y="106171"/>
                </a:cubicBezTo>
                <a:lnTo>
                  <a:pt x="39814" y="106171"/>
                </a:lnTo>
                <a:lnTo>
                  <a:pt x="39814" y="132714"/>
                </a:lnTo>
                <a:cubicBezTo>
                  <a:pt x="39814" y="136364"/>
                  <a:pt x="42800" y="139350"/>
                  <a:pt x="46450" y="139350"/>
                </a:cubicBezTo>
                <a:lnTo>
                  <a:pt x="59721" y="139350"/>
                </a:lnTo>
                <a:cubicBezTo>
                  <a:pt x="63371" y="139350"/>
                  <a:pt x="66357" y="136364"/>
                  <a:pt x="66357" y="132714"/>
                </a:cubicBezTo>
                <a:lnTo>
                  <a:pt x="66357" y="106171"/>
                </a:lnTo>
                <a:lnTo>
                  <a:pt x="79628" y="106171"/>
                </a:lnTo>
                <a:cubicBezTo>
                  <a:pt x="94268" y="106171"/>
                  <a:pt x="106171" y="118074"/>
                  <a:pt x="106171" y="132714"/>
                </a:cubicBezTo>
                <a:lnTo>
                  <a:pt x="106171" y="185800"/>
                </a:lnTo>
                <a:cubicBezTo>
                  <a:pt x="106171" y="200440"/>
                  <a:pt x="94268" y="212343"/>
                  <a:pt x="79628" y="212343"/>
                </a:cubicBezTo>
                <a:lnTo>
                  <a:pt x="26543" y="212343"/>
                </a:lnTo>
                <a:cubicBezTo>
                  <a:pt x="11903" y="212343"/>
                  <a:pt x="0" y="200440"/>
                  <a:pt x="0" y="185800"/>
                </a:cubicBezTo>
                <a:lnTo>
                  <a:pt x="0" y="13271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 bwMode="auto">
          <a:xfrm flipH="0" flipV="0">
            <a:off x="990931" y="353903"/>
            <a:ext cx="4677288" cy="424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35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Asset Inventory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 bwMode="auto">
          <a:xfrm>
            <a:off x="990932" y="849370"/>
            <a:ext cx="1132493" cy="35390"/>
          </a:xfrm>
          <a:custGeom>
            <a:avLst/>
            <a:gdLst/>
            <a:ahLst/>
            <a:cxnLst/>
            <a:rect l="l" t="t" r="r" b="b"/>
            <a:pathLst>
              <a:path w="1132493" h="35390" fill="norm" stroke="1" extrusionOk="0">
                <a:moveTo>
                  <a:pt x="17695" y="0"/>
                </a:moveTo>
                <a:lnTo>
                  <a:pt x="1114798" y="0"/>
                </a:lnTo>
                <a:cubicBezTo>
                  <a:pt x="1124571" y="0"/>
                  <a:pt x="1132493" y="7922"/>
                  <a:pt x="1132493" y="17695"/>
                </a:cubicBezTo>
                <a:lnTo>
                  <a:pt x="1132493" y="17695"/>
                </a:lnTo>
                <a:cubicBezTo>
                  <a:pt x="1132493" y="27468"/>
                  <a:pt x="1124571" y="35390"/>
                  <a:pt x="1114798" y="35390"/>
                </a:cubicBezTo>
                <a:lnTo>
                  <a:pt x="17695" y="35390"/>
                </a:lnTo>
                <a:cubicBezTo>
                  <a:pt x="7929" y="35390"/>
                  <a:pt x="0" y="27461"/>
                  <a:pt x="0" y="17695"/>
                </a:cubicBezTo>
                <a:lnTo>
                  <a:pt x="0" y="17695"/>
                </a:lnTo>
                <a:cubicBezTo>
                  <a:pt x="0" y="7929"/>
                  <a:pt x="7929" y="0"/>
                  <a:pt x="17695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 bwMode="auto">
          <a:xfrm>
            <a:off x="358328" y="1066136"/>
            <a:ext cx="11475344" cy="663570"/>
          </a:xfrm>
          <a:custGeom>
            <a:avLst/>
            <a:gdLst/>
            <a:ahLst/>
            <a:cxnLst/>
            <a:rect l="l" t="t" r="r" b="b"/>
            <a:pathLst>
              <a:path w="11475344" h="663570" fill="norm" stroke="1" extrusionOk="0">
                <a:moveTo>
                  <a:pt x="141559" y="0"/>
                </a:moveTo>
                <a:lnTo>
                  <a:pt x="11333785" y="0"/>
                </a:lnTo>
                <a:cubicBezTo>
                  <a:pt x="11411966" y="0"/>
                  <a:pt x="11475344" y="63378"/>
                  <a:pt x="11475344" y="141559"/>
                </a:cubicBezTo>
                <a:lnTo>
                  <a:pt x="11475344" y="522011"/>
                </a:lnTo>
                <a:cubicBezTo>
                  <a:pt x="11475344" y="600192"/>
                  <a:pt x="11411966" y="663570"/>
                  <a:pt x="11333785" y="663570"/>
                </a:cubicBezTo>
                <a:lnTo>
                  <a:pt x="141559" y="663570"/>
                </a:lnTo>
                <a:cubicBezTo>
                  <a:pt x="63378" y="663570"/>
                  <a:pt x="0" y="600192"/>
                  <a:pt x="0" y="522011"/>
                </a:cubicBezTo>
                <a:lnTo>
                  <a:pt x="0" y="141559"/>
                </a:lnTo>
                <a:cubicBezTo>
                  <a:pt x="0" y="63378"/>
                  <a:pt x="63378" y="0"/>
                  <a:pt x="141559" y="0"/>
                </a:cubicBezTo>
                <a:close/>
              </a:path>
            </a:pathLst>
          </a:custGeom>
          <a:solidFill>
            <a:srgbClr val="4C1D95">
              <a:alpha val="30194"/>
            </a:srgbClr>
          </a:solidFill>
          <a:ln w="12700">
            <a:solidFill>
              <a:srgbClr val="7C3AED">
                <a:alpha val="30194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 bwMode="auto">
          <a:xfrm>
            <a:off x="575094" y="1282903"/>
            <a:ext cx="11112592" cy="23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1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SkyPipe consists of several </a:t>
            </a:r>
            <a:r>
              <a:rPr lang="en-US" sz="110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key components</a:t>
            </a:r>
            <a:r>
              <a:rPr lang="en-US" sz="11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and processing artifacts. Each component is designed for </a:t>
            </a:r>
            <a:r>
              <a:rPr lang="en-US" sz="110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specific responsibilities</a:t>
            </a:r>
            <a:r>
              <a:rPr lang="en-US" sz="11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within the distributed pipeline architecture.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 bwMode="auto">
          <a:xfrm>
            <a:off x="358328" y="1915507"/>
            <a:ext cx="11475344" cy="3539042"/>
          </a:xfrm>
          <a:custGeom>
            <a:avLst/>
            <a:gdLst/>
            <a:ahLst/>
            <a:cxnLst/>
            <a:rect l="l" t="t" r="r" b="b"/>
            <a:pathLst>
              <a:path w="11475344" h="3539042" fill="norm" stroke="1" extrusionOk="0">
                <a:moveTo>
                  <a:pt x="141562" y="0"/>
                </a:moveTo>
                <a:lnTo>
                  <a:pt x="11333782" y="0"/>
                </a:lnTo>
                <a:cubicBezTo>
                  <a:pt x="11411965" y="0"/>
                  <a:pt x="11475344" y="63379"/>
                  <a:pt x="11475344" y="141562"/>
                </a:cubicBezTo>
                <a:lnTo>
                  <a:pt x="11475344" y="3397480"/>
                </a:lnTo>
                <a:cubicBezTo>
                  <a:pt x="11475344" y="3475663"/>
                  <a:pt x="11411965" y="3539042"/>
                  <a:pt x="11333782" y="3539042"/>
                </a:cubicBezTo>
                <a:lnTo>
                  <a:pt x="141562" y="3539042"/>
                </a:lnTo>
                <a:cubicBezTo>
                  <a:pt x="63379" y="3539042"/>
                  <a:pt x="0" y="3475663"/>
                  <a:pt x="0" y="3397480"/>
                </a:cubicBezTo>
                <a:lnTo>
                  <a:pt x="0" y="141562"/>
                </a:lnTo>
                <a:cubicBezTo>
                  <a:pt x="0" y="63432"/>
                  <a:pt x="63432" y="0"/>
                  <a:pt x="141562" y="0"/>
                </a:cubicBezTo>
                <a:close/>
              </a:path>
            </a:pathLst>
          </a:custGeom>
          <a:solidFill>
            <a:srgbClr val="4C1D95">
              <a:alpha val="30194"/>
            </a:srgbClr>
          </a:solidFill>
          <a:ln w="12700">
            <a:solidFill>
              <a:srgbClr val="7C3AED">
                <a:alpha val="30194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 bwMode="auto">
          <a:xfrm>
            <a:off x="579518" y="2136697"/>
            <a:ext cx="3574433" cy="1530635"/>
          </a:xfrm>
          <a:custGeom>
            <a:avLst/>
            <a:gdLst/>
            <a:ahLst/>
            <a:cxnLst/>
            <a:rect l="l" t="t" r="r" b="b"/>
            <a:pathLst>
              <a:path w="3574433" h="1530636" fill="norm" stroke="1" extrusionOk="0">
                <a:moveTo>
                  <a:pt x="106165" y="0"/>
                </a:moveTo>
                <a:lnTo>
                  <a:pt x="3468268" y="0"/>
                </a:lnTo>
                <a:cubicBezTo>
                  <a:pt x="3526901" y="0"/>
                  <a:pt x="3574433" y="47532"/>
                  <a:pt x="3574433" y="106165"/>
                </a:cubicBezTo>
                <a:lnTo>
                  <a:pt x="3574433" y="1424471"/>
                </a:lnTo>
                <a:cubicBezTo>
                  <a:pt x="3574433" y="1483065"/>
                  <a:pt x="3526862" y="1530636"/>
                  <a:pt x="3468268" y="1530636"/>
                </a:cubicBezTo>
                <a:lnTo>
                  <a:pt x="106165" y="1530636"/>
                </a:lnTo>
                <a:cubicBezTo>
                  <a:pt x="47532" y="1530636"/>
                  <a:pt x="0" y="1483104"/>
                  <a:pt x="0" y="1424471"/>
                </a:cubicBezTo>
                <a:lnTo>
                  <a:pt x="0" y="106165"/>
                </a:lnTo>
                <a:cubicBezTo>
                  <a:pt x="0" y="47532"/>
                  <a:pt x="47532" y="0"/>
                  <a:pt x="106165" y="0"/>
                </a:cubicBezTo>
                <a:close/>
              </a:path>
            </a:pathLst>
          </a:custGeom>
          <a:gradFill>
            <a:gsLst>
              <a:gs pos="0">
                <a:srgbClr val="7C3AED">
                  <a:alpha val="30000"/>
                </a:srgbClr>
              </a:gs>
              <a:gs pos="100000">
                <a:srgbClr val="7C3AED">
                  <a:alpha val="10000"/>
                </a:srgbClr>
              </a:gs>
            </a:gsLst>
            <a:lin ang="2700000" scaled="1"/>
          </a:gra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 bwMode="auto">
          <a:xfrm>
            <a:off x="760894" y="2318073"/>
            <a:ext cx="424685" cy="424685"/>
          </a:xfrm>
          <a:custGeom>
            <a:avLst/>
            <a:gdLst/>
            <a:ahLst/>
            <a:cxnLst/>
            <a:rect l="l" t="t" r="r" b="b"/>
            <a:pathLst>
              <a:path w="424685" h="424685" fill="norm" stroke="1" extrusionOk="0">
                <a:moveTo>
                  <a:pt x="106171" y="0"/>
                </a:moveTo>
                <a:lnTo>
                  <a:pt x="318514" y="0"/>
                </a:lnTo>
                <a:cubicBezTo>
                  <a:pt x="377151" y="0"/>
                  <a:pt x="424685" y="47534"/>
                  <a:pt x="424685" y="106171"/>
                </a:cubicBezTo>
                <a:lnTo>
                  <a:pt x="424685" y="318514"/>
                </a:lnTo>
                <a:cubicBezTo>
                  <a:pt x="424685" y="377151"/>
                  <a:pt x="377151" y="424685"/>
                  <a:pt x="318514" y="424685"/>
                </a:cubicBezTo>
                <a:lnTo>
                  <a:pt x="106171" y="424685"/>
                </a:lnTo>
                <a:cubicBezTo>
                  <a:pt x="47534" y="424685"/>
                  <a:pt x="0" y="377151"/>
                  <a:pt x="0" y="318514"/>
                </a:cubicBezTo>
                <a:lnTo>
                  <a:pt x="0" y="106171"/>
                </a:lnTo>
                <a:cubicBezTo>
                  <a:pt x="0" y="47534"/>
                  <a:pt x="47534" y="0"/>
                  <a:pt x="106171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 bwMode="auto">
          <a:xfrm>
            <a:off x="884761" y="2441939"/>
            <a:ext cx="176952" cy="176952"/>
          </a:xfrm>
          <a:custGeom>
            <a:avLst/>
            <a:gdLst/>
            <a:ahLst/>
            <a:cxnLst/>
            <a:rect l="l" t="t" r="r" b="b"/>
            <a:pathLst>
              <a:path w="176952" h="176952" fill="norm" stroke="1" extrusionOk="0">
                <a:moveTo>
                  <a:pt x="22119" y="11060"/>
                </a:moveTo>
                <a:cubicBezTo>
                  <a:pt x="9919" y="11060"/>
                  <a:pt x="0" y="20979"/>
                  <a:pt x="0" y="33179"/>
                </a:cubicBezTo>
                <a:lnTo>
                  <a:pt x="0" y="121655"/>
                </a:lnTo>
                <a:cubicBezTo>
                  <a:pt x="0" y="133855"/>
                  <a:pt x="9919" y="143774"/>
                  <a:pt x="22119" y="143774"/>
                </a:cubicBezTo>
                <a:lnTo>
                  <a:pt x="71887" y="143774"/>
                </a:lnTo>
                <a:lnTo>
                  <a:pt x="66357" y="160363"/>
                </a:lnTo>
                <a:lnTo>
                  <a:pt x="41473" y="160363"/>
                </a:lnTo>
                <a:cubicBezTo>
                  <a:pt x="36877" y="160363"/>
                  <a:pt x="33179" y="164061"/>
                  <a:pt x="33179" y="168657"/>
                </a:cubicBezTo>
                <a:cubicBezTo>
                  <a:pt x="33179" y="173254"/>
                  <a:pt x="36877" y="176952"/>
                  <a:pt x="41473" y="176952"/>
                </a:cubicBezTo>
                <a:lnTo>
                  <a:pt x="135479" y="176952"/>
                </a:lnTo>
                <a:cubicBezTo>
                  <a:pt x="140076" y="176952"/>
                  <a:pt x="143774" y="173254"/>
                  <a:pt x="143774" y="168657"/>
                </a:cubicBezTo>
                <a:cubicBezTo>
                  <a:pt x="143774" y="164061"/>
                  <a:pt x="140076" y="160363"/>
                  <a:pt x="135479" y="160363"/>
                </a:cubicBezTo>
                <a:lnTo>
                  <a:pt x="110595" y="160363"/>
                </a:lnTo>
                <a:lnTo>
                  <a:pt x="105065" y="143774"/>
                </a:lnTo>
                <a:lnTo>
                  <a:pt x="154833" y="143774"/>
                </a:lnTo>
                <a:cubicBezTo>
                  <a:pt x="167033" y="143774"/>
                  <a:pt x="176952" y="133855"/>
                  <a:pt x="176952" y="121655"/>
                </a:cubicBezTo>
                <a:lnTo>
                  <a:pt x="176952" y="33179"/>
                </a:lnTo>
                <a:cubicBezTo>
                  <a:pt x="176952" y="20979"/>
                  <a:pt x="167033" y="11060"/>
                  <a:pt x="154833" y="11060"/>
                </a:cubicBezTo>
                <a:lnTo>
                  <a:pt x="22119" y="11060"/>
                </a:lnTo>
                <a:close/>
                <a:moveTo>
                  <a:pt x="33179" y="33179"/>
                </a:moveTo>
                <a:lnTo>
                  <a:pt x="143774" y="33179"/>
                </a:lnTo>
                <a:cubicBezTo>
                  <a:pt x="149891" y="33179"/>
                  <a:pt x="154833" y="38121"/>
                  <a:pt x="154833" y="44238"/>
                </a:cubicBezTo>
                <a:lnTo>
                  <a:pt x="154833" y="99536"/>
                </a:lnTo>
                <a:cubicBezTo>
                  <a:pt x="154833" y="105653"/>
                  <a:pt x="149891" y="110595"/>
                  <a:pt x="143774" y="110595"/>
                </a:cubicBezTo>
                <a:lnTo>
                  <a:pt x="33179" y="110595"/>
                </a:lnTo>
                <a:cubicBezTo>
                  <a:pt x="27061" y="110595"/>
                  <a:pt x="22119" y="105653"/>
                  <a:pt x="22119" y="99536"/>
                </a:cubicBezTo>
                <a:lnTo>
                  <a:pt x="22119" y="44238"/>
                </a:lnTo>
                <a:cubicBezTo>
                  <a:pt x="22119" y="38121"/>
                  <a:pt x="27061" y="33179"/>
                  <a:pt x="33179" y="3317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 bwMode="auto">
          <a:xfrm flipH="0" flipV="0">
            <a:off x="1291749" y="2318072"/>
            <a:ext cx="1583721" cy="247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React Frontend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 bwMode="auto">
          <a:xfrm>
            <a:off x="1291750" y="2565806"/>
            <a:ext cx="1105951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User Interface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 bwMode="auto">
          <a:xfrm>
            <a:off x="760894" y="2884319"/>
            <a:ext cx="3273613" cy="601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Clean multi page web application for upload, monitoring, and results visualization. Built with modern React for responsive user experience.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 bwMode="auto">
          <a:xfrm>
            <a:off x="579518" y="3819954"/>
            <a:ext cx="3574433" cy="1415617"/>
          </a:xfrm>
          <a:custGeom>
            <a:avLst/>
            <a:gdLst/>
            <a:ahLst/>
            <a:cxnLst/>
            <a:rect l="l" t="t" r="r" b="b"/>
            <a:pathLst>
              <a:path w="3574433" h="1415617" fill="norm" stroke="1" extrusionOk="0">
                <a:moveTo>
                  <a:pt x="106171" y="0"/>
                </a:moveTo>
                <a:lnTo>
                  <a:pt x="3468261" y="0"/>
                </a:lnTo>
                <a:cubicBezTo>
                  <a:pt x="3526898" y="0"/>
                  <a:pt x="3574433" y="47534"/>
                  <a:pt x="3574433" y="106171"/>
                </a:cubicBezTo>
                <a:lnTo>
                  <a:pt x="3574433" y="1309446"/>
                </a:lnTo>
                <a:cubicBezTo>
                  <a:pt x="3574433" y="1368082"/>
                  <a:pt x="3526898" y="1415617"/>
                  <a:pt x="3468261" y="1415617"/>
                </a:cubicBezTo>
                <a:lnTo>
                  <a:pt x="106171" y="1415617"/>
                </a:lnTo>
                <a:cubicBezTo>
                  <a:pt x="47534" y="1415617"/>
                  <a:pt x="0" y="1368082"/>
                  <a:pt x="0" y="1309446"/>
                </a:cubicBezTo>
                <a:lnTo>
                  <a:pt x="0" y="106171"/>
                </a:lnTo>
                <a:cubicBezTo>
                  <a:pt x="0" y="47534"/>
                  <a:pt x="47534" y="0"/>
                  <a:pt x="106171" y="0"/>
                </a:cubicBezTo>
                <a:close/>
              </a:path>
            </a:pathLst>
          </a:custGeom>
          <a:gradFill>
            <a:gsLst>
              <a:gs pos="0">
                <a:srgbClr val="EC4899">
                  <a:alpha val="30000"/>
                </a:srgbClr>
              </a:gs>
              <a:gs pos="100000">
                <a:srgbClr val="EC4899">
                  <a:alpha val="10000"/>
                </a:srgbClr>
              </a:gs>
            </a:gsLst>
            <a:lin ang="2700000" scaled="1"/>
          </a:gradFill>
          <a:ln w="1270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 bwMode="auto">
          <a:xfrm>
            <a:off x="760894" y="4001329"/>
            <a:ext cx="424685" cy="424685"/>
          </a:xfrm>
          <a:custGeom>
            <a:avLst/>
            <a:gdLst/>
            <a:ahLst/>
            <a:cxnLst/>
            <a:rect l="l" t="t" r="r" b="b"/>
            <a:pathLst>
              <a:path w="424685" h="424685" fill="norm" stroke="1" extrusionOk="0">
                <a:moveTo>
                  <a:pt x="106171" y="0"/>
                </a:moveTo>
                <a:lnTo>
                  <a:pt x="318514" y="0"/>
                </a:lnTo>
                <a:cubicBezTo>
                  <a:pt x="377151" y="0"/>
                  <a:pt x="424685" y="47534"/>
                  <a:pt x="424685" y="106171"/>
                </a:cubicBezTo>
                <a:lnTo>
                  <a:pt x="424685" y="318514"/>
                </a:lnTo>
                <a:cubicBezTo>
                  <a:pt x="424685" y="377151"/>
                  <a:pt x="377151" y="424685"/>
                  <a:pt x="318514" y="424685"/>
                </a:cubicBezTo>
                <a:lnTo>
                  <a:pt x="106171" y="424685"/>
                </a:lnTo>
                <a:cubicBezTo>
                  <a:pt x="47534" y="424685"/>
                  <a:pt x="0" y="377151"/>
                  <a:pt x="0" y="318514"/>
                </a:cubicBezTo>
                <a:lnTo>
                  <a:pt x="0" y="106171"/>
                </a:lnTo>
                <a:cubicBezTo>
                  <a:pt x="0" y="47534"/>
                  <a:pt x="47534" y="0"/>
                  <a:pt x="106171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17" name="Shape 15"/>
          <p:cNvSpPr/>
          <p:nvPr/>
        </p:nvSpPr>
        <p:spPr bwMode="auto">
          <a:xfrm>
            <a:off x="873701" y="4125196"/>
            <a:ext cx="199071" cy="176952"/>
          </a:xfrm>
          <a:custGeom>
            <a:avLst/>
            <a:gdLst/>
            <a:ahLst/>
            <a:cxnLst/>
            <a:rect l="l" t="t" r="r" b="b"/>
            <a:pathLst>
              <a:path w="199071" h="176952" fill="norm" stroke="1" extrusionOk="0">
                <a:moveTo>
                  <a:pt x="85711" y="30414"/>
                </a:moveTo>
                <a:lnTo>
                  <a:pt x="113360" y="30414"/>
                </a:lnTo>
                <a:lnTo>
                  <a:pt x="113360" y="47003"/>
                </a:lnTo>
                <a:lnTo>
                  <a:pt x="85711" y="47003"/>
                </a:lnTo>
                <a:lnTo>
                  <a:pt x="85711" y="30414"/>
                </a:lnTo>
                <a:close/>
                <a:moveTo>
                  <a:pt x="82946" y="11060"/>
                </a:moveTo>
                <a:cubicBezTo>
                  <a:pt x="73788" y="11060"/>
                  <a:pt x="66357" y="18490"/>
                  <a:pt x="66357" y="27649"/>
                </a:cubicBezTo>
                <a:lnTo>
                  <a:pt x="66357" y="49768"/>
                </a:lnTo>
                <a:cubicBezTo>
                  <a:pt x="66357" y="58926"/>
                  <a:pt x="73788" y="66357"/>
                  <a:pt x="82946" y="66357"/>
                </a:cubicBezTo>
                <a:lnTo>
                  <a:pt x="88476" y="66357"/>
                </a:lnTo>
                <a:lnTo>
                  <a:pt x="88476" y="77417"/>
                </a:lnTo>
                <a:lnTo>
                  <a:pt x="11060" y="77417"/>
                </a:lnTo>
                <a:cubicBezTo>
                  <a:pt x="4942" y="77417"/>
                  <a:pt x="0" y="82359"/>
                  <a:pt x="0" y="88476"/>
                </a:cubicBezTo>
                <a:cubicBezTo>
                  <a:pt x="0" y="94593"/>
                  <a:pt x="4942" y="99536"/>
                  <a:pt x="11060" y="99536"/>
                </a:cubicBezTo>
                <a:lnTo>
                  <a:pt x="44238" y="99536"/>
                </a:lnTo>
                <a:lnTo>
                  <a:pt x="44238" y="110595"/>
                </a:lnTo>
                <a:lnTo>
                  <a:pt x="38708" y="110595"/>
                </a:lnTo>
                <a:cubicBezTo>
                  <a:pt x="29550" y="110595"/>
                  <a:pt x="22119" y="118026"/>
                  <a:pt x="22119" y="127184"/>
                </a:cubicBezTo>
                <a:lnTo>
                  <a:pt x="22119" y="149303"/>
                </a:lnTo>
                <a:cubicBezTo>
                  <a:pt x="22119" y="158462"/>
                  <a:pt x="29550" y="165893"/>
                  <a:pt x="38708" y="165893"/>
                </a:cubicBezTo>
                <a:lnTo>
                  <a:pt x="71887" y="165893"/>
                </a:lnTo>
                <a:cubicBezTo>
                  <a:pt x="81045" y="165893"/>
                  <a:pt x="88476" y="158462"/>
                  <a:pt x="88476" y="149303"/>
                </a:cubicBezTo>
                <a:lnTo>
                  <a:pt x="88476" y="127184"/>
                </a:lnTo>
                <a:cubicBezTo>
                  <a:pt x="88476" y="118026"/>
                  <a:pt x="81045" y="110595"/>
                  <a:pt x="71887" y="110595"/>
                </a:cubicBezTo>
                <a:lnTo>
                  <a:pt x="66357" y="110595"/>
                </a:lnTo>
                <a:lnTo>
                  <a:pt x="66357" y="99536"/>
                </a:lnTo>
                <a:lnTo>
                  <a:pt x="132714" y="99536"/>
                </a:lnTo>
                <a:lnTo>
                  <a:pt x="132714" y="110595"/>
                </a:lnTo>
                <a:lnTo>
                  <a:pt x="127184" y="110595"/>
                </a:lnTo>
                <a:cubicBezTo>
                  <a:pt x="118026" y="110595"/>
                  <a:pt x="110595" y="118026"/>
                  <a:pt x="110595" y="127184"/>
                </a:cubicBezTo>
                <a:lnTo>
                  <a:pt x="110595" y="149303"/>
                </a:lnTo>
                <a:cubicBezTo>
                  <a:pt x="110595" y="158462"/>
                  <a:pt x="118026" y="165893"/>
                  <a:pt x="127184" y="165893"/>
                </a:cubicBezTo>
                <a:lnTo>
                  <a:pt x="160363" y="165893"/>
                </a:lnTo>
                <a:cubicBezTo>
                  <a:pt x="169521" y="165893"/>
                  <a:pt x="176952" y="158462"/>
                  <a:pt x="176952" y="149303"/>
                </a:cubicBezTo>
                <a:lnTo>
                  <a:pt x="176952" y="127184"/>
                </a:lnTo>
                <a:cubicBezTo>
                  <a:pt x="176952" y="118026"/>
                  <a:pt x="169521" y="110595"/>
                  <a:pt x="160363" y="110595"/>
                </a:cubicBezTo>
                <a:lnTo>
                  <a:pt x="154833" y="110595"/>
                </a:lnTo>
                <a:lnTo>
                  <a:pt x="154833" y="99536"/>
                </a:lnTo>
                <a:lnTo>
                  <a:pt x="188012" y="99536"/>
                </a:lnTo>
                <a:cubicBezTo>
                  <a:pt x="194129" y="99536"/>
                  <a:pt x="199071" y="94593"/>
                  <a:pt x="199071" y="88476"/>
                </a:cubicBezTo>
                <a:cubicBezTo>
                  <a:pt x="199071" y="82359"/>
                  <a:pt x="194129" y="77417"/>
                  <a:pt x="188012" y="77417"/>
                </a:cubicBezTo>
                <a:lnTo>
                  <a:pt x="110595" y="77417"/>
                </a:lnTo>
                <a:lnTo>
                  <a:pt x="110595" y="66357"/>
                </a:lnTo>
                <a:lnTo>
                  <a:pt x="116125" y="66357"/>
                </a:lnTo>
                <a:cubicBezTo>
                  <a:pt x="125283" y="66357"/>
                  <a:pt x="132714" y="58926"/>
                  <a:pt x="132714" y="49768"/>
                </a:cubicBezTo>
                <a:lnTo>
                  <a:pt x="132714" y="27649"/>
                </a:lnTo>
                <a:cubicBezTo>
                  <a:pt x="132714" y="18490"/>
                  <a:pt x="125283" y="11060"/>
                  <a:pt x="116125" y="11060"/>
                </a:cubicBezTo>
                <a:lnTo>
                  <a:pt x="82946" y="11060"/>
                </a:lnTo>
                <a:close/>
                <a:moveTo>
                  <a:pt x="154833" y="129949"/>
                </a:moveTo>
                <a:lnTo>
                  <a:pt x="157598" y="129949"/>
                </a:lnTo>
                <a:lnTo>
                  <a:pt x="157598" y="146538"/>
                </a:lnTo>
                <a:lnTo>
                  <a:pt x="129949" y="146538"/>
                </a:lnTo>
                <a:lnTo>
                  <a:pt x="129949" y="129949"/>
                </a:lnTo>
                <a:lnTo>
                  <a:pt x="154833" y="129949"/>
                </a:lnTo>
                <a:close/>
                <a:moveTo>
                  <a:pt x="66357" y="129949"/>
                </a:moveTo>
                <a:lnTo>
                  <a:pt x="69122" y="129949"/>
                </a:lnTo>
                <a:lnTo>
                  <a:pt x="69122" y="146538"/>
                </a:lnTo>
                <a:lnTo>
                  <a:pt x="41473" y="146538"/>
                </a:lnTo>
                <a:lnTo>
                  <a:pt x="41473" y="129949"/>
                </a:lnTo>
                <a:lnTo>
                  <a:pt x="66357" y="12994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 bwMode="auto">
          <a:xfrm>
            <a:off x="1291750" y="4001329"/>
            <a:ext cx="858218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Nginx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 bwMode="auto">
          <a:xfrm>
            <a:off x="1291750" y="4249062"/>
            <a:ext cx="840522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Web Gateway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 bwMode="auto">
          <a:xfrm>
            <a:off x="760894" y="4567576"/>
            <a:ext cx="3273613" cy="406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Serves the frontend and securely routes API requests. Acts as the secure front door controlling all incoming traffic.</a:t>
            </a:r>
            <a:endParaRPr lang="en-US" sz="1600"/>
          </a:p>
        </p:txBody>
      </p:sp>
      <p:sp>
        <p:nvSpPr>
          <p:cNvPr id="21" name="Shape 19"/>
          <p:cNvSpPr/>
          <p:nvPr/>
        </p:nvSpPr>
        <p:spPr bwMode="auto">
          <a:xfrm>
            <a:off x="4306572" y="2136697"/>
            <a:ext cx="3574433" cy="1530635"/>
          </a:xfrm>
          <a:custGeom>
            <a:avLst/>
            <a:gdLst/>
            <a:ahLst/>
            <a:cxnLst/>
            <a:rect l="l" t="t" r="r" b="b"/>
            <a:pathLst>
              <a:path w="3574433" h="1530636" fill="norm" stroke="1" extrusionOk="0">
                <a:moveTo>
                  <a:pt x="106165" y="0"/>
                </a:moveTo>
                <a:lnTo>
                  <a:pt x="3468268" y="0"/>
                </a:lnTo>
                <a:cubicBezTo>
                  <a:pt x="3526901" y="0"/>
                  <a:pt x="3574433" y="47532"/>
                  <a:pt x="3574433" y="106165"/>
                </a:cubicBezTo>
                <a:lnTo>
                  <a:pt x="3574433" y="1424471"/>
                </a:lnTo>
                <a:cubicBezTo>
                  <a:pt x="3574433" y="1483065"/>
                  <a:pt x="3526862" y="1530636"/>
                  <a:pt x="3468268" y="1530636"/>
                </a:cubicBezTo>
                <a:lnTo>
                  <a:pt x="106165" y="1530636"/>
                </a:lnTo>
                <a:cubicBezTo>
                  <a:pt x="47532" y="1530636"/>
                  <a:pt x="0" y="1483104"/>
                  <a:pt x="0" y="1424471"/>
                </a:cubicBezTo>
                <a:lnTo>
                  <a:pt x="0" y="106165"/>
                </a:lnTo>
                <a:cubicBezTo>
                  <a:pt x="0" y="47532"/>
                  <a:pt x="47532" y="0"/>
                  <a:pt x="106165" y="0"/>
                </a:cubicBezTo>
                <a:close/>
              </a:path>
            </a:pathLst>
          </a:custGeom>
          <a:gradFill>
            <a:gsLst>
              <a:gs pos="0">
                <a:srgbClr val="7C3AED">
                  <a:alpha val="30000"/>
                </a:srgbClr>
              </a:gs>
              <a:gs pos="100000">
                <a:srgbClr val="7C3AED">
                  <a:alpha val="10000"/>
                </a:srgbClr>
              </a:gs>
            </a:gsLst>
            <a:lin ang="2700000" scaled="1"/>
          </a:gra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 bwMode="auto">
          <a:xfrm>
            <a:off x="4487948" y="2318073"/>
            <a:ext cx="424685" cy="424685"/>
          </a:xfrm>
          <a:custGeom>
            <a:avLst/>
            <a:gdLst/>
            <a:ahLst/>
            <a:cxnLst/>
            <a:rect l="l" t="t" r="r" b="b"/>
            <a:pathLst>
              <a:path w="424685" h="424685" fill="norm" stroke="1" extrusionOk="0">
                <a:moveTo>
                  <a:pt x="106171" y="0"/>
                </a:moveTo>
                <a:lnTo>
                  <a:pt x="318514" y="0"/>
                </a:lnTo>
                <a:cubicBezTo>
                  <a:pt x="377151" y="0"/>
                  <a:pt x="424685" y="47534"/>
                  <a:pt x="424685" y="106171"/>
                </a:cubicBezTo>
                <a:lnTo>
                  <a:pt x="424685" y="318514"/>
                </a:lnTo>
                <a:cubicBezTo>
                  <a:pt x="424685" y="377151"/>
                  <a:pt x="377151" y="424685"/>
                  <a:pt x="318514" y="424685"/>
                </a:cubicBezTo>
                <a:lnTo>
                  <a:pt x="106171" y="424685"/>
                </a:lnTo>
                <a:cubicBezTo>
                  <a:pt x="47534" y="424685"/>
                  <a:pt x="0" y="377151"/>
                  <a:pt x="0" y="318514"/>
                </a:cubicBezTo>
                <a:lnTo>
                  <a:pt x="0" y="106171"/>
                </a:lnTo>
                <a:cubicBezTo>
                  <a:pt x="0" y="47534"/>
                  <a:pt x="47534" y="0"/>
                  <a:pt x="106171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3" name="Shape 21"/>
          <p:cNvSpPr/>
          <p:nvPr/>
        </p:nvSpPr>
        <p:spPr bwMode="auto">
          <a:xfrm>
            <a:off x="4600755" y="2441939"/>
            <a:ext cx="199071" cy="176952"/>
          </a:xfrm>
          <a:custGeom>
            <a:avLst/>
            <a:gdLst/>
            <a:ahLst/>
            <a:cxnLst/>
            <a:rect l="l" t="t" r="r" b="b"/>
            <a:pathLst>
              <a:path w="199071" h="176952" fill="norm" stroke="1" extrusionOk="0">
                <a:moveTo>
                  <a:pt x="124696" y="415"/>
                </a:moveTo>
                <a:cubicBezTo>
                  <a:pt x="118821" y="-1279"/>
                  <a:pt x="112703" y="2143"/>
                  <a:pt x="111010" y="8018"/>
                </a:cubicBezTo>
                <a:lnTo>
                  <a:pt x="66772" y="162851"/>
                </a:lnTo>
                <a:cubicBezTo>
                  <a:pt x="65078" y="168727"/>
                  <a:pt x="68500" y="174844"/>
                  <a:pt x="74375" y="176537"/>
                </a:cubicBezTo>
                <a:cubicBezTo>
                  <a:pt x="80251" y="178231"/>
                  <a:pt x="86368" y="174809"/>
                  <a:pt x="88061" y="168934"/>
                </a:cubicBezTo>
                <a:lnTo>
                  <a:pt x="132299" y="14101"/>
                </a:lnTo>
                <a:cubicBezTo>
                  <a:pt x="133993" y="8226"/>
                  <a:pt x="130571" y="2108"/>
                  <a:pt x="124696" y="415"/>
                </a:cubicBezTo>
                <a:close/>
                <a:moveTo>
                  <a:pt x="147022" y="47452"/>
                </a:moveTo>
                <a:cubicBezTo>
                  <a:pt x="142702" y="51772"/>
                  <a:pt x="142702" y="58788"/>
                  <a:pt x="147022" y="63108"/>
                </a:cubicBezTo>
                <a:lnTo>
                  <a:pt x="172390" y="88476"/>
                </a:lnTo>
                <a:lnTo>
                  <a:pt x="147022" y="113844"/>
                </a:lnTo>
                <a:cubicBezTo>
                  <a:pt x="142702" y="118164"/>
                  <a:pt x="142702" y="125180"/>
                  <a:pt x="147022" y="129500"/>
                </a:cubicBezTo>
                <a:cubicBezTo>
                  <a:pt x="151342" y="133820"/>
                  <a:pt x="158358" y="133820"/>
                  <a:pt x="162678" y="129500"/>
                </a:cubicBezTo>
                <a:lnTo>
                  <a:pt x="195857" y="96321"/>
                </a:lnTo>
                <a:cubicBezTo>
                  <a:pt x="200177" y="92001"/>
                  <a:pt x="200177" y="84985"/>
                  <a:pt x="195857" y="80665"/>
                </a:cubicBezTo>
                <a:lnTo>
                  <a:pt x="162678" y="47487"/>
                </a:lnTo>
                <a:cubicBezTo>
                  <a:pt x="158358" y="43167"/>
                  <a:pt x="151342" y="43167"/>
                  <a:pt x="147022" y="47487"/>
                </a:cubicBezTo>
                <a:close/>
                <a:moveTo>
                  <a:pt x="52083" y="47452"/>
                </a:moveTo>
                <a:cubicBezTo>
                  <a:pt x="47763" y="43132"/>
                  <a:pt x="40747" y="43132"/>
                  <a:pt x="36427" y="47452"/>
                </a:cubicBezTo>
                <a:lnTo>
                  <a:pt x="3249" y="80631"/>
                </a:lnTo>
                <a:cubicBezTo>
                  <a:pt x="-1071" y="84951"/>
                  <a:pt x="-1071" y="91967"/>
                  <a:pt x="3249" y="96287"/>
                </a:cubicBezTo>
                <a:lnTo>
                  <a:pt x="36427" y="129465"/>
                </a:lnTo>
                <a:cubicBezTo>
                  <a:pt x="40747" y="133785"/>
                  <a:pt x="47763" y="133785"/>
                  <a:pt x="52083" y="129465"/>
                </a:cubicBezTo>
                <a:cubicBezTo>
                  <a:pt x="56403" y="125145"/>
                  <a:pt x="56403" y="118129"/>
                  <a:pt x="52083" y="113809"/>
                </a:cubicBezTo>
                <a:lnTo>
                  <a:pt x="26716" y="88476"/>
                </a:lnTo>
                <a:lnTo>
                  <a:pt x="52049" y="63108"/>
                </a:lnTo>
                <a:cubicBezTo>
                  <a:pt x="56369" y="58788"/>
                  <a:pt x="56369" y="51772"/>
                  <a:pt x="52049" y="4745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 bwMode="auto">
          <a:xfrm flipH="0" flipV="0">
            <a:off x="5018803" y="2318072"/>
            <a:ext cx="1908653" cy="247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FastAPI Service</a:t>
            </a:r>
            <a:endParaRPr lang="en-US" sz="1600"/>
          </a:p>
        </p:txBody>
      </p:sp>
      <p:sp>
        <p:nvSpPr>
          <p:cNvPr id="25" name="Text 23"/>
          <p:cNvSpPr/>
          <p:nvPr/>
        </p:nvSpPr>
        <p:spPr bwMode="auto">
          <a:xfrm>
            <a:off x="5018804" y="2565806"/>
            <a:ext cx="1114798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Backend API</a:t>
            </a:r>
            <a:endParaRPr lang="en-US" sz="1600"/>
          </a:p>
        </p:txBody>
      </p:sp>
      <p:sp>
        <p:nvSpPr>
          <p:cNvPr id="26" name="Text 24"/>
          <p:cNvSpPr/>
          <p:nvPr/>
        </p:nvSpPr>
        <p:spPr bwMode="auto">
          <a:xfrm>
            <a:off x="4487948" y="2884319"/>
            <a:ext cx="3273613" cy="601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Handles authentication, file uploads, and job management. Provides well documented RESTful APIs with automatic validation.</a:t>
            </a:r>
            <a:endParaRPr lang="en-US" sz="1600"/>
          </a:p>
        </p:txBody>
      </p:sp>
      <p:sp>
        <p:nvSpPr>
          <p:cNvPr id="27" name="Shape 25"/>
          <p:cNvSpPr/>
          <p:nvPr/>
        </p:nvSpPr>
        <p:spPr bwMode="auto">
          <a:xfrm>
            <a:off x="4306572" y="3819954"/>
            <a:ext cx="3574433" cy="1415617"/>
          </a:xfrm>
          <a:custGeom>
            <a:avLst/>
            <a:gdLst/>
            <a:ahLst/>
            <a:cxnLst/>
            <a:rect l="l" t="t" r="r" b="b"/>
            <a:pathLst>
              <a:path w="3574433" h="1415617" fill="norm" stroke="1" extrusionOk="0">
                <a:moveTo>
                  <a:pt x="106171" y="0"/>
                </a:moveTo>
                <a:lnTo>
                  <a:pt x="3468261" y="0"/>
                </a:lnTo>
                <a:cubicBezTo>
                  <a:pt x="3526898" y="0"/>
                  <a:pt x="3574433" y="47534"/>
                  <a:pt x="3574433" y="106171"/>
                </a:cubicBezTo>
                <a:lnTo>
                  <a:pt x="3574433" y="1309446"/>
                </a:lnTo>
                <a:cubicBezTo>
                  <a:pt x="3574433" y="1368082"/>
                  <a:pt x="3526898" y="1415617"/>
                  <a:pt x="3468261" y="1415617"/>
                </a:cubicBezTo>
                <a:lnTo>
                  <a:pt x="106171" y="1415617"/>
                </a:lnTo>
                <a:cubicBezTo>
                  <a:pt x="47534" y="1415617"/>
                  <a:pt x="0" y="1368082"/>
                  <a:pt x="0" y="1309446"/>
                </a:cubicBezTo>
                <a:lnTo>
                  <a:pt x="0" y="106171"/>
                </a:lnTo>
                <a:cubicBezTo>
                  <a:pt x="0" y="47534"/>
                  <a:pt x="47534" y="0"/>
                  <a:pt x="106171" y="0"/>
                </a:cubicBezTo>
                <a:close/>
              </a:path>
            </a:pathLst>
          </a:custGeom>
          <a:gradFill>
            <a:gsLst>
              <a:gs pos="0">
                <a:srgbClr val="EC4899">
                  <a:alpha val="30000"/>
                </a:srgbClr>
              </a:gs>
              <a:gs pos="100000">
                <a:srgbClr val="EC4899">
                  <a:alpha val="10000"/>
                </a:srgbClr>
              </a:gs>
            </a:gsLst>
            <a:lin ang="2700000" scaled="1"/>
          </a:gradFill>
          <a:ln w="1270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 bwMode="auto">
          <a:xfrm>
            <a:off x="4487948" y="4001329"/>
            <a:ext cx="424685" cy="424685"/>
          </a:xfrm>
          <a:custGeom>
            <a:avLst/>
            <a:gdLst/>
            <a:ahLst/>
            <a:cxnLst/>
            <a:rect l="l" t="t" r="r" b="b"/>
            <a:pathLst>
              <a:path w="424685" h="424685" fill="norm" stroke="1" extrusionOk="0">
                <a:moveTo>
                  <a:pt x="106171" y="0"/>
                </a:moveTo>
                <a:lnTo>
                  <a:pt x="318514" y="0"/>
                </a:lnTo>
                <a:cubicBezTo>
                  <a:pt x="377151" y="0"/>
                  <a:pt x="424685" y="47534"/>
                  <a:pt x="424685" y="106171"/>
                </a:cubicBezTo>
                <a:lnTo>
                  <a:pt x="424685" y="318514"/>
                </a:lnTo>
                <a:cubicBezTo>
                  <a:pt x="424685" y="377151"/>
                  <a:pt x="377151" y="424685"/>
                  <a:pt x="318514" y="424685"/>
                </a:cubicBezTo>
                <a:lnTo>
                  <a:pt x="106171" y="424685"/>
                </a:lnTo>
                <a:cubicBezTo>
                  <a:pt x="47534" y="424685"/>
                  <a:pt x="0" y="377151"/>
                  <a:pt x="0" y="318514"/>
                </a:cubicBezTo>
                <a:lnTo>
                  <a:pt x="0" y="106171"/>
                </a:lnTo>
                <a:cubicBezTo>
                  <a:pt x="0" y="47534"/>
                  <a:pt x="47534" y="0"/>
                  <a:pt x="106171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29" name="Shape 27"/>
          <p:cNvSpPr/>
          <p:nvPr/>
        </p:nvSpPr>
        <p:spPr bwMode="auto">
          <a:xfrm>
            <a:off x="4622874" y="4125196"/>
            <a:ext cx="154833" cy="176952"/>
          </a:xfrm>
          <a:custGeom>
            <a:avLst/>
            <a:gdLst/>
            <a:ahLst/>
            <a:cxnLst/>
            <a:rect l="l" t="t" r="r" b="b"/>
            <a:pathLst>
              <a:path w="154833" h="176952" fill="norm" stroke="1" extrusionOk="0">
                <a:moveTo>
                  <a:pt x="154833" y="71126"/>
                </a:moveTo>
                <a:cubicBezTo>
                  <a:pt x="149718" y="74513"/>
                  <a:pt x="143843" y="77244"/>
                  <a:pt x="137725" y="79421"/>
                </a:cubicBezTo>
                <a:cubicBezTo>
                  <a:pt x="121482" y="85227"/>
                  <a:pt x="100158" y="88476"/>
                  <a:pt x="77417" y="88476"/>
                </a:cubicBezTo>
                <a:cubicBezTo>
                  <a:pt x="54675" y="88476"/>
                  <a:pt x="33317" y="85193"/>
                  <a:pt x="17108" y="79421"/>
                </a:cubicBezTo>
                <a:cubicBezTo>
                  <a:pt x="11025" y="77244"/>
                  <a:pt x="5115" y="74513"/>
                  <a:pt x="0" y="71126"/>
                </a:cubicBezTo>
                <a:lnTo>
                  <a:pt x="0" y="99536"/>
                </a:lnTo>
                <a:cubicBezTo>
                  <a:pt x="0" y="114812"/>
                  <a:pt x="34665" y="127184"/>
                  <a:pt x="77417" y="127184"/>
                </a:cubicBezTo>
                <a:cubicBezTo>
                  <a:pt x="120168" y="127184"/>
                  <a:pt x="154833" y="114812"/>
                  <a:pt x="154833" y="99536"/>
                </a:cubicBezTo>
                <a:lnTo>
                  <a:pt x="154833" y="71126"/>
                </a:lnTo>
                <a:close/>
                <a:moveTo>
                  <a:pt x="154833" y="44238"/>
                </a:moveTo>
                <a:lnTo>
                  <a:pt x="154833" y="27649"/>
                </a:lnTo>
                <a:cubicBezTo>
                  <a:pt x="154833" y="12373"/>
                  <a:pt x="120168" y="0"/>
                  <a:pt x="77417" y="0"/>
                </a:cubicBezTo>
                <a:cubicBezTo>
                  <a:pt x="34665" y="0"/>
                  <a:pt x="0" y="12373"/>
                  <a:pt x="0" y="27649"/>
                </a:cubicBezTo>
                <a:lnTo>
                  <a:pt x="0" y="44238"/>
                </a:lnTo>
                <a:cubicBezTo>
                  <a:pt x="0" y="59514"/>
                  <a:pt x="34665" y="71887"/>
                  <a:pt x="77417" y="71887"/>
                </a:cubicBezTo>
                <a:cubicBezTo>
                  <a:pt x="120168" y="71887"/>
                  <a:pt x="154833" y="59514"/>
                  <a:pt x="154833" y="44238"/>
                </a:cubicBezTo>
                <a:close/>
                <a:moveTo>
                  <a:pt x="137725" y="134719"/>
                </a:moveTo>
                <a:cubicBezTo>
                  <a:pt x="121516" y="140490"/>
                  <a:pt x="100192" y="143774"/>
                  <a:pt x="77417" y="143774"/>
                </a:cubicBezTo>
                <a:cubicBezTo>
                  <a:pt x="54641" y="143774"/>
                  <a:pt x="33317" y="140490"/>
                  <a:pt x="17108" y="134719"/>
                </a:cubicBezTo>
                <a:cubicBezTo>
                  <a:pt x="11025" y="132541"/>
                  <a:pt x="5115" y="129811"/>
                  <a:pt x="0" y="126424"/>
                </a:cubicBezTo>
                <a:lnTo>
                  <a:pt x="0" y="149303"/>
                </a:lnTo>
                <a:cubicBezTo>
                  <a:pt x="0" y="164579"/>
                  <a:pt x="34665" y="176952"/>
                  <a:pt x="77417" y="176952"/>
                </a:cubicBezTo>
                <a:cubicBezTo>
                  <a:pt x="120168" y="176952"/>
                  <a:pt x="154833" y="164579"/>
                  <a:pt x="154833" y="149303"/>
                </a:cubicBezTo>
                <a:lnTo>
                  <a:pt x="154833" y="126424"/>
                </a:lnTo>
                <a:cubicBezTo>
                  <a:pt x="149718" y="129811"/>
                  <a:pt x="143843" y="132541"/>
                  <a:pt x="137725" y="13471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 bwMode="auto">
          <a:xfrm>
            <a:off x="5018804" y="4001329"/>
            <a:ext cx="1114798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MinIO</a:t>
            </a:r>
            <a:endParaRPr lang="en-US" sz="1600"/>
          </a:p>
        </p:txBody>
      </p:sp>
      <p:sp>
        <p:nvSpPr>
          <p:cNvPr id="31" name="Text 29"/>
          <p:cNvSpPr/>
          <p:nvPr/>
        </p:nvSpPr>
        <p:spPr bwMode="auto">
          <a:xfrm flipH="0" flipV="0">
            <a:off x="5018803" y="4249062"/>
            <a:ext cx="1537340" cy="176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Distributed Storage</a:t>
            </a:r>
            <a:endParaRPr lang="en-US" sz="1600"/>
          </a:p>
        </p:txBody>
      </p:sp>
      <p:sp>
        <p:nvSpPr>
          <p:cNvPr id="32" name="Text 30"/>
          <p:cNvSpPr/>
          <p:nvPr/>
        </p:nvSpPr>
        <p:spPr bwMode="auto">
          <a:xfrm>
            <a:off x="4487948" y="4567576"/>
            <a:ext cx="3273613" cy="406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S3-compatible object storage for uploaded datasets. Provides true distributed storage that scales horizontally.</a:t>
            </a:r>
            <a:endParaRPr lang="en-US" sz="1600"/>
          </a:p>
        </p:txBody>
      </p:sp>
      <p:sp>
        <p:nvSpPr>
          <p:cNvPr id="33" name="Shape 31"/>
          <p:cNvSpPr/>
          <p:nvPr/>
        </p:nvSpPr>
        <p:spPr bwMode="auto">
          <a:xfrm>
            <a:off x="8033626" y="2136697"/>
            <a:ext cx="3574433" cy="1477550"/>
          </a:xfrm>
          <a:custGeom>
            <a:avLst/>
            <a:gdLst/>
            <a:ahLst/>
            <a:cxnLst/>
            <a:rect l="l" t="t" r="r" b="b"/>
            <a:pathLst>
              <a:path w="3574433" h="1477550" fill="norm" stroke="1" extrusionOk="0">
                <a:moveTo>
                  <a:pt x="106177" y="0"/>
                </a:moveTo>
                <a:lnTo>
                  <a:pt x="3468256" y="0"/>
                </a:lnTo>
                <a:cubicBezTo>
                  <a:pt x="3526896" y="0"/>
                  <a:pt x="3574433" y="47537"/>
                  <a:pt x="3574433" y="106177"/>
                </a:cubicBezTo>
                <a:lnTo>
                  <a:pt x="3574433" y="1371373"/>
                </a:lnTo>
                <a:cubicBezTo>
                  <a:pt x="3574433" y="1430013"/>
                  <a:pt x="3526896" y="1477550"/>
                  <a:pt x="3468256" y="1477550"/>
                </a:cubicBezTo>
                <a:lnTo>
                  <a:pt x="106177" y="1477550"/>
                </a:lnTo>
                <a:cubicBezTo>
                  <a:pt x="47537" y="1477550"/>
                  <a:pt x="0" y="1430013"/>
                  <a:pt x="0" y="1371373"/>
                </a:cubicBezTo>
                <a:lnTo>
                  <a:pt x="0" y="106177"/>
                </a:lnTo>
                <a:cubicBezTo>
                  <a:pt x="0" y="47537"/>
                  <a:pt x="47537" y="0"/>
                  <a:pt x="106177" y="0"/>
                </a:cubicBezTo>
                <a:close/>
              </a:path>
            </a:pathLst>
          </a:custGeom>
          <a:gradFill>
            <a:gsLst>
              <a:gs pos="0">
                <a:srgbClr val="7C3AED">
                  <a:alpha val="30000"/>
                </a:srgbClr>
              </a:gs>
              <a:gs pos="100000">
                <a:srgbClr val="7C3AED">
                  <a:alpha val="10000"/>
                </a:srgbClr>
              </a:gs>
            </a:gsLst>
            <a:lin ang="2700000" scaled="1"/>
          </a:gra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 bwMode="auto">
          <a:xfrm>
            <a:off x="8215001" y="2318073"/>
            <a:ext cx="424685" cy="424685"/>
          </a:xfrm>
          <a:custGeom>
            <a:avLst/>
            <a:gdLst/>
            <a:ahLst/>
            <a:cxnLst/>
            <a:rect l="l" t="t" r="r" b="b"/>
            <a:pathLst>
              <a:path w="424685" h="424685" fill="norm" stroke="1" extrusionOk="0">
                <a:moveTo>
                  <a:pt x="106171" y="0"/>
                </a:moveTo>
                <a:lnTo>
                  <a:pt x="318514" y="0"/>
                </a:lnTo>
                <a:cubicBezTo>
                  <a:pt x="377151" y="0"/>
                  <a:pt x="424685" y="47534"/>
                  <a:pt x="424685" y="106171"/>
                </a:cubicBezTo>
                <a:lnTo>
                  <a:pt x="424685" y="318514"/>
                </a:lnTo>
                <a:cubicBezTo>
                  <a:pt x="424685" y="377151"/>
                  <a:pt x="377151" y="424685"/>
                  <a:pt x="318514" y="424685"/>
                </a:cubicBezTo>
                <a:lnTo>
                  <a:pt x="106171" y="424685"/>
                </a:lnTo>
                <a:cubicBezTo>
                  <a:pt x="47534" y="424685"/>
                  <a:pt x="0" y="377151"/>
                  <a:pt x="0" y="318514"/>
                </a:cubicBezTo>
                <a:lnTo>
                  <a:pt x="0" y="106171"/>
                </a:lnTo>
                <a:cubicBezTo>
                  <a:pt x="0" y="47534"/>
                  <a:pt x="47534" y="0"/>
                  <a:pt x="106171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35" name="Shape 33"/>
          <p:cNvSpPr/>
          <p:nvPr/>
        </p:nvSpPr>
        <p:spPr bwMode="auto">
          <a:xfrm>
            <a:off x="8349927" y="2441939"/>
            <a:ext cx="154833" cy="176952"/>
          </a:xfrm>
          <a:custGeom>
            <a:avLst/>
            <a:gdLst/>
            <a:ahLst/>
            <a:cxnLst/>
            <a:rect l="l" t="t" r="r" b="b"/>
            <a:pathLst>
              <a:path w="154833" h="176952" fill="norm" stroke="1" extrusionOk="0">
                <a:moveTo>
                  <a:pt x="117093" y="-3422"/>
                </a:moveTo>
                <a:cubicBezTo>
                  <a:pt x="121205" y="-449"/>
                  <a:pt x="122726" y="4942"/>
                  <a:pt x="120860" y="9643"/>
                </a:cubicBezTo>
                <a:lnTo>
                  <a:pt x="93764" y="77417"/>
                </a:lnTo>
                <a:lnTo>
                  <a:pt x="143774" y="77417"/>
                </a:lnTo>
                <a:cubicBezTo>
                  <a:pt x="148439" y="77417"/>
                  <a:pt x="152587" y="80320"/>
                  <a:pt x="154176" y="84709"/>
                </a:cubicBezTo>
                <a:cubicBezTo>
                  <a:pt x="155766" y="89098"/>
                  <a:pt x="154418" y="94006"/>
                  <a:pt x="150859" y="96978"/>
                </a:cubicBezTo>
                <a:lnTo>
                  <a:pt x="51323" y="179924"/>
                </a:lnTo>
                <a:cubicBezTo>
                  <a:pt x="47418" y="183173"/>
                  <a:pt x="41853" y="183346"/>
                  <a:pt x="37741" y="180374"/>
                </a:cubicBezTo>
                <a:cubicBezTo>
                  <a:pt x="33628" y="177401"/>
                  <a:pt x="32107" y="172010"/>
                  <a:pt x="33973" y="167310"/>
                </a:cubicBezTo>
                <a:lnTo>
                  <a:pt x="61069" y="99536"/>
                </a:lnTo>
                <a:lnTo>
                  <a:pt x="11060" y="99536"/>
                </a:lnTo>
                <a:cubicBezTo>
                  <a:pt x="6394" y="99536"/>
                  <a:pt x="2246" y="96632"/>
                  <a:pt x="657" y="92243"/>
                </a:cubicBezTo>
                <a:cubicBezTo>
                  <a:pt x="-933" y="87854"/>
                  <a:pt x="415" y="82946"/>
                  <a:pt x="3975" y="79974"/>
                </a:cubicBezTo>
                <a:lnTo>
                  <a:pt x="103510" y="-2972"/>
                </a:lnTo>
                <a:cubicBezTo>
                  <a:pt x="107415" y="-6221"/>
                  <a:pt x="112980" y="-6394"/>
                  <a:pt x="117093" y="-342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 bwMode="auto">
          <a:xfrm flipH="0" flipV="0">
            <a:off x="8745858" y="2318072"/>
            <a:ext cx="1878590" cy="247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PySpark Runtime</a:t>
            </a:r>
            <a:endParaRPr lang="en-US" sz="1600"/>
          </a:p>
        </p:txBody>
      </p:sp>
      <p:sp>
        <p:nvSpPr>
          <p:cNvPr id="37" name="Text 35"/>
          <p:cNvSpPr/>
          <p:nvPr/>
        </p:nvSpPr>
        <p:spPr bwMode="auto">
          <a:xfrm>
            <a:off x="8745858" y="2565806"/>
            <a:ext cx="1229817" cy="176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Data Processing</a:t>
            </a:r>
            <a:endParaRPr lang="en-US" sz="1600"/>
          </a:p>
        </p:txBody>
      </p:sp>
      <p:sp>
        <p:nvSpPr>
          <p:cNvPr id="38" name="Text 36"/>
          <p:cNvSpPr/>
          <p:nvPr/>
        </p:nvSpPr>
        <p:spPr bwMode="auto">
          <a:xfrm>
            <a:off x="8215001" y="2884319"/>
            <a:ext cx="3273613" cy="406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Parallel analytics engine with automatic schema detection. Processes data across multiple partitions for speed.</a:t>
            </a:r>
            <a:endParaRPr lang="en-US" sz="1600"/>
          </a:p>
        </p:txBody>
      </p:sp>
      <p:sp>
        <p:nvSpPr>
          <p:cNvPr id="39" name="Shape 37"/>
          <p:cNvSpPr/>
          <p:nvPr/>
        </p:nvSpPr>
        <p:spPr bwMode="auto">
          <a:xfrm>
            <a:off x="8033626" y="3760232"/>
            <a:ext cx="3574433" cy="1477550"/>
          </a:xfrm>
          <a:custGeom>
            <a:avLst/>
            <a:gdLst/>
            <a:ahLst/>
            <a:cxnLst/>
            <a:rect l="l" t="t" r="r" b="b"/>
            <a:pathLst>
              <a:path w="3574433" h="1477550" fill="norm" stroke="1" extrusionOk="0">
                <a:moveTo>
                  <a:pt x="106177" y="0"/>
                </a:moveTo>
                <a:lnTo>
                  <a:pt x="3468256" y="0"/>
                </a:lnTo>
                <a:cubicBezTo>
                  <a:pt x="3526896" y="0"/>
                  <a:pt x="3574433" y="47537"/>
                  <a:pt x="3574433" y="106177"/>
                </a:cubicBezTo>
                <a:lnTo>
                  <a:pt x="3574433" y="1371373"/>
                </a:lnTo>
                <a:cubicBezTo>
                  <a:pt x="3574433" y="1430013"/>
                  <a:pt x="3526896" y="1477550"/>
                  <a:pt x="3468256" y="1477550"/>
                </a:cubicBezTo>
                <a:lnTo>
                  <a:pt x="106177" y="1477550"/>
                </a:lnTo>
                <a:cubicBezTo>
                  <a:pt x="47537" y="1477550"/>
                  <a:pt x="0" y="1430013"/>
                  <a:pt x="0" y="1371373"/>
                </a:cubicBezTo>
                <a:lnTo>
                  <a:pt x="0" y="106177"/>
                </a:lnTo>
                <a:cubicBezTo>
                  <a:pt x="0" y="47537"/>
                  <a:pt x="47537" y="0"/>
                  <a:pt x="106177" y="0"/>
                </a:cubicBezTo>
                <a:close/>
              </a:path>
            </a:pathLst>
          </a:custGeom>
          <a:gradFill>
            <a:gsLst>
              <a:gs pos="0">
                <a:srgbClr val="EC4899">
                  <a:alpha val="30000"/>
                </a:srgbClr>
              </a:gs>
              <a:gs pos="100000">
                <a:srgbClr val="EC4899">
                  <a:alpha val="10000"/>
                </a:srgbClr>
              </a:gs>
            </a:gsLst>
            <a:lin ang="2700000" scaled="1"/>
          </a:gradFill>
          <a:ln w="1270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 bwMode="auto">
          <a:xfrm>
            <a:off x="8215001" y="3941608"/>
            <a:ext cx="424685" cy="424685"/>
          </a:xfrm>
          <a:custGeom>
            <a:avLst/>
            <a:gdLst/>
            <a:ahLst/>
            <a:cxnLst/>
            <a:rect l="l" t="t" r="r" b="b"/>
            <a:pathLst>
              <a:path w="424685" h="424685" fill="norm" stroke="1" extrusionOk="0">
                <a:moveTo>
                  <a:pt x="106171" y="0"/>
                </a:moveTo>
                <a:lnTo>
                  <a:pt x="318514" y="0"/>
                </a:lnTo>
                <a:cubicBezTo>
                  <a:pt x="377151" y="0"/>
                  <a:pt x="424685" y="47534"/>
                  <a:pt x="424685" y="106171"/>
                </a:cubicBezTo>
                <a:lnTo>
                  <a:pt x="424685" y="318514"/>
                </a:lnTo>
                <a:cubicBezTo>
                  <a:pt x="424685" y="377151"/>
                  <a:pt x="377151" y="424685"/>
                  <a:pt x="318514" y="424685"/>
                </a:cubicBezTo>
                <a:lnTo>
                  <a:pt x="106171" y="424685"/>
                </a:lnTo>
                <a:cubicBezTo>
                  <a:pt x="47534" y="424685"/>
                  <a:pt x="0" y="377151"/>
                  <a:pt x="0" y="318514"/>
                </a:cubicBezTo>
                <a:lnTo>
                  <a:pt x="0" y="106171"/>
                </a:lnTo>
                <a:cubicBezTo>
                  <a:pt x="0" y="47534"/>
                  <a:pt x="47534" y="0"/>
                  <a:pt x="106171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41" name="Shape 39"/>
          <p:cNvSpPr/>
          <p:nvPr/>
        </p:nvSpPr>
        <p:spPr bwMode="auto">
          <a:xfrm>
            <a:off x="8327808" y="4065475"/>
            <a:ext cx="199071" cy="176952"/>
          </a:xfrm>
          <a:custGeom>
            <a:avLst/>
            <a:gdLst/>
            <a:ahLst/>
            <a:cxnLst/>
            <a:rect l="l" t="t" r="r" b="b"/>
            <a:pathLst>
              <a:path w="199071" h="176952" fill="norm" stroke="1" extrusionOk="0">
                <a:moveTo>
                  <a:pt x="0" y="49111"/>
                </a:moveTo>
                <a:lnTo>
                  <a:pt x="0" y="165893"/>
                </a:lnTo>
                <a:cubicBezTo>
                  <a:pt x="0" y="172010"/>
                  <a:pt x="4942" y="176952"/>
                  <a:pt x="11060" y="176952"/>
                </a:cubicBezTo>
                <a:cubicBezTo>
                  <a:pt x="17177" y="176952"/>
                  <a:pt x="22119" y="172010"/>
                  <a:pt x="22119" y="165893"/>
                </a:cubicBezTo>
                <a:lnTo>
                  <a:pt x="22119" y="82946"/>
                </a:lnTo>
                <a:cubicBezTo>
                  <a:pt x="22119" y="76829"/>
                  <a:pt x="27061" y="71887"/>
                  <a:pt x="33179" y="71887"/>
                </a:cubicBezTo>
                <a:lnTo>
                  <a:pt x="165893" y="71887"/>
                </a:lnTo>
                <a:cubicBezTo>
                  <a:pt x="172010" y="71887"/>
                  <a:pt x="176952" y="76829"/>
                  <a:pt x="176952" y="82946"/>
                </a:cubicBezTo>
                <a:lnTo>
                  <a:pt x="176952" y="165893"/>
                </a:lnTo>
                <a:cubicBezTo>
                  <a:pt x="176952" y="172010"/>
                  <a:pt x="181894" y="176952"/>
                  <a:pt x="188012" y="176952"/>
                </a:cubicBezTo>
                <a:cubicBezTo>
                  <a:pt x="194129" y="176952"/>
                  <a:pt x="199071" y="172010"/>
                  <a:pt x="199071" y="165893"/>
                </a:cubicBezTo>
                <a:lnTo>
                  <a:pt x="199071" y="49111"/>
                </a:lnTo>
                <a:cubicBezTo>
                  <a:pt x="199071" y="39607"/>
                  <a:pt x="192988" y="31139"/>
                  <a:pt x="183933" y="28133"/>
                </a:cubicBezTo>
                <a:lnTo>
                  <a:pt x="104789" y="1763"/>
                </a:lnTo>
                <a:cubicBezTo>
                  <a:pt x="101367" y="622"/>
                  <a:pt x="97704" y="622"/>
                  <a:pt x="94282" y="1763"/>
                </a:cubicBezTo>
                <a:lnTo>
                  <a:pt x="15138" y="28133"/>
                </a:lnTo>
                <a:cubicBezTo>
                  <a:pt x="6083" y="31139"/>
                  <a:pt x="0" y="39607"/>
                  <a:pt x="0" y="49111"/>
                </a:cubicBezTo>
                <a:close/>
                <a:moveTo>
                  <a:pt x="160363" y="88476"/>
                </a:moveTo>
                <a:lnTo>
                  <a:pt x="38708" y="88476"/>
                </a:lnTo>
                <a:lnTo>
                  <a:pt x="38708" y="110595"/>
                </a:lnTo>
                <a:lnTo>
                  <a:pt x="160363" y="110595"/>
                </a:lnTo>
                <a:lnTo>
                  <a:pt x="160363" y="88476"/>
                </a:lnTo>
                <a:close/>
                <a:moveTo>
                  <a:pt x="38708" y="143774"/>
                </a:moveTo>
                <a:lnTo>
                  <a:pt x="160363" y="143774"/>
                </a:lnTo>
                <a:lnTo>
                  <a:pt x="160363" y="121655"/>
                </a:lnTo>
                <a:lnTo>
                  <a:pt x="38708" y="121655"/>
                </a:lnTo>
                <a:lnTo>
                  <a:pt x="38708" y="143774"/>
                </a:lnTo>
                <a:close/>
                <a:moveTo>
                  <a:pt x="160363" y="154833"/>
                </a:moveTo>
                <a:lnTo>
                  <a:pt x="38708" y="154833"/>
                </a:lnTo>
                <a:lnTo>
                  <a:pt x="38708" y="176952"/>
                </a:lnTo>
                <a:lnTo>
                  <a:pt x="160363" y="176952"/>
                </a:lnTo>
                <a:lnTo>
                  <a:pt x="160363" y="15483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 bwMode="auto">
          <a:xfrm>
            <a:off x="8745858" y="3941608"/>
            <a:ext cx="982084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2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DuckDB</a:t>
            </a:r>
            <a:endParaRPr lang="en-US" sz="1600"/>
          </a:p>
        </p:txBody>
      </p:sp>
      <p:sp>
        <p:nvSpPr>
          <p:cNvPr id="43" name="Text 41"/>
          <p:cNvSpPr/>
          <p:nvPr/>
        </p:nvSpPr>
        <p:spPr bwMode="auto">
          <a:xfrm flipH="0" flipV="0">
            <a:off x="8745857" y="4189340"/>
            <a:ext cx="1361980" cy="176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00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Data Warehouse</a:t>
            </a:r>
            <a:endParaRPr lang="en-US" sz="1600"/>
          </a:p>
        </p:txBody>
      </p:sp>
      <p:sp>
        <p:nvSpPr>
          <p:cNvPr id="44" name="Text 42"/>
          <p:cNvSpPr/>
          <p:nvPr/>
        </p:nvSpPr>
        <p:spPr bwMode="auto">
          <a:xfrm>
            <a:off x="8215001" y="4507855"/>
            <a:ext cx="3273613" cy="406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Persistent layered storage for raw, processed, and analytics data. Fast, file based, and SQL compatible.</a:t>
            </a:r>
            <a:endParaRPr lang="en-US" sz="1600"/>
          </a:p>
        </p:txBody>
      </p:sp>
      <p:sp>
        <p:nvSpPr>
          <p:cNvPr id="45" name="Shape 43"/>
          <p:cNvSpPr/>
          <p:nvPr/>
        </p:nvSpPr>
        <p:spPr bwMode="auto">
          <a:xfrm>
            <a:off x="358328" y="5640348"/>
            <a:ext cx="11475344" cy="858218"/>
          </a:xfrm>
          <a:custGeom>
            <a:avLst/>
            <a:gdLst/>
            <a:ahLst/>
            <a:cxnLst/>
            <a:rect l="l" t="t" r="r" b="b"/>
            <a:pathLst>
              <a:path w="11475344" h="858218" fill="norm" stroke="1" extrusionOk="0">
                <a:moveTo>
                  <a:pt x="106170" y="0"/>
                </a:moveTo>
                <a:lnTo>
                  <a:pt x="11369174" y="0"/>
                </a:lnTo>
                <a:cubicBezTo>
                  <a:pt x="11427810" y="0"/>
                  <a:pt x="11475344" y="47534"/>
                  <a:pt x="11475344" y="106170"/>
                </a:cubicBezTo>
                <a:lnTo>
                  <a:pt x="11475344" y="752048"/>
                </a:lnTo>
                <a:cubicBezTo>
                  <a:pt x="11475344" y="810684"/>
                  <a:pt x="11427810" y="858218"/>
                  <a:pt x="11369174" y="858218"/>
                </a:cubicBezTo>
                <a:lnTo>
                  <a:pt x="106170" y="858218"/>
                </a:lnTo>
                <a:cubicBezTo>
                  <a:pt x="47534" y="858218"/>
                  <a:pt x="0" y="810684"/>
                  <a:pt x="0" y="752048"/>
                </a:cubicBezTo>
                <a:lnTo>
                  <a:pt x="0" y="106170"/>
                </a:lnTo>
                <a:cubicBezTo>
                  <a:pt x="0" y="47573"/>
                  <a:pt x="47573" y="0"/>
                  <a:pt x="106170" y="0"/>
                </a:cubicBezTo>
                <a:close/>
              </a:path>
            </a:pathLst>
          </a:custGeom>
          <a:gradFill>
            <a:gsLst>
              <a:gs pos="0">
                <a:srgbClr val="7C3AED">
                  <a:alpha val="20000"/>
                </a:srgbClr>
              </a:gs>
              <a:gs pos="100000">
                <a:srgbClr val="EC4899">
                  <a:alpha val="20000"/>
                </a:srgbClr>
              </a:gs>
            </a:gsLst>
            <a:lin ang="0" scaled="1"/>
          </a:gra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 bwMode="auto">
          <a:xfrm>
            <a:off x="539704" y="5821724"/>
            <a:ext cx="495466" cy="495466"/>
          </a:xfrm>
          <a:custGeom>
            <a:avLst/>
            <a:gdLst/>
            <a:ahLst/>
            <a:cxnLst/>
            <a:rect l="l" t="t" r="r" b="b"/>
            <a:pathLst>
              <a:path w="495466" h="495466" fill="norm" stroke="1" extrusionOk="0">
                <a:moveTo>
                  <a:pt x="106173" y="0"/>
                </a:moveTo>
                <a:lnTo>
                  <a:pt x="389293" y="0"/>
                </a:lnTo>
                <a:cubicBezTo>
                  <a:pt x="447930" y="0"/>
                  <a:pt x="495466" y="47535"/>
                  <a:pt x="495466" y="106173"/>
                </a:cubicBezTo>
                <a:lnTo>
                  <a:pt x="495466" y="389293"/>
                </a:lnTo>
                <a:cubicBezTo>
                  <a:pt x="495466" y="447930"/>
                  <a:pt x="447930" y="495466"/>
                  <a:pt x="389293" y="495466"/>
                </a:cubicBezTo>
                <a:lnTo>
                  <a:pt x="106173" y="495466"/>
                </a:lnTo>
                <a:cubicBezTo>
                  <a:pt x="47535" y="495466"/>
                  <a:pt x="0" y="447930"/>
                  <a:pt x="0" y="389293"/>
                </a:cubicBezTo>
                <a:lnTo>
                  <a:pt x="0" y="106173"/>
                </a:lnTo>
                <a:cubicBezTo>
                  <a:pt x="0" y="47575"/>
                  <a:pt x="47575" y="0"/>
                  <a:pt x="106173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</p:spPr>
      </p:sp>
      <p:sp>
        <p:nvSpPr>
          <p:cNvPr id="47" name="Shape 45"/>
          <p:cNvSpPr/>
          <p:nvPr/>
        </p:nvSpPr>
        <p:spPr bwMode="auto">
          <a:xfrm>
            <a:off x="654723" y="5963285"/>
            <a:ext cx="265428" cy="212343"/>
          </a:xfrm>
          <a:custGeom>
            <a:avLst/>
            <a:gdLst/>
            <a:ahLst/>
            <a:cxnLst/>
            <a:rect l="l" t="t" r="r" b="b"/>
            <a:pathLst>
              <a:path w="265428" h="212343" fill="norm" stroke="1" extrusionOk="0">
                <a:moveTo>
                  <a:pt x="145115" y="98001"/>
                </a:moveTo>
                <a:lnTo>
                  <a:pt x="117701" y="98001"/>
                </a:lnTo>
                <a:lnTo>
                  <a:pt x="117701" y="73366"/>
                </a:lnTo>
                <a:lnTo>
                  <a:pt x="145115" y="73366"/>
                </a:lnTo>
                <a:lnTo>
                  <a:pt x="145115" y="98001"/>
                </a:lnTo>
                <a:close/>
                <a:moveTo>
                  <a:pt x="145115" y="13271"/>
                </a:moveTo>
                <a:lnTo>
                  <a:pt x="117701" y="13271"/>
                </a:lnTo>
                <a:lnTo>
                  <a:pt x="117701" y="38446"/>
                </a:lnTo>
                <a:lnTo>
                  <a:pt x="145115" y="38446"/>
                </a:lnTo>
                <a:lnTo>
                  <a:pt x="145115" y="13271"/>
                </a:lnTo>
                <a:close/>
                <a:moveTo>
                  <a:pt x="177547" y="73325"/>
                </a:moveTo>
                <a:lnTo>
                  <a:pt x="150133" y="73325"/>
                </a:lnTo>
                <a:lnTo>
                  <a:pt x="150133" y="97960"/>
                </a:lnTo>
                <a:lnTo>
                  <a:pt x="177547" y="97960"/>
                </a:lnTo>
                <a:lnTo>
                  <a:pt x="177547" y="73325"/>
                </a:lnTo>
                <a:close/>
                <a:moveTo>
                  <a:pt x="112724" y="43422"/>
                </a:moveTo>
                <a:lnTo>
                  <a:pt x="85310" y="43422"/>
                </a:lnTo>
                <a:lnTo>
                  <a:pt x="85310" y="68348"/>
                </a:lnTo>
                <a:lnTo>
                  <a:pt x="112724" y="68348"/>
                </a:lnTo>
                <a:lnTo>
                  <a:pt x="112724" y="43422"/>
                </a:lnTo>
                <a:close/>
                <a:moveTo>
                  <a:pt x="145115" y="43422"/>
                </a:moveTo>
                <a:lnTo>
                  <a:pt x="117701" y="43422"/>
                </a:lnTo>
                <a:lnTo>
                  <a:pt x="117701" y="68348"/>
                </a:lnTo>
                <a:lnTo>
                  <a:pt x="145115" y="68348"/>
                </a:lnTo>
                <a:lnTo>
                  <a:pt x="145115" y="43422"/>
                </a:lnTo>
                <a:close/>
                <a:moveTo>
                  <a:pt x="259912" y="84896"/>
                </a:moveTo>
                <a:cubicBezTo>
                  <a:pt x="253940" y="80873"/>
                  <a:pt x="240171" y="79421"/>
                  <a:pt x="229595" y="81412"/>
                </a:cubicBezTo>
                <a:cubicBezTo>
                  <a:pt x="228227" y="71458"/>
                  <a:pt x="222669" y="62790"/>
                  <a:pt x="212550" y="54993"/>
                </a:cubicBezTo>
                <a:lnTo>
                  <a:pt x="206744" y="51136"/>
                </a:lnTo>
                <a:lnTo>
                  <a:pt x="202887" y="56943"/>
                </a:lnTo>
                <a:cubicBezTo>
                  <a:pt x="195256" y="68472"/>
                  <a:pt x="193182" y="87467"/>
                  <a:pt x="201352" y="99992"/>
                </a:cubicBezTo>
                <a:cubicBezTo>
                  <a:pt x="197744" y="101941"/>
                  <a:pt x="190652" y="104595"/>
                  <a:pt x="181279" y="104429"/>
                </a:cubicBezTo>
                <a:lnTo>
                  <a:pt x="995" y="104429"/>
                </a:lnTo>
                <a:cubicBezTo>
                  <a:pt x="-2613" y="125498"/>
                  <a:pt x="3401" y="152870"/>
                  <a:pt x="19244" y="171657"/>
                </a:cubicBezTo>
                <a:cubicBezTo>
                  <a:pt x="34630" y="189864"/>
                  <a:pt x="57689" y="199113"/>
                  <a:pt x="87840" y="199113"/>
                </a:cubicBezTo>
                <a:cubicBezTo>
                  <a:pt x="153119" y="199113"/>
                  <a:pt x="201435" y="169045"/>
                  <a:pt x="224038" y="114424"/>
                </a:cubicBezTo>
                <a:cubicBezTo>
                  <a:pt x="232913" y="114590"/>
                  <a:pt x="252074" y="114466"/>
                  <a:pt x="261903" y="95679"/>
                </a:cubicBezTo>
                <a:cubicBezTo>
                  <a:pt x="262525" y="94642"/>
                  <a:pt x="264640" y="90204"/>
                  <a:pt x="265428" y="88587"/>
                </a:cubicBezTo>
                <a:lnTo>
                  <a:pt x="259912" y="84896"/>
                </a:lnTo>
                <a:close/>
                <a:moveTo>
                  <a:pt x="47943" y="73325"/>
                </a:moveTo>
                <a:lnTo>
                  <a:pt x="20571" y="73325"/>
                </a:lnTo>
                <a:lnTo>
                  <a:pt x="20571" y="97960"/>
                </a:lnTo>
                <a:lnTo>
                  <a:pt x="47984" y="97960"/>
                </a:lnTo>
                <a:lnTo>
                  <a:pt x="47984" y="73325"/>
                </a:lnTo>
                <a:lnTo>
                  <a:pt x="47943" y="73325"/>
                </a:lnTo>
                <a:close/>
                <a:moveTo>
                  <a:pt x="80333" y="73325"/>
                </a:moveTo>
                <a:lnTo>
                  <a:pt x="52920" y="73325"/>
                </a:lnTo>
                <a:lnTo>
                  <a:pt x="52920" y="97960"/>
                </a:lnTo>
                <a:lnTo>
                  <a:pt x="80333" y="97960"/>
                </a:lnTo>
                <a:lnTo>
                  <a:pt x="80333" y="73325"/>
                </a:lnTo>
                <a:close/>
                <a:moveTo>
                  <a:pt x="112724" y="73325"/>
                </a:moveTo>
                <a:lnTo>
                  <a:pt x="85310" y="73325"/>
                </a:lnTo>
                <a:lnTo>
                  <a:pt x="85310" y="97960"/>
                </a:lnTo>
                <a:lnTo>
                  <a:pt x="112724" y="97960"/>
                </a:lnTo>
                <a:lnTo>
                  <a:pt x="112724" y="73325"/>
                </a:lnTo>
                <a:close/>
                <a:moveTo>
                  <a:pt x="80333" y="43422"/>
                </a:moveTo>
                <a:lnTo>
                  <a:pt x="52920" y="43422"/>
                </a:lnTo>
                <a:lnTo>
                  <a:pt x="52920" y="68348"/>
                </a:lnTo>
                <a:lnTo>
                  <a:pt x="80333" y="68348"/>
                </a:lnTo>
                <a:lnTo>
                  <a:pt x="80333" y="4342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 bwMode="auto">
          <a:xfrm>
            <a:off x="1176731" y="5839419"/>
            <a:ext cx="1716435" cy="24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Docker Compose</a:t>
            </a:r>
            <a:endParaRPr lang="en-US" sz="1600"/>
          </a:p>
        </p:txBody>
      </p:sp>
      <p:sp>
        <p:nvSpPr>
          <p:cNvPr id="49" name="Text 47"/>
          <p:cNvSpPr/>
          <p:nvPr/>
        </p:nvSpPr>
        <p:spPr bwMode="auto">
          <a:xfrm>
            <a:off x="1176731" y="6087152"/>
            <a:ext cx="1698740" cy="212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Deployment Orchestration</a:t>
            </a:r>
            <a:endParaRPr lang="en-US" sz="1600"/>
          </a:p>
        </p:txBody>
      </p:sp>
      <p:sp>
        <p:nvSpPr>
          <p:cNvPr id="50" name="Text 48"/>
          <p:cNvSpPr/>
          <p:nvPr/>
        </p:nvSpPr>
        <p:spPr bwMode="auto">
          <a:xfrm>
            <a:off x="6483221" y="5857115"/>
            <a:ext cx="5167001" cy="424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  <a:defRPr/>
            </a:pPr>
            <a:r>
              <a:rPr lang="en-US" sz="11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Makes the entire system easy to run locally or in the cloud with containerized services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9">
    <p:bg>
      <p:bgPr shadeToTitle="0">
        <a:solidFill>
          <a:srgbClr val="1A0F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317500" y="33337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 fill="norm" stroke="1" extrusionOk="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 bwMode="auto">
          <a:xfrm>
            <a:off x="456406" y="460375"/>
            <a:ext cx="166687" cy="190500"/>
          </a:xfrm>
          <a:custGeom>
            <a:avLst/>
            <a:gdLst/>
            <a:ahLst/>
            <a:cxnLst/>
            <a:rect l="l" t="t" r="r" b="b"/>
            <a:pathLst>
              <a:path w="166688" h="190500" fill="norm" stroke="1" extrusionOk="0">
                <a:moveTo>
                  <a:pt x="62508" y="11906"/>
                </a:moveTo>
                <a:lnTo>
                  <a:pt x="8930" y="11906"/>
                </a:lnTo>
                <a:cubicBezTo>
                  <a:pt x="3981" y="11906"/>
                  <a:pt x="0" y="15887"/>
                  <a:pt x="0" y="20836"/>
                </a:cubicBezTo>
                <a:lnTo>
                  <a:pt x="0" y="74414"/>
                </a:lnTo>
                <a:cubicBezTo>
                  <a:pt x="0" y="78023"/>
                  <a:pt x="2158" y="81297"/>
                  <a:pt x="5507" y="82674"/>
                </a:cubicBezTo>
                <a:cubicBezTo>
                  <a:pt x="8855" y="84051"/>
                  <a:pt x="12688" y="83269"/>
                  <a:pt x="15255" y="80739"/>
                </a:cubicBezTo>
                <a:lnTo>
                  <a:pt x="30138" y="65856"/>
                </a:lnTo>
                <a:lnTo>
                  <a:pt x="59531" y="95250"/>
                </a:lnTo>
                <a:lnTo>
                  <a:pt x="30138" y="124644"/>
                </a:lnTo>
                <a:lnTo>
                  <a:pt x="15255" y="109761"/>
                </a:lnTo>
                <a:cubicBezTo>
                  <a:pt x="12688" y="107193"/>
                  <a:pt x="8855" y="106449"/>
                  <a:pt x="5507" y="107826"/>
                </a:cubicBezTo>
                <a:cubicBezTo>
                  <a:pt x="2158" y="109203"/>
                  <a:pt x="0" y="112477"/>
                  <a:pt x="0" y="116086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lnTo>
                  <a:pt x="62508" y="178594"/>
                </a:lnTo>
                <a:cubicBezTo>
                  <a:pt x="66117" y="178594"/>
                  <a:pt x="69391" y="176436"/>
                  <a:pt x="70768" y="173087"/>
                </a:cubicBezTo>
                <a:cubicBezTo>
                  <a:pt x="72144" y="169738"/>
                  <a:pt x="71400" y="165906"/>
                  <a:pt x="68833" y="163339"/>
                </a:cubicBezTo>
                <a:lnTo>
                  <a:pt x="53950" y="148456"/>
                </a:lnTo>
                <a:lnTo>
                  <a:pt x="83344" y="119063"/>
                </a:lnTo>
                <a:lnTo>
                  <a:pt x="112737" y="148456"/>
                </a:lnTo>
                <a:lnTo>
                  <a:pt x="97854" y="163339"/>
                </a:lnTo>
                <a:cubicBezTo>
                  <a:pt x="95287" y="165906"/>
                  <a:pt x="94543" y="169738"/>
                  <a:pt x="95920" y="173087"/>
                </a:cubicBezTo>
                <a:cubicBezTo>
                  <a:pt x="97296" y="176436"/>
                  <a:pt x="100571" y="178594"/>
                  <a:pt x="104180" y="178594"/>
                </a:cubicBezTo>
                <a:lnTo>
                  <a:pt x="157758" y="178594"/>
                </a:lnTo>
                <a:cubicBezTo>
                  <a:pt x="162706" y="178594"/>
                  <a:pt x="166688" y="174613"/>
                  <a:pt x="166688" y="169664"/>
                </a:cubicBezTo>
                <a:lnTo>
                  <a:pt x="166688" y="116086"/>
                </a:lnTo>
                <a:cubicBezTo>
                  <a:pt x="166688" y="112477"/>
                  <a:pt x="164529" y="109203"/>
                  <a:pt x="161181" y="107826"/>
                </a:cubicBezTo>
                <a:cubicBezTo>
                  <a:pt x="157832" y="106449"/>
                  <a:pt x="154000" y="107193"/>
                  <a:pt x="151433" y="109761"/>
                </a:cubicBezTo>
                <a:lnTo>
                  <a:pt x="136550" y="124644"/>
                </a:lnTo>
                <a:lnTo>
                  <a:pt x="107156" y="95250"/>
                </a:lnTo>
                <a:lnTo>
                  <a:pt x="136550" y="65856"/>
                </a:lnTo>
                <a:lnTo>
                  <a:pt x="151433" y="80739"/>
                </a:lnTo>
                <a:cubicBezTo>
                  <a:pt x="154000" y="83307"/>
                  <a:pt x="157832" y="84051"/>
                  <a:pt x="161181" y="82674"/>
                </a:cubicBezTo>
                <a:cubicBezTo>
                  <a:pt x="164529" y="81297"/>
                  <a:pt x="166688" y="78023"/>
                  <a:pt x="166688" y="74414"/>
                </a:cubicBezTo>
                <a:lnTo>
                  <a:pt x="166688" y="20836"/>
                </a:lnTo>
                <a:cubicBezTo>
                  <a:pt x="166688" y="15887"/>
                  <a:pt x="162706" y="11906"/>
                  <a:pt x="157758" y="11906"/>
                </a:cubicBezTo>
                <a:lnTo>
                  <a:pt x="104180" y="11906"/>
                </a:lnTo>
                <a:cubicBezTo>
                  <a:pt x="100571" y="11906"/>
                  <a:pt x="97296" y="14064"/>
                  <a:pt x="95920" y="17413"/>
                </a:cubicBezTo>
                <a:cubicBezTo>
                  <a:pt x="94543" y="20762"/>
                  <a:pt x="95324" y="24594"/>
                  <a:pt x="97854" y="27161"/>
                </a:cubicBezTo>
                <a:lnTo>
                  <a:pt x="112737" y="42044"/>
                </a:lnTo>
                <a:lnTo>
                  <a:pt x="83344" y="71438"/>
                </a:lnTo>
                <a:lnTo>
                  <a:pt x="53950" y="42044"/>
                </a:lnTo>
                <a:lnTo>
                  <a:pt x="68833" y="27161"/>
                </a:lnTo>
                <a:cubicBezTo>
                  <a:pt x="71400" y="24594"/>
                  <a:pt x="72144" y="20762"/>
                  <a:pt x="70768" y="17413"/>
                </a:cubicBezTo>
                <a:cubicBezTo>
                  <a:pt x="69391" y="14064"/>
                  <a:pt x="66117" y="11906"/>
                  <a:pt x="62508" y="119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 bwMode="auto">
          <a:xfrm flipH="0" flipV="0">
            <a:off x="888999" y="317499"/>
            <a:ext cx="5945187" cy="380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00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Scalability &amp; Fault Tolerance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 bwMode="auto">
          <a:xfrm>
            <a:off x="889000" y="762000"/>
            <a:ext cx="1016000" cy="31750"/>
          </a:xfrm>
          <a:custGeom>
            <a:avLst/>
            <a:gdLst/>
            <a:ahLst/>
            <a:cxnLst/>
            <a:rect l="l" t="t" r="r" b="b"/>
            <a:pathLst>
              <a:path w="1016000" h="31750" fill="norm" stroke="1" extrusionOk="0">
                <a:moveTo>
                  <a:pt x="15875" y="0"/>
                </a:moveTo>
                <a:lnTo>
                  <a:pt x="1000125" y="0"/>
                </a:lnTo>
                <a:cubicBezTo>
                  <a:pt x="1008887" y="0"/>
                  <a:pt x="1016000" y="7113"/>
                  <a:pt x="1016000" y="15875"/>
                </a:cubicBezTo>
                <a:lnTo>
                  <a:pt x="1016000" y="15875"/>
                </a:lnTo>
                <a:cubicBezTo>
                  <a:pt x="1016000" y="24637"/>
                  <a:pt x="1008887" y="31750"/>
                  <a:pt x="1000125" y="31750"/>
                </a:cubicBezTo>
                <a:lnTo>
                  <a:pt x="15875" y="31750"/>
                </a:lnTo>
                <a:cubicBezTo>
                  <a:pt x="7113" y="31750"/>
                  <a:pt x="0" y="24637"/>
                  <a:pt x="0" y="15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 bwMode="auto">
          <a:xfrm>
            <a:off x="321469" y="956469"/>
            <a:ext cx="5675313" cy="5929313"/>
          </a:xfrm>
          <a:custGeom>
            <a:avLst/>
            <a:gdLst/>
            <a:ahLst/>
            <a:cxnLst/>
            <a:rect l="l" t="t" r="r" b="b"/>
            <a:pathLst>
              <a:path w="5675313" h="5929313" fill="norm" stroke="1" extrusionOk="0">
                <a:moveTo>
                  <a:pt x="127013" y="0"/>
                </a:moveTo>
                <a:lnTo>
                  <a:pt x="5548299" y="0"/>
                </a:lnTo>
                <a:cubicBezTo>
                  <a:pt x="5618447" y="0"/>
                  <a:pt x="5675313" y="56866"/>
                  <a:pt x="5675313" y="127013"/>
                </a:cubicBezTo>
                <a:lnTo>
                  <a:pt x="5675313" y="5802299"/>
                </a:lnTo>
                <a:cubicBezTo>
                  <a:pt x="5675313" y="5872447"/>
                  <a:pt x="5618447" y="5929313"/>
                  <a:pt x="5548299" y="5929313"/>
                </a:cubicBezTo>
                <a:lnTo>
                  <a:pt x="127013" y="5929313"/>
                </a:lnTo>
                <a:cubicBezTo>
                  <a:pt x="56866" y="5929313"/>
                  <a:pt x="0" y="5872447"/>
                  <a:pt x="0" y="5802299"/>
                </a:cubicBezTo>
                <a:lnTo>
                  <a:pt x="0" y="127013"/>
                </a:lnTo>
                <a:cubicBezTo>
                  <a:pt x="0" y="56913"/>
                  <a:pt x="56913" y="0"/>
                  <a:pt x="127013" y="0"/>
                </a:cubicBezTo>
                <a:close/>
              </a:path>
            </a:pathLst>
          </a:custGeom>
          <a:solidFill>
            <a:srgbClr val="4C1D95">
              <a:alpha val="30194"/>
            </a:srgbClr>
          </a:solidFill>
          <a:ln w="12700">
            <a:solidFill>
              <a:srgbClr val="7C3AED">
                <a:alpha val="30194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 bwMode="auto">
          <a:xfrm>
            <a:off x="515938" y="11509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fill="norm" stroke="1" extrusionOk="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8" name="Shape 6"/>
          <p:cNvSpPr/>
          <p:nvPr/>
        </p:nvSpPr>
        <p:spPr bwMode="auto">
          <a:xfrm>
            <a:off x="627063" y="12620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 fill="norm" stroke="1" extrusionOk="0">
                <a:moveTo>
                  <a:pt x="19844" y="19844"/>
                </a:moveTo>
                <a:cubicBezTo>
                  <a:pt x="19844" y="14356"/>
                  <a:pt x="15410" y="9922"/>
                  <a:pt x="9922" y="9922"/>
                </a:cubicBezTo>
                <a:cubicBezTo>
                  <a:pt x="4434" y="9922"/>
                  <a:pt x="0" y="14356"/>
                  <a:pt x="0" y="19844"/>
                </a:cubicBezTo>
                <a:lnTo>
                  <a:pt x="0" y="124023"/>
                </a:lnTo>
                <a:cubicBezTo>
                  <a:pt x="0" y="137728"/>
                  <a:pt x="11100" y="148828"/>
                  <a:pt x="24805" y="148828"/>
                </a:cubicBezTo>
                <a:lnTo>
                  <a:pt x="148828" y="148828"/>
                </a:lnTo>
                <a:cubicBezTo>
                  <a:pt x="154316" y="148828"/>
                  <a:pt x="158750" y="144394"/>
                  <a:pt x="158750" y="138906"/>
                </a:cubicBezTo>
                <a:cubicBezTo>
                  <a:pt x="158750" y="133418"/>
                  <a:pt x="154316" y="128984"/>
                  <a:pt x="148828" y="128984"/>
                </a:cubicBezTo>
                <a:lnTo>
                  <a:pt x="24805" y="128984"/>
                </a:lnTo>
                <a:cubicBezTo>
                  <a:pt x="22076" y="128984"/>
                  <a:pt x="19844" y="126752"/>
                  <a:pt x="19844" y="124023"/>
                </a:cubicBezTo>
                <a:lnTo>
                  <a:pt x="19844" y="19844"/>
                </a:lnTo>
                <a:close/>
                <a:moveTo>
                  <a:pt x="145914" y="46695"/>
                </a:moveTo>
                <a:cubicBezTo>
                  <a:pt x="149789" y="42819"/>
                  <a:pt x="149789" y="36525"/>
                  <a:pt x="145914" y="32649"/>
                </a:cubicBezTo>
                <a:cubicBezTo>
                  <a:pt x="142038" y="28773"/>
                  <a:pt x="135744" y="28773"/>
                  <a:pt x="131868" y="32649"/>
                </a:cubicBezTo>
                <a:lnTo>
                  <a:pt x="99219" y="65329"/>
                </a:lnTo>
                <a:lnTo>
                  <a:pt x="81421" y="47563"/>
                </a:lnTo>
                <a:cubicBezTo>
                  <a:pt x="77546" y="43687"/>
                  <a:pt x="71251" y="43687"/>
                  <a:pt x="67376" y="47563"/>
                </a:cubicBezTo>
                <a:lnTo>
                  <a:pt x="37610" y="77329"/>
                </a:lnTo>
                <a:cubicBezTo>
                  <a:pt x="33734" y="81204"/>
                  <a:pt x="33734" y="87499"/>
                  <a:pt x="37610" y="91374"/>
                </a:cubicBezTo>
                <a:cubicBezTo>
                  <a:pt x="41486" y="95250"/>
                  <a:pt x="47780" y="95250"/>
                  <a:pt x="51656" y="91374"/>
                </a:cubicBezTo>
                <a:lnTo>
                  <a:pt x="74414" y="68616"/>
                </a:lnTo>
                <a:lnTo>
                  <a:pt x="92211" y="86413"/>
                </a:lnTo>
                <a:cubicBezTo>
                  <a:pt x="96087" y="90289"/>
                  <a:pt x="102381" y="90289"/>
                  <a:pt x="106257" y="86413"/>
                </a:cubicBezTo>
                <a:lnTo>
                  <a:pt x="145945" y="46726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 bwMode="auto">
          <a:xfrm flipH="0" flipV="0">
            <a:off x="992187" y="1198562"/>
            <a:ext cx="30454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Scalability Analysis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 bwMode="auto">
          <a:xfrm>
            <a:off x="515938" y="1690688"/>
            <a:ext cx="53498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SkyPipe is built to </a:t>
            </a:r>
            <a:r>
              <a:rPr lang="en-US" sz="100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grow easily</a:t>
            </a: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with increasing data volume. The architecture supports horizontal scaling at every layer.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 bwMode="auto">
          <a:xfrm>
            <a:off x="531813" y="2262188"/>
            <a:ext cx="5270500" cy="873125"/>
          </a:xfrm>
          <a:custGeom>
            <a:avLst/>
            <a:gdLst/>
            <a:ahLst/>
            <a:cxnLst/>
            <a:rect l="l" t="t" r="r" b="b"/>
            <a:pathLst>
              <a:path w="5270500" h="873125" fill="norm" stroke="1" extrusionOk="0">
                <a:moveTo>
                  <a:pt x="31750" y="0"/>
                </a:moveTo>
                <a:lnTo>
                  <a:pt x="5175251" y="0"/>
                </a:lnTo>
                <a:cubicBezTo>
                  <a:pt x="5227855" y="0"/>
                  <a:pt x="5270500" y="42645"/>
                  <a:pt x="5270500" y="95249"/>
                </a:cubicBezTo>
                <a:lnTo>
                  <a:pt x="5270500" y="777876"/>
                </a:lnTo>
                <a:cubicBezTo>
                  <a:pt x="5270500" y="830480"/>
                  <a:pt x="5227855" y="873125"/>
                  <a:pt x="5175251" y="873125"/>
                </a:cubicBezTo>
                <a:lnTo>
                  <a:pt x="31750" y="873125"/>
                </a:lnTo>
                <a:cubicBezTo>
                  <a:pt x="14215" y="873125"/>
                  <a:pt x="0" y="858910"/>
                  <a:pt x="0" y="841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 bwMode="auto">
          <a:xfrm>
            <a:off x="531813" y="2262188"/>
            <a:ext cx="31750" cy="873125"/>
          </a:xfrm>
          <a:custGeom>
            <a:avLst/>
            <a:gdLst/>
            <a:ahLst/>
            <a:cxnLst/>
            <a:rect l="l" t="t" r="r" b="b"/>
            <a:pathLst>
              <a:path w="31750" h="873125" fill="norm" stroke="1" extrusionOk="0">
                <a:moveTo>
                  <a:pt x="31750" y="0"/>
                </a:moveTo>
                <a:lnTo>
                  <a:pt x="31750" y="0"/>
                </a:lnTo>
                <a:lnTo>
                  <a:pt x="31750" y="873125"/>
                </a:lnTo>
                <a:lnTo>
                  <a:pt x="31750" y="873125"/>
                </a:lnTo>
                <a:cubicBezTo>
                  <a:pt x="14227" y="873125"/>
                  <a:pt x="0" y="858898"/>
                  <a:pt x="0" y="841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3" name="Shape 11"/>
          <p:cNvSpPr/>
          <p:nvPr/>
        </p:nvSpPr>
        <p:spPr bwMode="auto">
          <a:xfrm>
            <a:off x="674688" y="238918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 fill="norm" stroke="1" extrusionOk="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14" name="Shape 12"/>
          <p:cNvSpPr/>
          <p:nvPr/>
        </p:nvSpPr>
        <p:spPr bwMode="auto">
          <a:xfrm>
            <a:off x="762000" y="2484438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 fill="norm" stroke="1" extrusionOk="0">
                <a:moveTo>
                  <a:pt x="0" y="83344"/>
                </a:moveTo>
                <a:cubicBezTo>
                  <a:pt x="0" y="103063"/>
                  <a:pt x="15999" y="119063"/>
                  <a:pt x="35719" y="119063"/>
                </a:cubicBezTo>
                <a:lnTo>
                  <a:pt x="111125" y="119063"/>
                </a:lnTo>
                <a:cubicBezTo>
                  <a:pt x="128662" y="119063"/>
                  <a:pt x="142875" y="104849"/>
                  <a:pt x="142875" y="87313"/>
                </a:cubicBezTo>
                <a:cubicBezTo>
                  <a:pt x="142875" y="74513"/>
                  <a:pt x="135310" y="63475"/>
                  <a:pt x="124396" y="58465"/>
                </a:cubicBezTo>
                <a:cubicBezTo>
                  <a:pt x="126057" y="55215"/>
                  <a:pt x="127000" y="51519"/>
                  <a:pt x="127000" y="47625"/>
                </a:cubicBezTo>
                <a:cubicBezTo>
                  <a:pt x="127000" y="34479"/>
                  <a:pt x="116334" y="23812"/>
                  <a:pt x="103188" y="23812"/>
                </a:cubicBezTo>
                <a:cubicBezTo>
                  <a:pt x="98797" y="23812"/>
                  <a:pt x="94704" y="25003"/>
                  <a:pt x="91182" y="27062"/>
                </a:cubicBezTo>
                <a:cubicBezTo>
                  <a:pt x="85204" y="15701"/>
                  <a:pt x="73273" y="7938"/>
                  <a:pt x="59531" y="7938"/>
                </a:cubicBezTo>
                <a:cubicBezTo>
                  <a:pt x="39812" y="7938"/>
                  <a:pt x="23813" y="23937"/>
                  <a:pt x="23813" y="43656"/>
                </a:cubicBezTo>
                <a:cubicBezTo>
                  <a:pt x="23813" y="45641"/>
                  <a:pt x="23986" y="47600"/>
                  <a:pt x="24284" y="49485"/>
                </a:cubicBezTo>
                <a:cubicBezTo>
                  <a:pt x="10170" y="54248"/>
                  <a:pt x="0" y="67618"/>
                  <a:pt x="0" y="83344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 bwMode="auto">
          <a:xfrm>
            <a:off x="1087438" y="2389188"/>
            <a:ext cx="4659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Storage Separation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 bwMode="auto">
          <a:xfrm>
            <a:off x="1087438" y="2643188"/>
            <a:ext cx="4643438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9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Object storage separates uploads from processing so that many workers can read the same files at the same time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 bwMode="auto">
          <a:xfrm>
            <a:off x="531813" y="3258344"/>
            <a:ext cx="5270500" cy="873125"/>
          </a:xfrm>
          <a:custGeom>
            <a:avLst/>
            <a:gdLst/>
            <a:ahLst/>
            <a:cxnLst/>
            <a:rect l="l" t="t" r="r" b="b"/>
            <a:pathLst>
              <a:path w="5270500" h="873125" fill="norm" stroke="1" extrusionOk="0">
                <a:moveTo>
                  <a:pt x="31750" y="0"/>
                </a:moveTo>
                <a:lnTo>
                  <a:pt x="5175251" y="0"/>
                </a:lnTo>
                <a:cubicBezTo>
                  <a:pt x="5227855" y="0"/>
                  <a:pt x="5270500" y="42645"/>
                  <a:pt x="5270500" y="95249"/>
                </a:cubicBezTo>
                <a:lnTo>
                  <a:pt x="5270500" y="777876"/>
                </a:lnTo>
                <a:cubicBezTo>
                  <a:pt x="5270500" y="830480"/>
                  <a:pt x="5227855" y="873125"/>
                  <a:pt x="5175251" y="873125"/>
                </a:cubicBezTo>
                <a:lnTo>
                  <a:pt x="31750" y="873125"/>
                </a:lnTo>
                <a:cubicBezTo>
                  <a:pt x="14215" y="873125"/>
                  <a:pt x="0" y="858910"/>
                  <a:pt x="0" y="841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 bwMode="auto">
          <a:xfrm>
            <a:off x="531813" y="3258344"/>
            <a:ext cx="31750" cy="873125"/>
          </a:xfrm>
          <a:custGeom>
            <a:avLst/>
            <a:gdLst/>
            <a:ahLst/>
            <a:cxnLst/>
            <a:rect l="l" t="t" r="r" b="b"/>
            <a:pathLst>
              <a:path w="31750" h="873125" fill="norm" stroke="1" extrusionOk="0">
                <a:moveTo>
                  <a:pt x="31750" y="0"/>
                </a:moveTo>
                <a:lnTo>
                  <a:pt x="31750" y="0"/>
                </a:lnTo>
                <a:lnTo>
                  <a:pt x="31750" y="873125"/>
                </a:lnTo>
                <a:lnTo>
                  <a:pt x="31750" y="873125"/>
                </a:lnTo>
                <a:cubicBezTo>
                  <a:pt x="14227" y="873125"/>
                  <a:pt x="0" y="858898"/>
                  <a:pt x="0" y="841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19" name="Shape 17"/>
          <p:cNvSpPr/>
          <p:nvPr/>
        </p:nvSpPr>
        <p:spPr bwMode="auto">
          <a:xfrm>
            <a:off x="674688" y="3385344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 fill="norm" stroke="1" extrusionOk="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/>
        </p:spPr>
      </p:sp>
      <p:sp>
        <p:nvSpPr>
          <p:cNvPr id="20" name="Shape 18"/>
          <p:cNvSpPr/>
          <p:nvPr/>
        </p:nvSpPr>
        <p:spPr bwMode="auto">
          <a:xfrm>
            <a:off x="777875" y="3480594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 fill="norm" stroke="1" extrusionOk="0">
                <a:moveTo>
                  <a:pt x="84038" y="-2456"/>
                </a:moveTo>
                <a:cubicBezTo>
                  <a:pt x="86990" y="-322"/>
                  <a:pt x="88081" y="3547"/>
                  <a:pt x="86742" y="6921"/>
                </a:cubicBezTo>
                <a:lnTo>
                  <a:pt x="67295" y="55563"/>
                </a:lnTo>
                <a:lnTo>
                  <a:pt x="103188" y="55563"/>
                </a:lnTo>
                <a:cubicBezTo>
                  <a:pt x="106536" y="55563"/>
                  <a:pt x="109513" y="57646"/>
                  <a:pt x="110654" y="60796"/>
                </a:cubicBezTo>
                <a:cubicBezTo>
                  <a:pt x="111795" y="63946"/>
                  <a:pt x="110827" y="67469"/>
                  <a:pt x="108272" y="69602"/>
                </a:cubicBezTo>
                <a:lnTo>
                  <a:pt x="36835" y="129133"/>
                </a:lnTo>
                <a:cubicBezTo>
                  <a:pt x="34032" y="131465"/>
                  <a:pt x="30038" y="131589"/>
                  <a:pt x="27087" y="129456"/>
                </a:cubicBezTo>
                <a:cubicBezTo>
                  <a:pt x="24135" y="127322"/>
                  <a:pt x="23044" y="123453"/>
                  <a:pt x="24383" y="120079"/>
                </a:cubicBezTo>
                <a:lnTo>
                  <a:pt x="43830" y="71438"/>
                </a:lnTo>
                <a:lnTo>
                  <a:pt x="7938" y="71438"/>
                </a:lnTo>
                <a:cubicBezTo>
                  <a:pt x="4589" y="71438"/>
                  <a:pt x="1612" y="69354"/>
                  <a:pt x="471" y="66204"/>
                </a:cubicBezTo>
                <a:cubicBezTo>
                  <a:pt x="-670" y="63054"/>
                  <a:pt x="298" y="59531"/>
                  <a:pt x="2853" y="57398"/>
                </a:cubicBezTo>
                <a:lnTo>
                  <a:pt x="74290" y="-2133"/>
                </a:lnTo>
                <a:cubicBezTo>
                  <a:pt x="77093" y="-4465"/>
                  <a:pt x="81087" y="-4589"/>
                  <a:pt x="84038" y="-2456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21" name="Text 19"/>
          <p:cNvSpPr/>
          <p:nvPr/>
        </p:nvSpPr>
        <p:spPr bwMode="auto">
          <a:xfrm>
            <a:off x="1087438" y="3385344"/>
            <a:ext cx="4659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Parallel Processing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 bwMode="auto">
          <a:xfrm>
            <a:off x="1087438" y="3639344"/>
            <a:ext cx="4643438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9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Spark runs calculations in parallel across partitions, allowing larger files to be handled by adding more resources</a:t>
            </a:r>
            <a:endParaRPr lang="en-US" sz="1600"/>
          </a:p>
        </p:txBody>
      </p:sp>
      <p:sp>
        <p:nvSpPr>
          <p:cNvPr id="23" name="Shape 21"/>
          <p:cNvSpPr/>
          <p:nvPr/>
        </p:nvSpPr>
        <p:spPr bwMode="auto">
          <a:xfrm>
            <a:off x="531813" y="4254500"/>
            <a:ext cx="5270500" cy="690563"/>
          </a:xfrm>
          <a:custGeom>
            <a:avLst/>
            <a:gdLst/>
            <a:ahLst/>
            <a:cxnLst/>
            <a:rect l="l" t="t" r="r" b="b"/>
            <a:pathLst>
              <a:path w="5270500" h="690563" fill="norm" stroke="1" extrusionOk="0">
                <a:moveTo>
                  <a:pt x="31750" y="0"/>
                </a:moveTo>
                <a:lnTo>
                  <a:pt x="5175251" y="0"/>
                </a:lnTo>
                <a:cubicBezTo>
                  <a:pt x="5227855" y="0"/>
                  <a:pt x="5270500" y="42645"/>
                  <a:pt x="5270500" y="95249"/>
                </a:cubicBezTo>
                <a:lnTo>
                  <a:pt x="5270500" y="595313"/>
                </a:lnTo>
                <a:cubicBezTo>
                  <a:pt x="5270500" y="647918"/>
                  <a:pt x="5227855" y="690563"/>
                  <a:pt x="5175251" y="690563"/>
                </a:cubicBezTo>
                <a:lnTo>
                  <a:pt x="31750" y="690563"/>
                </a:lnTo>
                <a:cubicBezTo>
                  <a:pt x="14227" y="690563"/>
                  <a:pt x="0" y="676336"/>
                  <a:pt x="0" y="658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24" name="Shape 22"/>
          <p:cNvSpPr/>
          <p:nvPr/>
        </p:nvSpPr>
        <p:spPr bwMode="auto">
          <a:xfrm>
            <a:off x="531813" y="4254500"/>
            <a:ext cx="31750" cy="690563"/>
          </a:xfrm>
          <a:custGeom>
            <a:avLst/>
            <a:gdLst/>
            <a:ahLst/>
            <a:cxnLst/>
            <a:rect l="l" t="t" r="r" b="b"/>
            <a:pathLst>
              <a:path w="31750" h="690563" fill="norm" stroke="1" extrusionOk="0">
                <a:moveTo>
                  <a:pt x="31750" y="0"/>
                </a:moveTo>
                <a:lnTo>
                  <a:pt x="31750" y="0"/>
                </a:lnTo>
                <a:lnTo>
                  <a:pt x="31750" y="690563"/>
                </a:lnTo>
                <a:lnTo>
                  <a:pt x="31750" y="690563"/>
                </a:lnTo>
                <a:cubicBezTo>
                  <a:pt x="14227" y="690563"/>
                  <a:pt x="0" y="676336"/>
                  <a:pt x="0" y="658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5" name="Shape 23"/>
          <p:cNvSpPr/>
          <p:nvPr/>
        </p:nvSpPr>
        <p:spPr bwMode="auto">
          <a:xfrm>
            <a:off x="674688" y="4381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 fill="norm" stroke="1" extrusionOk="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26" name="Shape 24"/>
          <p:cNvSpPr/>
          <p:nvPr/>
        </p:nvSpPr>
        <p:spPr bwMode="auto">
          <a:xfrm>
            <a:off x="769938" y="44767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57671" y="1290"/>
                </a:moveTo>
                <a:cubicBezTo>
                  <a:pt x="61367" y="-422"/>
                  <a:pt x="65633" y="-422"/>
                  <a:pt x="69329" y="1290"/>
                </a:cubicBezTo>
                <a:lnTo>
                  <a:pt x="123552" y="26343"/>
                </a:lnTo>
                <a:cubicBezTo>
                  <a:pt x="125661" y="27310"/>
                  <a:pt x="127000" y="29418"/>
                  <a:pt x="127000" y="31750"/>
                </a:cubicBezTo>
                <a:cubicBezTo>
                  <a:pt x="127000" y="34082"/>
                  <a:pt x="125661" y="36190"/>
                  <a:pt x="123552" y="37157"/>
                </a:cubicBezTo>
                <a:lnTo>
                  <a:pt x="69329" y="62210"/>
                </a:lnTo>
                <a:cubicBezTo>
                  <a:pt x="65633" y="63922"/>
                  <a:pt x="61367" y="63922"/>
                  <a:pt x="57671" y="62210"/>
                </a:cubicBezTo>
                <a:lnTo>
                  <a:pt x="3448" y="37157"/>
                </a:lnTo>
                <a:cubicBezTo>
                  <a:pt x="1339" y="36165"/>
                  <a:pt x="0" y="34057"/>
                  <a:pt x="0" y="31750"/>
                </a:cubicBezTo>
                <a:cubicBezTo>
                  <a:pt x="0" y="29443"/>
                  <a:pt x="1339" y="27310"/>
                  <a:pt x="3448" y="26343"/>
                </a:cubicBezTo>
                <a:lnTo>
                  <a:pt x="57671" y="1290"/>
                </a:lnTo>
                <a:close/>
                <a:moveTo>
                  <a:pt x="11931" y="54173"/>
                </a:moveTo>
                <a:lnTo>
                  <a:pt x="52685" y="73000"/>
                </a:lnTo>
                <a:cubicBezTo>
                  <a:pt x="59556" y="76175"/>
                  <a:pt x="67469" y="76175"/>
                  <a:pt x="74340" y="73000"/>
                </a:cubicBezTo>
                <a:lnTo>
                  <a:pt x="115094" y="54173"/>
                </a:lnTo>
                <a:lnTo>
                  <a:pt x="123552" y="58093"/>
                </a:lnTo>
                <a:cubicBezTo>
                  <a:pt x="125661" y="59060"/>
                  <a:pt x="127000" y="61168"/>
                  <a:pt x="127000" y="63500"/>
                </a:cubicBezTo>
                <a:cubicBezTo>
                  <a:pt x="127000" y="65832"/>
                  <a:pt x="125661" y="67940"/>
                  <a:pt x="123552" y="68907"/>
                </a:cubicBezTo>
                <a:lnTo>
                  <a:pt x="69329" y="93960"/>
                </a:lnTo>
                <a:cubicBezTo>
                  <a:pt x="65633" y="95672"/>
                  <a:pt x="61367" y="95672"/>
                  <a:pt x="57671" y="93960"/>
                </a:cubicBezTo>
                <a:lnTo>
                  <a:pt x="3448" y="68907"/>
                </a:lnTo>
                <a:cubicBezTo>
                  <a:pt x="1339" y="67915"/>
                  <a:pt x="0" y="65807"/>
                  <a:pt x="0" y="63500"/>
                </a:cubicBezTo>
                <a:cubicBezTo>
                  <a:pt x="0" y="61193"/>
                  <a:pt x="1339" y="59060"/>
                  <a:pt x="3448" y="58093"/>
                </a:cubicBezTo>
                <a:lnTo>
                  <a:pt x="11906" y="54173"/>
                </a:lnTo>
                <a:close/>
                <a:moveTo>
                  <a:pt x="3448" y="89843"/>
                </a:moveTo>
                <a:lnTo>
                  <a:pt x="11906" y="85923"/>
                </a:lnTo>
                <a:lnTo>
                  <a:pt x="52660" y="104750"/>
                </a:lnTo>
                <a:cubicBezTo>
                  <a:pt x="59531" y="107925"/>
                  <a:pt x="67444" y="107925"/>
                  <a:pt x="74315" y="104750"/>
                </a:cubicBezTo>
                <a:lnTo>
                  <a:pt x="115069" y="85923"/>
                </a:lnTo>
                <a:lnTo>
                  <a:pt x="123527" y="89843"/>
                </a:lnTo>
                <a:cubicBezTo>
                  <a:pt x="125636" y="90810"/>
                  <a:pt x="126975" y="92918"/>
                  <a:pt x="126975" y="95250"/>
                </a:cubicBezTo>
                <a:cubicBezTo>
                  <a:pt x="126975" y="97582"/>
                  <a:pt x="125636" y="99690"/>
                  <a:pt x="123527" y="100657"/>
                </a:cubicBezTo>
                <a:lnTo>
                  <a:pt x="69304" y="125710"/>
                </a:lnTo>
                <a:cubicBezTo>
                  <a:pt x="65608" y="127422"/>
                  <a:pt x="61342" y="127422"/>
                  <a:pt x="57646" y="125710"/>
                </a:cubicBezTo>
                <a:lnTo>
                  <a:pt x="3448" y="100657"/>
                </a:lnTo>
                <a:cubicBezTo>
                  <a:pt x="1339" y="99665"/>
                  <a:pt x="0" y="97557"/>
                  <a:pt x="0" y="95250"/>
                </a:cubicBezTo>
                <a:cubicBezTo>
                  <a:pt x="0" y="92943"/>
                  <a:pt x="1339" y="90810"/>
                  <a:pt x="3448" y="89843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 bwMode="auto">
          <a:xfrm>
            <a:off x="1087438" y="4381500"/>
            <a:ext cx="4111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Independent Scaling</a:t>
            </a:r>
            <a:endParaRPr lang="en-US" sz="1600"/>
          </a:p>
        </p:txBody>
      </p:sp>
      <p:sp>
        <p:nvSpPr>
          <p:cNvPr id="28" name="Text 26"/>
          <p:cNvSpPr/>
          <p:nvPr/>
        </p:nvSpPr>
        <p:spPr bwMode="auto">
          <a:xfrm>
            <a:off x="1087438" y="4635500"/>
            <a:ext cx="4095750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9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Web, API, and storage services can each be scaled independently based on demand</a:t>
            </a:r>
            <a:endParaRPr lang="en-US" sz="1600"/>
          </a:p>
        </p:txBody>
      </p:sp>
      <p:sp>
        <p:nvSpPr>
          <p:cNvPr id="29" name="Shape 27"/>
          <p:cNvSpPr/>
          <p:nvPr/>
        </p:nvSpPr>
        <p:spPr bwMode="auto">
          <a:xfrm>
            <a:off x="531813" y="5070078"/>
            <a:ext cx="5270500" cy="690563"/>
          </a:xfrm>
          <a:custGeom>
            <a:avLst/>
            <a:gdLst/>
            <a:ahLst/>
            <a:cxnLst/>
            <a:rect l="l" t="t" r="r" b="b"/>
            <a:pathLst>
              <a:path w="5270500" h="690563" fill="norm" stroke="1" extrusionOk="0">
                <a:moveTo>
                  <a:pt x="31750" y="0"/>
                </a:moveTo>
                <a:lnTo>
                  <a:pt x="5175251" y="0"/>
                </a:lnTo>
                <a:cubicBezTo>
                  <a:pt x="5227855" y="0"/>
                  <a:pt x="5270500" y="42645"/>
                  <a:pt x="5270500" y="95249"/>
                </a:cubicBezTo>
                <a:lnTo>
                  <a:pt x="5270500" y="595313"/>
                </a:lnTo>
                <a:cubicBezTo>
                  <a:pt x="5270500" y="647918"/>
                  <a:pt x="5227855" y="690563"/>
                  <a:pt x="5175251" y="690563"/>
                </a:cubicBezTo>
                <a:lnTo>
                  <a:pt x="31750" y="690563"/>
                </a:lnTo>
                <a:cubicBezTo>
                  <a:pt x="14227" y="690563"/>
                  <a:pt x="0" y="676336"/>
                  <a:pt x="0" y="658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30" name="Shape 28"/>
          <p:cNvSpPr/>
          <p:nvPr/>
        </p:nvSpPr>
        <p:spPr bwMode="auto">
          <a:xfrm>
            <a:off x="531813" y="5070078"/>
            <a:ext cx="31750" cy="690563"/>
          </a:xfrm>
          <a:custGeom>
            <a:avLst/>
            <a:gdLst/>
            <a:ahLst/>
            <a:cxnLst/>
            <a:rect l="l" t="t" r="r" b="b"/>
            <a:pathLst>
              <a:path w="31750" h="690563" fill="norm" stroke="1" extrusionOk="0">
                <a:moveTo>
                  <a:pt x="31750" y="0"/>
                </a:moveTo>
                <a:lnTo>
                  <a:pt x="31750" y="0"/>
                </a:lnTo>
                <a:lnTo>
                  <a:pt x="31750" y="690563"/>
                </a:lnTo>
                <a:lnTo>
                  <a:pt x="31750" y="690563"/>
                </a:lnTo>
                <a:cubicBezTo>
                  <a:pt x="14227" y="690563"/>
                  <a:pt x="0" y="676336"/>
                  <a:pt x="0" y="658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1" name="Shape 29"/>
          <p:cNvSpPr/>
          <p:nvPr/>
        </p:nvSpPr>
        <p:spPr bwMode="auto">
          <a:xfrm>
            <a:off x="674688" y="519707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 fill="norm" stroke="1" extrusionOk="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/>
        </p:spPr>
      </p:sp>
      <p:sp>
        <p:nvSpPr>
          <p:cNvPr id="32" name="Shape 30"/>
          <p:cNvSpPr/>
          <p:nvPr/>
        </p:nvSpPr>
        <p:spPr bwMode="auto">
          <a:xfrm>
            <a:off x="762000" y="5292328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 fill="norm" stroke="1" extrusionOk="0">
                <a:moveTo>
                  <a:pt x="0" y="35247"/>
                </a:moveTo>
                <a:lnTo>
                  <a:pt x="0" y="119063"/>
                </a:lnTo>
                <a:cubicBezTo>
                  <a:pt x="0" y="123453"/>
                  <a:pt x="3547" y="127000"/>
                  <a:pt x="7938" y="127000"/>
                </a:cubicBezTo>
                <a:cubicBezTo>
                  <a:pt x="12328" y="127000"/>
                  <a:pt x="15875" y="123453"/>
                  <a:pt x="15875" y="119063"/>
                </a:cubicBezTo>
                <a:lnTo>
                  <a:pt x="15875" y="59531"/>
                </a:lnTo>
                <a:cubicBezTo>
                  <a:pt x="15875" y="55141"/>
                  <a:pt x="19422" y="51594"/>
                  <a:pt x="23812" y="51594"/>
                </a:cubicBezTo>
                <a:lnTo>
                  <a:pt x="119063" y="51594"/>
                </a:lnTo>
                <a:cubicBezTo>
                  <a:pt x="123453" y="51594"/>
                  <a:pt x="127000" y="55141"/>
                  <a:pt x="127000" y="59531"/>
                </a:cubicBezTo>
                <a:lnTo>
                  <a:pt x="127000" y="119063"/>
                </a:lnTo>
                <a:cubicBezTo>
                  <a:pt x="127000" y="123453"/>
                  <a:pt x="130547" y="127000"/>
                  <a:pt x="134938" y="127000"/>
                </a:cubicBezTo>
                <a:cubicBezTo>
                  <a:pt x="139328" y="127000"/>
                  <a:pt x="142875" y="123453"/>
                  <a:pt x="142875" y="119063"/>
                </a:cubicBezTo>
                <a:lnTo>
                  <a:pt x="142875" y="35247"/>
                </a:lnTo>
                <a:cubicBezTo>
                  <a:pt x="142875" y="28426"/>
                  <a:pt x="138509" y="22349"/>
                  <a:pt x="132011" y="20191"/>
                </a:cubicBezTo>
                <a:lnTo>
                  <a:pt x="75208" y="1265"/>
                </a:lnTo>
                <a:cubicBezTo>
                  <a:pt x="72752" y="446"/>
                  <a:pt x="70123" y="446"/>
                  <a:pt x="67667" y="1265"/>
                </a:cubicBezTo>
                <a:lnTo>
                  <a:pt x="10864" y="20191"/>
                </a:lnTo>
                <a:cubicBezTo>
                  <a:pt x="4366" y="22349"/>
                  <a:pt x="0" y="28426"/>
                  <a:pt x="0" y="35247"/>
                </a:cubicBezTo>
                <a:close/>
                <a:moveTo>
                  <a:pt x="115094" y="63500"/>
                </a:moveTo>
                <a:lnTo>
                  <a:pt x="27781" y="63500"/>
                </a:lnTo>
                <a:lnTo>
                  <a:pt x="27781" y="79375"/>
                </a:lnTo>
                <a:lnTo>
                  <a:pt x="115094" y="79375"/>
                </a:lnTo>
                <a:lnTo>
                  <a:pt x="115094" y="63500"/>
                </a:lnTo>
                <a:close/>
                <a:moveTo>
                  <a:pt x="27781" y="103188"/>
                </a:moveTo>
                <a:lnTo>
                  <a:pt x="115094" y="103188"/>
                </a:lnTo>
                <a:lnTo>
                  <a:pt x="115094" y="87313"/>
                </a:lnTo>
                <a:lnTo>
                  <a:pt x="27781" y="87313"/>
                </a:lnTo>
                <a:lnTo>
                  <a:pt x="27781" y="103188"/>
                </a:lnTo>
                <a:close/>
                <a:moveTo>
                  <a:pt x="115094" y="111125"/>
                </a:moveTo>
                <a:lnTo>
                  <a:pt x="27781" y="111125"/>
                </a:lnTo>
                <a:lnTo>
                  <a:pt x="27781" y="127000"/>
                </a:lnTo>
                <a:lnTo>
                  <a:pt x="115094" y="127000"/>
                </a:lnTo>
                <a:lnTo>
                  <a:pt x="115094" y="111125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3" name="Text 31"/>
          <p:cNvSpPr/>
          <p:nvPr/>
        </p:nvSpPr>
        <p:spPr bwMode="auto">
          <a:xfrm>
            <a:off x="1087438" y="5197078"/>
            <a:ext cx="3349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Cached Results</a:t>
            </a:r>
            <a:endParaRPr lang="en-US" sz="1600"/>
          </a:p>
        </p:txBody>
      </p:sp>
      <p:sp>
        <p:nvSpPr>
          <p:cNvPr id="34" name="Text 32"/>
          <p:cNvSpPr/>
          <p:nvPr/>
        </p:nvSpPr>
        <p:spPr bwMode="auto">
          <a:xfrm>
            <a:off x="1087438" y="5451078"/>
            <a:ext cx="3333750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9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DuckDB warehouse avoids repeating heavy calculations for later use</a:t>
            </a:r>
            <a:endParaRPr lang="en-US" sz="1600"/>
          </a:p>
        </p:txBody>
      </p:sp>
      <p:sp>
        <p:nvSpPr>
          <p:cNvPr id="38" name="Shape 36"/>
          <p:cNvSpPr/>
          <p:nvPr/>
        </p:nvSpPr>
        <p:spPr bwMode="auto">
          <a:xfrm>
            <a:off x="6195219" y="956469"/>
            <a:ext cx="5675313" cy="5929313"/>
          </a:xfrm>
          <a:custGeom>
            <a:avLst/>
            <a:gdLst/>
            <a:ahLst/>
            <a:cxnLst/>
            <a:rect l="l" t="t" r="r" b="b"/>
            <a:pathLst>
              <a:path w="5675313" h="5929313" fill="norm" stroke="1" extrusionOk="0">
                <a:moveTo>
                  <a:pt x="127013" y="0"/>
                </a:moveTo>
                <a:lnTo>
                  <a:pt x="5548299" y="0"/>
                </a:lnTo>
                <a:cubicBezTo>
                  <a:pt x="5618447" y="0"/>
                  <a:pt x="5675313" y="56866"/>
                  <a:pt x="5675313" y="127013"/>
                </a:cubicBezTo>
                <a:lnTo>
                  <a:pt x="5675313" y="5802299"/>
                </a:lnTo>
                <a:cubicBezTo>
                  <a:pt x="5675313" y="5872447"/>
                  <a:pt x="5618447" y="5929313"/>
                  <a:pt x="5548299" y="5929313"/>
                </a:cubicBezTo>
                <a:lnTo>
                  <a:pt x="127013" y="5929313"/>
                </a:lnTo>
                <a:cubicBezTo>
                  <a:pt x="56866" y="5929313"/>
                  <a:pt x="0" y="5872447"/>
                  <a:pt x="0" y="5802299"/>
                </a:cubicBezTo>
                <a:lnTo>
                  <a:pt x="0" y="127013"/>
                </a:lnTo>
                <a:cubicBezTo>
                  <a:pt x="0" y="56913"/>
                  <a:pt x="56913" y="0"/>
                  <a:pt x="127013" y="0"/>
                </a:cubicBezTo>
                <a:close/>
              </a:path>
            </a:pathLst>
          </a:custGeom>
          <a:solidFill>
            <a:srgbClr val="4C1D95">
              <a:alpha val="30194"/>
            </a:srgbClr>
          </a:solidFill>
          <a:ln w="12700">
            <a:solidFill>
              <a:srgbClr val="7C3AED">
                <a:alpha val="30194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 bwMode="auto">
          <a:xfrm>
            <a:off x="6389688" y="11509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fill="norm" stroke="1" extrusionOk="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/>
        </p:spPr>
      </p:sp>
      <p:sp>
        <p:nvSpPr>
          <p:cNvPr id="40" name="Shape 38"/>
          <p:cNvSpPr/>
          <p:nvPr/>
        </p:nvSpPr>
        <p:spPr bwMode="auto">
          <a:xfrm>
            <a:off x="6500813" y="12620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 fill="norm" stroke="1" extrusionOk="0">
                <a:moveTo>
                  <a:pt x="79375" y="0"/>
                </a:moveTo>
                <a:cubicBezTo>
                  <a:pt x="80801" y="0"/>
                  <a:pt x="82228" y="310"/>
                  <a:pt x="83530" y="899"/>
                </a:cubicBezTo>
                <a:lnTo>
                  <a:pt x="141945" y="25673"/>
                </a:lnTo>
                <a:cubicBezTo>
                  <a:pt x="148766" y="28556"/>
                  <a:pt x="153851" y="35285"/>
                  <a:pt x="153820" y="43408"/>
                </a:cubicBezTo>
                <a:cubicBezTo>
                  <a:pt x="153665" y="74166"/>
                  <a:pt x="141015" y="130442"/>
                  <a:pt x="87592" y="156021"/>
                </a:cubicBezTo>
                <a:cubicBezTo>
                  <a:pt x="82414" y="158502"/>
                  <a:pt x="76398" y="158502"/>
                  <a:pt x="71220" y="156021"/>
                </a:cubicBezTo>
                <a:cubicBezTo>
                  <a:pt x="17766" y="130442"/>
                  <a:pt x="5147" y="74166"/>
                  <a:pt x="4992" y="43408"/>
                </a:cubicBezTo>
                <a:cubicBezTo>
                  <a:pt x="4961" y="35285"/>
                  <a:pt x="10046" y="28556"/>
                  <a:pt x="16867" y="25673"/>
                </a:cubicBezTo>
                <a:lnTo>
                  <a:pt x="75251" y="899"/>
                </a:lnTo>
                <a:cubicBezTo>
                  <a:pt x="76553" y="310"/>
                  <a:pt x="77949" y="0"/>
                  <a:pt x="79375" y="0"/>
                </a:cubicBezTo>
                <a:close/>
                <a:moveTo>
                  <a:pt x="79375" y="20712"/>
                </a:moveTo>
                <a:lnTo>
                  <a:pt x="79375" y="137945"/>
                </a:lnTo>
                <a:cubicBezTo>
                  <a:pt x="122163" y="117233"/>
                  <a:pt x="133666" y="71344"/>
                  <a:pt x="133945" y="43873"/>
                </a:cubicBezTo>
                <a:lnTo>
                  <a:pt x="79375" y="20743"/>
                </a:lnTo>
                <a:lnTo>
                  <a:pt x="79375" y="20743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41" name="Text 39"/>
          <p:cNvSpPr/>
          <p:nvPr/>
        </p:nvSpPr>
        <p:spPr bwMode="auto">
          <a:xfrm flipH="0" flipV="0">
            <a:off x="6865937" y="1198562"/>
            <a:ext cx="3706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Fault Tolerance Mechanisms</a:t>
            </a:r>
            <a:endParaRPr lang="en-US" sz="1600"/>
          </a:p>
        </p:txBody>
      </p:sp>
      <p:sp>
        <p:nvSpPr>
          <p:cNvPr id="42" name="Text 40"/>
          <p:cNvSpPr/>
          <p:nvPr/>
        </p:nvSpPr>
        <p:spPr bwMode="auto">
          <a:xfrm>
            <a:off x="6389688" y="1690688"/>
            <a:ext cx="534987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Several features keep the system </a:t>
            </a:r>
            <a:r>
              <a:rPr lang="en-US" sz="100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reliable</a:t>
            </a: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and ensure data integrity even when failures occur.</a:t>
            </a:r>
            <a:endParaRPr lang="en-US" sz="1600"/>
          </a:p>
        </p:txBody>
      </p:sp>
      <p:sp>
        <p:nvSpPr>
          <p:cNvPr id="43" name="Shape 41"/>
          <p:cNvSpPr/>
          <p:nvPr/>
        </p:nvSpPr>
        <p:spPr bwMode="auto">
          <a:xfrm>
            <a:off x="6389688" y="2055813"/>
            <a:ext cx="5286375" cy="666750"/>
          </a:xfrm>
          <a:custGeom>
            <a:avLst/>
            <a:gdLst/>
            <a:ahLst/>
            <a:cxnLst/>
            <a:rect l="l" t="t" r="r" b="b"/>
            <a:pathLst>
              <a:path w="5286375" h="666750" fill="norm" stroke="1" extrusionOk="0">
                <a:moveTo>
                  <a:pt x="95252" y="0"/>
                </a:moveTo>
                <a:lnTo>
                  <a:pt x="5191123" y="0"/>
                </a:lnTo>
                <a:cubicBezTo>
                  <a:pt x="5243729" y="0"/>
                  <a:pt x="5286375" y="42646"/>
                  <a:pt x="5286375" y="95252"/>
                </a:cubicBezTo>
                <a:lnTo>
                  <a:pt x="5286375" y="571498"/>
                </a:lnTo>
                <a:cubicBezTo>
                  <a:pt x="5286375" y="624104"/>
                  <a:pt x="5243729" y="666750"/>
                  <a:pt x="5191123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44" name="Shape 42"/>
          <p:cNvSpPr/>
          <p:nvPr/>
        </p:nvSpPr>
        <p:spPr bwMode="auto">
          <a:xfrm>
            <a:off x="6516688" y="218281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 fill="norm" stroke="1" extrusionOk="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</p:spPr>
      </p:sp>
      <p:sp>
        <p:nvSpPr>
          <p:cNvPr id="45" name="Shape 43"/>
          <p:cNvSpPr/>
          <p:nvPr/>
        </p:nvSpPr>
        <p:spPr bwMode="auto">
          <a:xfrm>
            <a:off x="6611938" y="22780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11906" y="63500"/>
                </a:moveTo>
                <a:cubicBezTo>
                  <a:pt x="11906" y="34999"/>
                  <a:pt x="34999" y="11906"/>
                  <a:pt x="63500" y="11906"/>
                </a:cubicBezTo>
                <a:cubicBezTo>
                  <a:pt x="79152" y="11906"/>
                  <a:pt x="93166" y="18876"/>
                  <a:pt x="102642" y="29890"/>
                </a:cubicBezTo>
                <a:cubicBezTo>
                  <a:pt x="104775" y="32395"/>
                  <a:pt x="108545" y="32668"/>
                  <a:pt x="111026" y="30535"/>
                </a:cubicBezTo>
                <a:cubicBezTo>
                  <a:pt x="113506" y="28401"/>
                  <a:pt x="113804" y="24631"/>
                  <a:pt x="111671" y="22151"/>
                </a:cubicBezTo>
                <a:cubicBezTo>
                  <a:pt x="100037" y="8582"/>
                  <a:pt x="82773" y="0"/>
                  <a:pt x="63500" y="0"/>
                </a:cubicBezTo>
                <a:cubicBezTo>
                  <a:pt x="28426" y="0"/>
                  <a:pt x="0" y="28426"/>
                  <a:pt x="0" y="63500"/>
                </a:cubicBezTo>
                <a:lnTo>
                  <a:pt x="0" y="73422"/>
                </a:lnTo>
                <a:cubicBezTo>
                  <a:pt x="0" y="76721"/>
                  <a:pt x="2654" y="79375"/>
                  <a:pt x="5953" y="79375"/>
                </a:cubicBezTo>
                <a:cubicBezTo>
                  <a:pt x="9252" y="79375"/>
                  <a:pt x="11906" y="76721"/>
                  <a:pt x="11906" y="73422"/>
                </a:cubicBezTo>
                <a:lnTo>
                  <a:pt x="11906" y="63500"/>
                </a:lnTo>
                <a:close/>
                <a:moveTo>
                  <a:pt x="125636" y="50378"/>
                </a:moveTo>
                <a:cubicBezTo>
                  <a:pt x="124966" y="47154"/>
                  <a:pt x="121791" y="45095"/>
                  <a:pt x="118591" y="45789"/>
                </a:cubicBezTo>
                <a:cubicBezTo>
                  <a:pt x="115391" y="46484"/>
                  <a:pt x="113308" y="49634"/>
                  <a:pt x="114002" y="52834"/>
                </a:cubicBezTo>
                <a:cubicBezTo>
                  <a:pt x="114722" y="56282"/>
                  <a:pt x="115119" y="59854"/>
                  <a:pt x="115119" y="63525"/>
                </a:cubicBezTo>
                <a:lnTo>
                  <a:pt x="115119" y="73447"/>
                </a:lnTo>
                <a:cubicBezTo>
                  <a:pt x="115119" y="76746"/>
                  <a:pt x="117773" y="79400"/>
                  <a:pt x="121072" y="79400"/>
                </a:cubicBezTo>
                <a:cubicBezTo>
                  <a:pt x="124371" y="79400"/>
                  <a:pt x="127025" y="76746"/>
                  <a:pt x="127025" y="73447"/>
                </a:cubicBezTo>
                <a:lnTo>
                  <a:pt x="127025" y="63525"/>
                </a:lnTo>
                <a:cubicBezTo>
                  <a:pt x="127025" y="59035"/>
                  <a:pt x="126554" y="54645"/>
                  <a:pt x="125661" y="50403"/>
                </a:cubicBezTo>
                <a:close/>
                <a:moveTo>
                  <a:pt x="63500" y="19844"/>
                </a:moveTo>
                <a:cubicBezTo>
                  <a:pt x="58787" y="19844"/>
                  <a:pt x="54223" y="20588"/>
                  <a:pt x="49981" y="21977"/>
                </a:cubicBezTo>
                <a:cubicBezTo>
                  <a:pt x="46211" y="23217"/>
                  <a:pt x="45343" y="27856"/>
                  <a:pt x="47923" y="30882"/>
                </a:cubicBezTo>
                <a:cubicBezTo>
                  <a:pt x="49684" y="32941"/>
                  <a:pt x="52586" y="33561"/>
                  <a:pt x="55215" y="32841"/>
                </a:cubicBezTo>
                <a:cubicBezTo>
                  <a:pt x="57845" y="32122"/>
                  <a:pt x="60623" y="31750"/>
                  <a:pt x="63500" y="31750"/>
                </a:cubicBezTo>
                <a:cubicBezTo>
                  <a:pt x="81037" y="31750"/>
                  <a:pt x="95250" y="45963"/>
                  <a:pt x="95250" y="63500"/>
                </a:cubicBezTo>
                <a:lnTo>
                  <a:pt x="95250" y="69676"/>
                </a:lnTo>
                <a:cubicBezTo>
                  <a:pt x="95250" y="75927"/>
                  <a:pt x="94878" y="82153"/>
                  <a:pt x="94159" y="88354"/>
                </a:cubicBezTo>
                <a:cubicBezTo>
                  <a:pt x="93737" y="91976"/>
                  <a:pt x="96490" y="95250"/>
                  <a:pt x="100161" y="95250"/>
                </a:cubicBezTo>
                <a:cubicBezTo>
                  <a:pt x="103088" y="95250"/>
                  <a:pt x="105594" y="93117"/>
                  <a:pt x="105941" y="90215"/>
                </a:cubicBezTo>
                <a:cubicBezTo>
                  <a:pt x="106759" y="83418"/>
                  <a:pt x="107181" y="76572"/>
                  <a:pt x="107181" y="69701"/>
                </a:cubicBezTo>
                <a:lnTo>
                  <a:pt x="107181" y="63525"/>
                </a:lnTo>
                <a:cubicBezTo>
                  <a:pt x="107181" y="39415"/>
                  <a:pt x="87635" y="19869"/>
                  <a:pt x="63525" y="19869"/>
                </a:cubicBezTo>
                <a:close/>
                <a:moveTo>
                  <a:pt x="37381" y="36885"/>
                </a:moveTo>
                <a:cubicBezTo>
                  <a:pt x="35123" y="34255"/>
                  <a:pt x="31105" y="34057"/>
                  <a:pt x="28972" y="36785"/>
                </a:cubicBezTo>
                <a:cubicBezTo>
                  <a:pt x="23242" y="44177"/>
                  <a:pt x="19844" y="53429"/>
                  <a:pt x="19844" y="63500"/>
                </a:cubicBezTo>
                <a:lnTo>
                  <a:pt x="19844" y="69676"/>
                </a:lnTo>
                <a:cubicBezTo>
                  <a:pt x="19844" y="75679"/>
                  <a:pt x="19199" y="81682"/>
                  <a:pt x="17909" y="87511"/>
                </a:cubicBezTo>
                <a:cubicBezTo>
                  <a:pt x="17066" y="91380"/>
                  <a:pt x="19869" y="95225"/>
                  <a:pt x="23837" y="95225"/>
                </a:cubicBezTo>
                <a:cubicBezTo>
                  <a:pt x="26442" y="95225"/>
                  <a:pt x="28773" y="93489"/>
                  <a:pt x="29344" y="90934"/>
                </a:cubicBezTo>
                <a:cubicBezTo>
                  <a:pt x="30931" y="83964"/>
                  <a:pt x="31750" y="76845"/>
                  <a:pt x="31750" y="69652"/>
                </a:cubicBezTo>
                <a:lnTo>
                  <a:pt x="31750" y="63475"/>
                </a:lnTo>
                <a:cubicBezTo>
                  <a:pt x="31750" y="56728"/>
                  <a:pt x="33858" y="50478"/>
                  <a:pt x="37430" y="45343"/>
                </a:cubicBezTo>
                <a:cubicBezTo>
                  <a:pt x="39216" y="42763"/>
                  <a:pt x="39415" y="39241"/>
                  <a:pt x="37381" y="36860"/>
                </a:cubicBezTo>
                <a:close/>
                <a:moveTo>
                  <a:pt x="63500" y="39688"/>
                </a:moveTo>
                <a:cubicBezTo>
                  <a:pt x="50354" y="39688"/>
                  <a:pt x="39688" y="50354"/>
                  <a:pt x="39688" y="63500"/>
                </a:cubicBezTo>
                <a:lnTo>
                  <a:pt x="39688" y="69676"/>
                </a:lnTo>
                <a:cubicBezTo>
                  <a:pt x="39688" y="78581"/>
                  <a:pt x="38546" y="87412"/>
                  <a:pt x="36264" y="95994"/>
                </a:cubicBezTo>
                <a:cubicBezTo>
                  <a:pt x="35322" y="99541"/>
                  <a:pt x="37926" y="103188"/>
                  <a:pt x="41597" y="103188"/>
                </a:cubicBezTo>
                <a:cubicBezTo>
                  <a:pt x="43954" y="103188"/>
                  <a:pt x="46037" y="101650"/>
                  <a:pt x="46658" y="99368"/>
                </a:cubicBezTo>
                <a:cubicBezTo>
                  <a:pt x="49262" y="89694"/>
                  <a:pt x="50602" y="79722"/>
                  <a:pt x="50602" y="69676"/>
                </a:cubicBezTo>
                <a:lnTo>
                  <a:pt x="50602" y="63500"/>
                </a:lnTo>
                <a:cubicBezTo>
                  <a:pt x="50602" y="56381"/>
                  <a:pt x="56381" y="50602"/>
                  <a:pt x="63500" y="50602"/>
                </a:cubicBezTo>
                <a:cubicBezTo>
                  <a:pt x="70619" y="50602"/>
                  <a:pt x="76398" y="56381"/>
                  <a:pt x="76398" y="63500"/>
                </a:cubicBezTo>
                <a:lnTo>
                  <a:pt x="76398" y="69676"/>
                </a:lnTo>
                <a:cubicBezTo>
                  <a:pt x="76398" y="78680"/>
                  <a:pt x="75530" y="87635"/>
                  <a:pt x="73819" y="96441"/>
                </a:cubicBezTo>
                <a:cubicBezTo>
                  <a:pt x="73149" y="99888"/>
                  <a:pt x="75729" y="103188"/>
                  <a:pt x="79226" y="103188"/>
                </a:cubicBezTo>
                <a:cubicBezTo>
                  <a:pt x="81756" y="103188"/>
                  <a:pt x="83939" y="101451"/>
                  <a:pt x="84435" y="98971"/>
                </a:cubicBezTo>
                <a:cubicBezTo>
                  <a:pt x="86345" y="89346"/>
                  <a:pt x="87313" y="79549"/>
                  <a:pt x="87313" y="69676"/>
                </a:cubicBezTo>
                <a:lnTo>
                  <a:pt x="87313" y="63500"/>
                </a:lnTo>
                <a:cubicBezTo>
                  <a:pt x="87313" y="50354"/>
                  <a:pt x="76646" y="39688"/>
                  <a:pt x="63500" y="39688"/>
                </a:cubicBezTo>
                <a:close/>
                <a:moveTo>
                  <a:pt x="69453" y="63500"/>
                </a:moveTo>
                <a:cubicBezTo>
                  <a:pt x="69453" y="60201"/>
                  <a:pt x="66799" y="57547"/>
                  <a:pt x="63500" y="57547"/>
                </a:cubicBezTo>
                <a:cubicBezTo>
                  <a:pt x="60201" y="57547"/>
                  <a:pt x="57547" y="60201"/>
                  <a:pt x="57547" y="63500"/>
                </a:cubicBezTo>
                <a:lnTo>
                  <a:pt x="57547" y="69676"/>
                </a:lnTo>
                <a:cubicBezTo>
                  <a:pt x="57547" y="84534"/>
                  <a:pt x="54818" y="99268"/>
                  <a:pt x="49485" y="113134"/>
                </a:cubicBezTo>
                <a:lnTo>
                  <a:pt x="48022" y="116929"/>
                </a:lnTo>
                <a:cubicBezTo>
                  <a:pt x="46831" y="120005"/>
                  <a:pt x="48369" y="123453"/>
                  <a:pt x="51445" y="124619"/>
                </a:cubicBezTo>
                <a:cubicBezTo>
                  <a:pt x="54521" y="125785"/>
                  <a:pt x="57969" y="124271"/>
                  <a:pt x="59134" y="121196"/>
                </a:cubicBezTo>
                <a:lnTo>
                  <a:pt x="60598" y="117401"/>
                </a:lnTo>
                <a:cubicBezTo>
                  <a:pt x="66452" y="102171"/>
                  <a:pt x="69453" y="85998"/>
                  <a:pt x="69453" y="69676"/>
                </a:cubicBezTo>
                <a:lnTo>
                  <a:pt x="69453" y="6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 bwMode="auto">
          <a:xfrm>
            <a:off x="6929438" y="2182813"/>
            <a:ext cx="4310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Unique Job IDs</a:t>
            </a:r>
            <a:endParaRPr lang="en-US" sz="1600"/>
          </a:p>
        </p:txBody>
      </p:sp>
      <p:sp>
        <p:nvSpPr>
          <p:cNvPr id="47" name="Text 45"/>
          <p:cNvSpPr/>
          <p:nvPr/>
        </p:nvSpPr>
        <p:spPr bwMode="auto">
          <a:xfrm>
            <a:off x="6929438" y="2436813"/>
            <a:ext cx="4294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Every upload gets a unique job ID that prevents conflicts between concurrent operations</a:t>
            </a:r>
            <a:endParaRPr lang="en-US" sz="1600"/>
          </a:p>
        </p:txBody>
      </p:sp>
      <p:sp>
        <p:nvSpPr>
          <p:cNvPr id="48" name="Shape 46"/>
          <p:cNvSpPr/>
          <p:nvPr/>
        </p:nvSpPr>
        <p:spPr bwMode="auto">
          <a:xfrm>
            <a:off x="6389688" y="2849563"/>
            <a:ext cx="5286375" cy="666750"/>
          </a:xfrm>
          <a:custGeom>
            <a:avLst/>
            <a:gdLst/>
            <a:ahLst/>
            <a:cxnLst/>
            <a:rect l="l" t="t" r="r" b="b"/>
            <a:pathLst>
              <a:path w="5286375" h="666750" fill="norm" stroke="1" extrusionOk="0">
                <a:moveTo>
                  <a:pt x="95252" y="0"/>
                </a:moveTo>
                <a:lnTo>
                  <a:pt x="5191123" y="0"/>
                </a:lnTo>
                <a:cubicBezTo>
                  <a:pt x="5243729" y="0"/>
                  <a:pt x="5286375" y="42646"/>
                  <a:pt x="5286375" y="95252"/>
                </a:cubicBezTo>
                <a:lnTo>
                  <a:pt x="5286375" y="571498"/>
                </a:lnTo>
                <a:cubicBezTo>
                  <a:pt x="5286375" y="624104"/>
                  <a:pt x="5243729" y="666750"/>
                  <a:pt x="5191123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49" name="Shape 47"/>
          <p:cNvSpPr/>
          <p:nvPr/>
        </p:nvSpPr>
        <p:spPr bwMode="auto">
          <a:xfrm>
            <a:off x="6516688" y="297656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 fill="norm" stroke="1" extrusionOk="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</p:spPr>
      </p:sp>
      <p:sp>
        <p:nvSpPr>
          <p:cNvPr id="50" name="Shape 48"/>
          <p:cNvSpPr/>
          <p:nvPr/>
        </p:nvSpPr>
        <p:spPr bwMode="auto">
          <a:xfrm>
            <a:off x="6611938" y="307181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63500" y="33734"/>
                </a:moveTo>
                <a:cubicBezTo>
                  <a:pt x="66799" y="33734"/>
                  <a:pt x="69453" y="36388"/>
                  <a:pt x="69453" y="39688"/>
                </a:cubicBezTo>
                <a:lnTo>
                  <a:pt x="69453" y="67469"/>
                </a:lnTo>
                <a:cubicBezTo>
                  <a:pt x="69453" y="70768"/>
                  <a:pt x="66799" y="73422"/>
                  <a:pt x="63500" y="73422"/>
                </a:cubicBezTo>
                <a:cubicBezTo>
                  <a:pt x="60201" y="73422"/>
                  <a:pt x="57547" y="70768"/>
                  <a:pt x="57547" y="67469"/>
                </a:cubicBezTo>
                <a:lnTo>
                  <a:pt x="57547" y="39688"/>
                </a:lnTo>
                <a:cubicBezTo>
                  <a:pt x="57547" y="36388"/>
                  <a:pt x="60201" y="33734"/>
                  <a:pt x="63500" y="33734"/>
                </a:cubicBezTo>
                <a:close/>
                <a:moveTo>
                  <a:pt x="56877" y="87313"/>
                </a:moveTo>
                <a:cubicBezTo>
                  <a:pt x="56726" y="84854"/>
                  <a:pt x="57952" y="82515"/>
                  <a:pt x="60060" y="81241"/>
                </a:cubicBezTo>
                <a:cubicBezTo>
                  <a:pt x="62167" y="79966"/>
                  <a:pt x="64808" y="79966"/>
                  <a:pt x="66915" y="81241"/>
                </a:cubicBezTo>
                <a:cubicBezTo>
                  <a:pt x="69023" y="82515"/>
                  <a:pt x="70249" y="84854"/>
                  <a:pt x="70098" y="87313"/>
                </a:cubicBezTo>
                <a:cubicBezTo>
                  <a:pt x="70249" y="89771"/>
                  <a:pt x="69023" y="92110"/>
                  <a:pt x="66915" y="93384"/>
                </a:cubicBezTo>
                <a:cubicBezTo>
                  <a:pt x="64808" y="94659"/>
                  <a:pt x="62167" y="94659"/>
                  <a:pt x="60060" y="93384"/>
                </a:cubicBezTo>
                <a:cubicBezTo>
                  <a:pt x="57952" y="92110"/>
                  <a:pt x="56726" y="89771"/>
                  <a:pt x="56877" y="873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 bwMode="auto">
          <a:xfrm>
            <a:off x="6929438" y="2976563"/>
            <a:ext cx="4381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Clear Failure Handling</a:t>
            </a:r>
            <a:endParaRPr lang="en-US" sz="1600"/>
          </a:p>
        </p:txBody>
      </p:sp>
      <p:sp>
        <p:nvSpPr>
          <p:cNvPr id="52" name="Text 50"/>
          <p:cNvSpPr/>
          <p:nvPr/>
        </p:nvSpPr>
        <p:spPr bwMode="auto">
          <a:xfrm>
            <a:off x="6929438" y="3230563"/>
            <a:ext cx="4365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If a problem occurs, the job is clearly marked as failed and the user is notified immediately</a:t>
            </a:r>
            <a:endParaRPr lang="en-US" sz="1600"/>
          </a:p>
        </p:txBody>
      </p:sp>
      <p:sp>
        <p:nvSpPr>
          <p:cNvPr id="53" name="Shape 51"/>
          <p:cNvSpPr/>
          <p:nvPr/>
        </p:nvSpPr>
        <p:spPr bwMode="auto">
          <a:xfrm>
            <a:off x="6389688" y="3643313"/>
            <a:ext cx="5286375" cy="666750"/>
          </a:xfrm>
          <a:custGeom>
            <a:avLst/>
            <a:gdLst/>
            <a:ahLst/>
            <a:cxnLst/>
            <a:rect l="l" t="t" r="r" b="b"/>
            <a:pathLst>
              <a:path w="5286375" h="666750" fill="norm" stroke="1" extrusionOk="0">
                <a:moveTo>
                  <a:pt x="95252" y="0"/>
                </a:moveTo>
                <a:lnTo>
                  <a:pt x="5191123" y="0"/>
                </a:lnTo>
                <a:cubicBezTo>
                  <a:pt x="5243729" y="0"/>
                  <a:pt x="5286375" y="42646"/>
                  <a:pt x="5286375" y="95252"/>
                </a:cubicBezTo>
                <a:lnTo>
                  <a:pt x="5286375" y="571498"/>
                </a:lnTo>
                <a:cubicBezTo>
                  <a:pt x="5286375" y="624104"/>
                  <a:pt x="5243729" y="666750"/>
                  <a:pt x="5191123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54" name="Shape 52"/>
          <p:cNvSpPr/>
          <p:nvPr/>
        </p:nvSpPr>
        <p:spPr bwMode="auto">
          <a:xfrm>
            <a:off x="6516688" y="377031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 fill="norm" stroke="1" extrusionOk="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</p:spPr>
      </p:sp>
      <p:sp>
        <p:nvSpPr>
          <p:cNvPr id="55" name="Shape 53"/>
          <p:cNvSpPr/>
          <p:nvPr/>
        </p:nvSpPr>
        <p:spPr bwMode="auto">
          <a:xfrm>
            <a:off x="6611938" y="38655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16346" y="56679"/>
                </a:moveTo>
                <a:cubicBezTo>
                  <a:pt x="19645" y="33610"/>
                  <a:pt x="39514" y="15875"/>
                  <a:pt x="63500" y="15875"/>
                </a:cubicBezTo>
                <a:cubicBezTo>
                  <a:pt x="76646" y="15875"/>
                  <a:pt x="88553" y="21208"/>
                  <a:pt x="97185" y="29815"/>
                </a:cubicBezTo>
                <a:cubicBezTo>
                  <a:pt x="97234" y="29865"/>
                  <a:pt x="97284" y="29914"/>
                  <a:pt x="97334" y="29964"/>
                </a:cubicBezTo>
                <a:lnTo>
                  <a:pt x="99219" y="31750"/>
                </a:lnTo>
                <a:lnTo>
                  <a:pt x="87337" y="31750"/>
                </a:lnTo>
                <a:cubicBezTo>
                  <a:pt x="82947" y="31750"/>
                  <a:pt x="79400" y="35297"/>
                  <a:pt x="79400" y="39688"/>
                </a:cubicBezTo>
                <a:cubicBezTo>
                  <a:pt x="79400" y="44078"/>
                  <a:pt x="82947" y="47625"/>
                  <a:pt x="87337" y="47625"/>
                </a:cubicBezTo>
                <a:lnTo>
                  <a:pt x="119087" y="47625"/>
                </a:lnTo>
                <a:cubicBezTo>
                  <a:pt x="123478" y="47625"/>
                  <a:pt x="127025" y="44078"/>
                  <a:pt x="127025" y="39688"/>
                </a:cubicBezTo>
                <a:lnTo>
                  <a:pt x="127025" y="7938"/>
                </a:lnTo>
                <a:cubicBezTo>
                  <a:pt x="127025" y="3547"/>
                  <a:pt x="123478" y="0"/>
                  <a:pt x="119087" y="0"/>
                </a:cubicBezTo>
                <a:cubicBezTo>
                  <a:pt x="114697" y="0"/>
                  <a:pt x="111150" y="3547"/>
                  <a:pt x="111150" y="7938"/>
                </a:cubicBezTo>
                <a:lnTo>
                  <a:pt x="111150" y="21183"/>
                </a:lnTo>
                <a:lnTo>
                  <a:pt x="108347" y="18529"/>
                </a:lnTo>
                <a:cubicBezTo>
                  <a:pt x="96862" y="7094"/>
                  <a:pt x="80987" y="0"/>
                  <a:pt x="63500" y="0"/>
                </a:cubicBezTo>
                <a:cubicBezTo>
                  <a:pt x="31502" y="0"/>
                  <a:pt x="5035" y="23664"/>
                  <a:pt x="645" y="54446"/>
                </a:cubicBezTo>
                <a:cubicBezTo>
                  <a:pt x="25" y="58787"/>
                  <a:pt x="3026" y="62805"/>
                  <a:pt x="7367" y="63426"/>
                </a:cubicBezTo>
                <a:cubicBezTo>
                  <a:pt x="11708" y="64046"/>
                  <a:pt x="15726" y="61020"/>
                  <a:pt x="16346" y="56704"/>
                </a:cubicBezTo>
                <a:close/>
                <a:moveTo>
                  <a:pt x="126355" y="72554"/>
                </a:moveTo>
                <a:cubicBezTo>
                  <a:pt x="126975" y="68213"/>
                  <a:pt x="123949" y="64195"/>
                  <a:pt x="119633" y="63574"/>
                </a:cubicBezTo>
                <a:cubicBezTo>
                  <a:pt x="115317" y="62954"/>
                  <a:pt x="111274" y="65980"/>
                  <a:pt x="110654" y="70296"/>
                </a:cubicBezTo>
                <a:cubicBezTo>
                  <a:pt x="107355" y="93365"/>
                  <a:pt x="87486" y="111100"/>
                  <a:pt x="63500" y="111100"/>
                </a:cubicBezTo>
                <a:cubicBezTo>
                  <a:pt x="50354" y="111100"/>
                  <a:pt x="38447" y="105767"/>
                  <a:pt x="29815" y="97160"/>
                </a:cubicBezTo>
                <a:cubicBezTo>
                  <a:pt x="29766" y="97110"/>
                  <a:pt x="29716" y="97061"/>
                  <a:pt x="29666" y="97011"/>
                </a:cubicBezTo>
                <a:lnTo>
                  <a:pt x="27781" y="95225"/>
                </a:lnTo>
                <a:lnTo>
                  <a:pt x="39663" y="95225"/>
                </a:lnTo>
                <a:cubicBezTo>
                  <a:pt x="44053" y="95225"/>
                  <a:pt x="47600" y="91678"/>
                  <a:pt x="47600" y="87288"/>
                </a:cubicBezTo>
                <a:cubicBezTo>
                  <a:pt x="47600" y="82897"/>
                  <a:pt x="44053" y="79350"/>
                  <a:pt x="39663" y="79350"/>
                </a:cubicBezTo>
                <a:lnTo>
                  <a:pt x="7938" y="79375"/>
                </a:lnTo>
                <a:cubicBezTo>
                  <a:pt x="5829" y="79375"/>
                  <a:pt x="3795" y="80218"/>
                  <a:pt x="2307" y="81731"/>
                </a:cubicBezTo>
                <a:cubicBezTo>
                  <a:pt x="819" y="83245"/>
                  <a:pt x="-25" y="85254"/>
                  <a:pt x="0" y="87387"/>
                </a:cubicBezTo>
                <a:lnTo>
                  <a:pt x="248" y="118889"/>
                </a:lnTo>
                <a:cubicBezTo>
                  <a:pt x="273" y="123279"/>
                  <a:pt x="3870" y="126802"/>
                  <a:pt x="8260" y="126752"/>
                </a:cubicBezTo>
                <a:cubicBezTo>
                  <a:pt x="12650" y="126702"/>
                  <a:pt x="16173" y="123130"/>
                  <a:pt x="16123" y="118740"/>
                </a:cubicBezTo>
                <a:lnTo>
                  <a:pt x="16024" y="105966"/>
                </a:lnTo>
                <a:lnTo>
                  <a:pt x="18678" y="108471"/>
                </a:lnTo>
                <a:cubicBezTo>
                  <a:pt x="30163" y="119906"/>
                  <a:pt x="46013" y="127000"/>
                  <a:pt x="63500" y="127000"/>
                </a:cubicBezTo>
                <a:cubicBezTo>
                  <a:pt x="95498" y="127000"/>
                  <a:pt x="121965" y="103336"/>
                  <a:pt x="126355" y="7255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 bwMode="auto">
          <a:xfrm>
            <a:off x="6929438" y="3770313"/>
            <a:ext cx="388143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Background Processing</a:t>
            </a:r>
            <a:endParaRPr lang="en-US" sz="1600"/>
          </a:p>
        </p:txBody>
      </p:sp>
      <p:sp>
        <p:nvSpPr>
          <p:cNvPr id="57" name="Text 55"/>
          <p:cNvSpPr/>
          <p:nvPr/>
        </p:nvSpPr>
        <p:spPr bwMode="auto">
          <a:xfrm>
            <a:off x="6929438" y="4024312"/>
            <a:ext cx="386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Processing runs in the background so a single failure does not crash the website</a:t>
            </a:r>
            <a:endParaRPr lang="en-US" sz="1600"/>
          </a:p>
        </p:txBody>
      </p:sp>
      <p:sp>
        <p:nvSpPr>
          <p:cNvPr id="58" name="Shape 56"/>
          <p:cNvSpPr/>
          <p:nvPr/>
        </p:nvSpPr>
        <p:spPr bwMode="auto">
          <a:xfrm>
            <a:off x="6389688" y="4437063"/>
            <a:ext cx="5286375" cy="666750"/>
          </a:xfrm>
          <a:custGeom>
            <a:avLst/>
            <a:gdLst/>
            <a:ahLst/>
            <a:cxnLst/>
            <a:rect l="l" t="t" r="r" b="b"/>
            <a:pathLst>
              <a:path w="5286375" h="666750" fill="norm" stroke="1" extrusionOk="0">
                <a:moveTo>
                  <a:pt x="95252" y="0"/>
                </a:moveTo>
                <a:lnTo>
                  <a:pt x="5191123" y="0"/>
                </a:lnTo>
                <a:cubicBezTo>
                  <a:pt x="5243729" y="0"/>
                  <a:pt x="5286375" y="42646"/>
                  <a:pt x="5286375" y="95252"/>
                </a:cubicBezTo>
                <a:lnTo>
                  <a:pt x="5286375" y="571498"/>
                </a:lnTo>
                <a:cubicBezTo>
                  <a:pt x="5286375" y="624104"/>
                  <a:pt x="5243729" y="666750"/>
                  <a:pt x="5191123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59" name="Shape 57"/>
          <p:cNvSpPr/>
          <p:nvPr/>
        </p:nvSpPr>
        <p:spPr bwMode="auto">
          <a:xfrm>
            <a:off x="6516688" y="456406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 fill="norm" stroke="1" extrusionOk="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</p:spPr>
      </p:sp>
      <p:sp>
        <p:nvSpPr>
          <p:cNvPr id="60" name="Shape 58"/>
          <p:cNvSpPr/>
          <p:nvPr/>
        </p:nvSpPr>
        <p:spPr bwMode="auto">
          <a:xfrm>
            <a:off x="6619875" y="465931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 fill="norm" stroke="1" extrusionOk="0">
                <a:moveTo>
                  <a:pt x="111125" y="51048"/>
                </a:moveTo>
                <a:cubicBezTo>
                  <a:pt x="107454" y="53479"/>
                  <a:pt x="103237" y="55438"/>
                  <a:pt x="98847" y="57001"/>
                </a:cubicBezTo>
                <a:cubicBezTo>
                  <a:pt x="87188" y="61168"/>
                  <a:pt x="71884" y="63500"/>
                  <a:pt x="55563" y="63500"/>
                </a:cubicBezTo>
                <a:cubicBezTo>
                  <a:pt x="39241" y="63500"/>
                  <a:pt x="23912" y="61144"/>
                  <a:pt x="12278" y="57001"/>
                </a:cubicBezTo>
                <a:cubicBezTo>
                  <a:pt x="7913" y="55438"/>
                  <a:pt x="3671" y="53479"/>
                  <a:pt x="0" y="51048"/>
                </a:cubicBezTo>
                <a:lnTo>
                  <a:pt x="0" y="71438"/>
                </a:lnTo>
                <a:cubicBezTo>
                  <a:pt x="0" y="82401"/>
                  <a:pt x="24879" y="91281"/>
                  <a:pt x="55563" y="91281"/>
                </a:cubicBezTo>
                <a:cubicBezTo>
                  <a:pt x="86246" y="91281"/>
                  <a:pt x="111125" y="82401"/>
                  <a:pt x="111125" y="71438"/>
                </a:cubicBezTo>
                <a:lnTo>
                  <a:pt x="111125" y="51048"/>
                </a:lnTo>
                <a:close/>
                <a:moveTo>
                  <a:pt x="111125" y="31750"/>
                </a:moveTo>
                <a:lnTo>
                  <a:pt x="111125" y="19844"/>
                </a:lnTo>
                <a:cubicBezTo>
                  <a:pt x="111125" y="8880"/>
                  <a:pt x="86246" y="0"/>
                  <a:pt x="55563" y="0"/>
                </a:cubicBezTo>
                <a:cubicBezTo>
                  <a:pt x="24879" y="0"/>
                  <a:pt x="0" y="8880"/>
                  <a:pt x="0" y="19844"/>
                </a:cubicBezTo>
                <a:lnTo>
                  <a:pt x="0" y="31750"/>
                </a:lnTo>
                <a:cubicBezTo>
                  <a:pt x="0" y="42714"/>
                  <a:pt x="24879" y="51594"/>
                  <a:pt x="55563" y="51594"/>
                </a:cubicBezTo>
                <a:cubicBezTo>
                  <a:pt x="86246" y="51594"/>
                  <a:pt x="111125" y="42714"/>
                  <a:pt x="111125" y="31750"/>
                </a:cubicBezTo>
                <a:close/>
                <a:moveTo>
                  <a:pt x="98847" y="96689"/>
                </a:moveTo>
                <a:cubicBezTo>
                  <a:pt x="87213" y="100831"/>
                  <a:pt x="71909" y="103188"/>
                  <a:pt x="55563" y="103188"/>
                </a:cubicBezTo>
                <a:cubicBezTo>
                  <a:pt x="39216" y="103188"/>
                  <a:pt x="23912" y="100831"/>
                  <a:pt x="12278" y="96689"/>
                </a:cubicBezTo>
                <a:cubicBezTo>
                  <a:pt x="7913" y="95126"/>
                  <a:pt x="3671" y="93166"/>
                  <a:pt x="0" y="90736"/>
                </a:cubicBezTo>
                <a:lnTo>
                  <a:pt x="0" y="107156"/>
                </a:lnTo>
                <a:cubicBezTo>
                  <a:pt x="0" y="118120"/>
                  <a:pt x="24879" y="127000"/>
                  <a:pt x="55563" y="127000"/>
                </a:cubicBezTo>
                <a:cubicBezTo>
                  <a:pt x="86246" y="127000"/>
                  <a:pt x="111125" y="118120"/>
                  <a:pt x="111125" y="107156"/>
                </a:cubicBezTo>
                <a:lnTo>
                  <a:pt x="111125" y="90736"/>
                </a:lnTo>
                <a:cubicBezTo>
                  <a:pt x="107454" y="93166"/>
                  <a:pt x="103237" y="95126"/>
                  <a:pt x="98847" y="9668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 bwMode="auto">
          <a:xfrm>
            <a:off x="6929438" y="4564063"/>
            <a:ext cx="365918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Data Persistence</a:t>
            </a:r>
            <a:endParaRPr lang="en-US" sz="1600"/>
          </a:p>
        </p:txBody>
      </p:sp>
      <p:sp>
        <p:nvSpPr>
          <p:cNvPr id="62" name="Text 60"/>
          <p:cNvSpPr/>
          <p:nvPr/>
        </p:nvSpPr>
        <p:spPr bwMode="auto">
          <a:xfrm>
            <a:off x="6929438" y="4818063"/>
            <a:ext cx="364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All final results are safely saved in DuckDB warehouse, so data is never lost</a:t>
            </a:r>
            <a:endParaRPr lang="en-US" sz="1600"/>
          </a:p>
        </p:txBody>
      </p:sp>
      <p:sp>
        <p:nvSpPr>
          <p:cNvPr id="63" name="Shape 61"/>
          <p:cNvSpPr/>
          <p:nvPr/>
        </p:nvSpPr>
        <p:spPr bwMode="auto">
          <a:xfrm>
            <a:off x="6389688" y="5230813"/>
            <a:ext cx="5286375" cy="666750"/>
          </a:xfrm>
          <a:custGeom>
            <a:avLst/>
            <a:gdLst/>
            <a:ahLst/>
            <a:cxnLst/>
            <a:rect l="l" t="t" r="r" b="b"/>
            <a:pathLst>
              <a:path w="5286375" h="666750" fill="norm" stroke="1" extrusionOk="0">
                <a:moveTo>
                  <a:pt x="95252" y="0"/>
                </a:moveTo>
                <a:lnTo>
                  <a:pt x="5191123" y="0"/>
                </a:lnTo>
                <a:cubicBezTo>
                  <a:pt x="5243729" y="0"/>
                  <a:pt x="5286375" y="42646"/>
                  <a:pt x="5286375" y="95252"/>
                </a:cubicBezTo>
                <a:lnTo>
                  <a:pt x="5286375" y="571498"/>
                </a:lnTo>
                <a:cubicBezTo>
                  <a:pt x="5286375" y="624104"/>
                  <a:pt x="5243729" y="666750"/>
                  <a:pt x="5191123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64" name="Shape 62"/>
          <p:cNvSpPr/>
          <p:nvPr/>
        </p:nvSpPr>
        <p:spPr bwMode="auto">
          <a:xfrm>
            <a:off x="6516688" y="535781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 fill="norm" stroke="1" extrusionOk="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</p:spPr>
      </p:sp>
      <p:sp>
        <p:nvSpPr>
          <p:cNvPr id="65" name="Shape 63"/>
          <p:cNvSpPr/>
          <p:nvPr/>
        </p:nvSpPr>
        <p:spPr bwMode="auto">
          <a:xfrm>
            <a:off x="6611938" y="54530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108322" y="18529"/>
                </a:moveTo>
                <a:lnTo>
                  <a:pt x="111125" y="21183"/>
                </a:lnTo>
                <a:lnTo>
                  <a:pt x="111125" y="7938"/>
                </a:lnTo>
                <a:cubicBezTo>
                  <a:pt x="111125" y="3547"/>
                  <a:pt x="114672" y="0"/>
                  <a:pt x="119063" y="0"/>
                </a:cubicBezTo>
                <a:cubicBezTo>
                  <a:pt x="123453" y="0"/>
                  <a:pt x="127000" y="3547"/>
                  <a:pt x="127000" y="7938"/>
                </a:cubicBezTo>
                <a:lnTo>
                  <a:pt x="127000" y="39688"/>
                </a:lnTo>
                <a:cubicBezTo>
                  <a:pt x="127000" y="44078"/>
                  <a:pt x="123453" y="47625"/>
                  <a:pt x="119063" y="47625"/>
                </a:cubicBezTo>
                <a:lnTo>
                  <a:pt x="87313" y="47625"/>
                </a:lnTo>
                <a:cubicBezTo>
                  <a:pt x="82922" y="47625"/>
                  <a:pt x="79375" y="44078"/>
                  <a:pt x="79375" y="39688"/>
                </a:cubicBezTo>
                <a:cubicBezTo>
                  <a:pt x="79375" y="35297"/>
                  <a:pt x="82922" y="31750"/>
                  <a:pt x="87313" y="31750"/>
                </a:cubicBezTo>
                <a:lnTo>
                  <a:pt x="99194" y="31750"/>
                </a:lnTo>
                <a:lnTo>
                  <a:pt x="97309" y="29964"/>
                </a:lnTo>
                <a:cubicBezTo>
                  <a:pt x="97259" y="29914"/>
                  <a:pt x="97210" y="29865"/>
                  <a:pt x="97160" y="29815"/>
                </a:cubicBezTo>
                <a:cubicBezTo>
                  <a:pt x="78556" y="11212"/>
                  <a:pt x="48419" y="11212"/>
                  <a:pt x="29815" y="29815"/>
                </a:cubicBezTo>
                <a:cubicBezTo>
                  <a:pt x="11212" y="48419"/>
                  <a:pt x="11212" y="78556"/>
                  <a:pt x="29815" y="97160"/>
                </a:cubicBezTo>
                <a:cubicBezTo>
                  <a:pt x="48419" y="115763"/>
                  <a:pt x="78556" y="115763"/>
                  <a:pt x="97160" y="97160"/>
                </a:cubicBezTo>
                <a:cubicBezTo>
                  <a:pt x="99194" y="95126"/>
                  <a:pt x="101005" y="92968"/>
                  <a:pt x="102592" y="90686"/>
                </a:cubicBezTo>
                <a:cubicBezTo>
                  <a:pt x="105097" y="87089"/>
                  <a:pt x="110058" y="86221"/>
                  <a:pt x="113655" y="88726"/>
                </a:cubicBezTo>
                <a:cubicBezTo>
                  <a:pt x="117252" y="91232"/>
                  <a:pt x="118120" y="96193"/>
                  <a:pt x="115615" y="99789"/>
                </a:cubicBezTo>
                <a:cubicBezTo>
                  <a:pt x="113506" y="102815"/>
                  <a:pt x="111100" y="105693"/>
                  <a:pt x="108396" y="108396"/>
                </a:cubicBezTo>
                <a:cubicBezTo>
                  <a:pt x="83592" y="133201"/>
                  <a:pt x="43383" y="133201"/>
                  <a:pt x="18604" y="108396"/>
                </a:cubicBezTo>
                <a:cubicBezTo>
                  <a:pt x="-6176" y="83592"/>
                  <a:pt x="-6201" y="43408"/>
                  <a:pt x="18604" y="18604"/>
                </a:cubicBezTo>
                <a:cubicBezTo>
                  <a:pt x="43383" y="-6176"/>
                  <a:pt x="83517" y="-6201"/>
                  <a:pt x="108322" y="1852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 bwMode="auto">
          <a:xfrm>
            <a:off x="6929438" y="5357813"/>
            <a:ext cx="3222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Spark Retry Logic</a:t>
            </a:r>
            <a:endParaRPr lang="en-US" sz="1600"/>
          </a:p>
        </p:txBody>
      </p:sp>
      <p:sp>
        <p:nvSpPr>
          <p:cNvPr id="67" name="Text 65"/>
          <p:cNvSpPr/>
          <p:nvPr/>
        </p:nvSpPr>
        <p:spPr bwMode="auto">
          <a:xfrm>
            <a:off x="6929438" y="5611813"/>
            <a:ext cx="3206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Spark's built in retry logic handles temporary issues automatically</a:t>
            </a:r>
            <a:endParaRPr lang="en-US" sz="1600"/>
          </a:p>
        </p:txBody>
      </p:sp>
      <p:sp>
        <p:nvSpPr>
          <p:cNvPr id="68" name="Shape 66"/>
          <p:cNvSpPr/>
          <p:nvPr/>
        </p:nvSpPr>
        <p:spPr bwMode="auto">
          <a:xfrm>
            <a:off x="6389688" y="6024563"/>
            <a:ext cx="5286375" cy="666750"/>
          </a:xfrm>
          <a:custGeom>
            <a:avLst/>
            <a:gdLst/>
            <a:ahLst/>
            <a:cxnLst/>
            <a:rect l="l" t="t" r="r" b="b"/>
            <a:pathLst>
              <a:path w="5286375" h="666750" fill="norm" stroke="1" extrusionOk="0">
                <a:moveTo>
                  <a:pt x="95252" y="0"/>
                </a:moveTo>
                <a:lnTo>
                  <a:pt x="5191123" y="0"/>
                </a:lnTo>
                <a:cubicBezTo>
                  <a:pt x="5243729" y="0"/>
                  <a:pt x="5286375" y="42646"/>
                  <a:pt x="5286375" y="95252"/>
                </a:cubicBezTo>
                <a:lnTo>
                  <a:pt x="5286375" y="571498"/>
                </a:lnTo>
                <a:cubicBezTo>
                  <a:pt x="5286375" y="624104"/>
                  <a:pt x="5243729" y="666750"/>
                  <a:pt x="5191123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69" name="Shape 67"/>
          <p:cNvSpPr/>
          <p:nvPr/>
        </p:nvSpPr>
        <p:spPr bwMode="auto">
          <a:xfrm>
            <a:off x="6516688" y="615156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 fill="norm" stroke="1" extrusionOk="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</p:spPr>
      </p:sp>
      <p:sp>
        <p:nvSpPr>
          <p:cNvPr id="70" name="Shape 68"/>
          <p:cNvSpPr/>
          <p:nvPr/>
        </p:nvSpPr>
        <p:spPr bwMode="auto">
          <a:xfrm>
            <a:off x="6596063" y="6246813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 fill="norm" stroke="1" extrusionOk="0">
                <a:moveTo>
                  <a:pt x="86792" y="58613"/>
                </a:moveTo>
                <a:lnTo>
                  <a:pt x="70396" y="58613"/>
                </a:lnTo>
                <a:lnTo>
                  <a:pt x="70396" y="43879"/>
                </a:lnTo>
                <a:lnTo>
                  <a:pt x="86792" y="43879"/>
                </a:lnTo>
                <a:lnTo>
                  <a:pt x="86792" y="58613"/>
                </a:lnTo>
                <a:close/>
                <a:moveTo>
                  <a:pt x="86792" y="7938"/>
                </a:moveTo>
                <a:lnTo>
                  <a:pt x="70396" y="7938"/>
                </a:lnTo>
                <a:lnTo>
                  <a:pt x="70396" y="22994"/>
                </a:lnTo>
                <a:lnTo>
                  <a:pt x="86792" y="22994"/>
                </a:lnTo>
                <a:lnTo>
                  <a:pt x="86792" y="7938"/>
                </a:lnTo>
                <a:close/>
                <a:moveTo>
                  <a:pt x="106189" y="43855"/>
                </a:moveTo>
                <a:lnTo>
                  <a:pt x="89793" y="43855"/>
                </a:lnTo>
                <a:lnTo>
                  <a:pt x="89793" y="58589"/>
                </a:lnTo>
                <a:lnTo>
                  <a:pt x="106189" y="58589"/>
                </a:lnTo>
                <a:lnTo>
                  <a:pt x="106189" y="43855"/>
                </a:lnTo>
                <a:close/>
                <a:moveTo>
                  <a:pt x="67419" y="25971"/>
                </a:moveTo>
                <a:lnTo>
                  <a:pt x="51023" y="25971"/>
                </a:lnTo>
                <a:lnTo>
                  <a:pt x="51023" y="40878"/>
                </a:lnTo>
                <a:lnTo>
                  <a:pt x="67419" y="40878"/>
                </a:lnTo>
                <a:lnTo>
                  <a:pt x="67419" y="25971"/>
                </a:lnTo>
                <a:close/>
                <a:moveTo>
                  <a:pt x="86792" y="25971"/>
                </a:moveTo>
                <a:lnTo>
                  <a:pt x="70396" y="25971"/>
                </a:lnTo>
                <a:lnTo>
                  <a:pt x="70396" y="40878"/>
                </a:lnTo>
                <a:lnTo>
                  <a:pt x="86792" y="40878"/>
                </a:lnTo>
                <a:lnTo>
                  <a:pt x="86792" y="25971"/>
                </a:lnTo>
                <a:close/>
                <a:moveTo>
                  <a:pt x="155451" y="50775"/>
                </a:moveTo>
                <a:cubicBezTo>
                  <a:pt x="151879" y="48369"/>
                  <a:pt x="143644" y="47501"/>
                  <a:pt x="137319" y="48692"/>
                </a:cubicBezTo>
                <a:cubicBezTo>
                  <a:pt x="136500" y="42738"/>
                  <a:pt x="133176" y="37554"/>
                  <a:pt x="127124" y="32891"/>
                </a:cubicBezTo>
                <a:lnTo>
                  <a:pt x="123651" y="30584"/>
                </a:lnTo>
                <a:lnTo>
                  <a:pt x="121345" y="34057"/>
                </a:lnTo>
                <a:cubicBezTo>
                  <a:pt x="116780" y="40953"/>
                  <a:pt x="115540" y="52313"/>
                  <a:pt x="120427" y="59804"/>
                </a:cubicBezTo>
                <a:cubicBezTo>
                  <a:pt x="118269" y="60970"/>
                  <a:pt x="114027" y="62557"/>
                  <a:pt x="108421" y="62458"/>
                </a:cubicBezTo>
                <a:lnTo>
                  <a:pt x="595" y="62458"/>
                </a:lnTo>
                <a:cubicBezTo>
                  <a:pt x="-1563" y="75059"/>
                  <a:pt x="2034" y="91430"/>
                  <a:pt x="11509" y="102667"/>
                </a:cubicBezTo>
                <a:cubicBezTo>
                  <a:pt x="20712" y="113556"/>
                  <a:pt x="34503" y="119087"/>
                  <a:pt x="52536" y="119087"/>
                </a:cubicBezTo>
                <a:cubicBezTo>
                  <a:pt x="91579" y="119087"/>
                  <a:pt x="120476" y="101104"/>
                  <a:pt x="133995" y="68436"/>
                </a:cubicBezTo>
                <a:cubicBezTo>
                  <a:pt x="139303" y="68535"/>
                  <a:pt x="150763" y="68461"/>
                  <a:pt x="156642" y="57224"/>
                </a:cubicBezTo>
                <a:cubicBezTo>
                  <a:pt x="157014" y="56604"/>
                  <a:pt x="158279" y="53950"/>
                  <a:pt x="158750" y="52983"/>
                </a:cubicBezTo>
                <a:lnTo>
                  <a:pt x="155451" y="50775"/>
                </a:lnTo>
                <a:close/>
                <a:moveTo>
                  <a:pt x="28674" y="43855"/>
                </a:moveTo>
                <a:lnTo>
                  <a:pt x="12303" y="43855"/>
                </a:lnTo>
                <a:lnTo>
                  <a:pt x="12303" y="58589"/>
                </a:lnTo>
                <a:lnTo>
                  <a:pt x="28699" y="58589"/>
                </a:lnTo>
                <a:lnTo>
                  <a:pt x="28699" y="43855"/>
                </a:lnTo>
                <a:lnTo>
                  <a:pt x="28674" y="43855"/>
                </a:lnTo>
                <a:close/>
                <a:moveTo>
                  <a:pt x="48047" y="43855"/>
                </a:moveTo>
                <a:lnTo>
                  <a:pt x="31651" y="43855"/>
                </a:lnTo>
                <a:lnTo>
                  <a:pt x="31651" y="58589"/>
                </a:lnTo>
                <a:lnTo>
                  <a:pt x="48047" y="58589"/>
                </a:lnTo>
                <a:lnTo>
                  <a:pt x="48047" y="43855"/>
                </a:lnTo>
                <a:close/>
                <a:moveTo>
                  <a:pt x="67419" y="43855"/>
                </a:moveTo>
                <a:lnTo>
                  <a:pt x="51023" y="43855"/>
                </a:lnTo>
                <a:lnTo>
                  <a:pt x="51023" y="58589"/>
                </a:lnTo>
                <a:lnTo>
                  <a:pt x="67419" y="58589"/>
                </a:lnTo>
                <a:lnTo>
                  <a:pt x="67419" y="43855"/>
                </a:lnTo>
                <a:close/>
                <a:moveTo>
                  <a:pt x="48047" y="25971"/>
                </a:moveTo>
                <a:lnTo>
                  <a:pt x="31651" y="25971"/>
                </a:lnTo>
                <a:lnTo>
                  <a:pt x="31651" y="40878"/>
                </a:lnTo>
                <a:lnTo>
                  <a:pt x="48047" y="40878"/>
                </a:lnTo>
                <a:lnTo>
                  <a:pt x="48047" y="2597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 bwMode="auto">
          <a:xfrm>
            <a:off x="6929438" y="6151562"/>
            <a:ext cx="3579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Container Resilience</a:t>
            </a:r>
            <a:endParaRPr lang="en-US" sz="1600"/>
          </a:p>
        </p:txBody>
      </p:sp>
      <p:sp>
        <p:nvSpPr>
          <p:cNvPr id="72" name="Text 70"/>
          <p:cNvSpPr/>
          <p:nvPr/>
        </p:nvSpPr>
        <p:spPr bwMode="auto">
          <a:xfrm>
            <a:off x="6929438" y="6405563"/>
            <a:ext cx="3563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Docker containers can be restarted individually without losing stored files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10">
    <p:bg>
      <p:bgPr shadeToTitle="0">
        <a:solidFill>
          <a:srgbClr val="1A0F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317500" y="33337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 fill="norm" stroke="1" extrusionOk="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 bwMode="auto">
          <a:xfrm>
            <a:off x="468313" y="4603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 fill="norm" stroke="1" extrusionOk="0">
                <a:moveTo>
                  <a:pt x="47625" y="35719"/>
                </a:moveTo>
                <a:lnTo>
                  <a:pt x="47625" y="59531"/>
                </a:lnTo>
                <a:lnTo>
                  <a:pt x="95250" y="59531"/>
                </a:lnTo>
                <a:lnTo>
                  <a:pt x="95250" y="35719"/>
                </a:lnTo>
                <a:cubicBezTo>
                  <a:pt x="95250" y="22585"/>
                  <a:pt x="84572" y="11906"/>
                  <a:pt x="71438" y="11906"/>
                </a:cubicBezTo>
                <a:cubicBezTo>
                  <a:pt x="58303" y="11906"/>
                  <a:pt x="47625" y="22585"/>
                  <a:pt x="47625" y="35719"/>
                </a:cubicBezTo>
                <a:close/>
                <a:moveTo>
                  <a:pt x="23812" y="59531"/>
                </a:moveTo>
                <a:lnTo>
                  <a:pt x="23812" y="35719"/>
                </a:lnTo>
                <a:cubicBezTo>
                  <a:pt x="23812" y="9413"/>
                  <a:pt x="45132" y="-11906"/>
                  <a:pt x="71438" y="-11906"/>
                </a:cubicBezTo>
                <a:cubicBezTo>
                  <a:pt x="97743" y="-11906"/>
                  <a:pt x="119063" y="9413"/>
                  <a:pt x="119063" y="35719"/>
                </a:cubicBezTo>
                <a:lnTo>
                  <a:pt x="119063" y="59531"/>
                </a:lnTo>
                <a:cubicBezTo>
                  <a:pt x="132197" y="59531"/>
                  <a:pt x="142875" y="70210"/>
                  <a:pt x="142875" y="83344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83344"/>
                </a:lnTo>
                <a:cubicBezTo>
                  <a:pt x="0" y="70210"/>
                  <a:pt x="10678" y="59531"/>
                  <a:pt x="23812" y="595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 bwMode="auto">
          <a:xfrm flipH="0" flipV="0">
            <a:off x="888999" y="317499"/>
            <a:ext cx="4794249" cy="380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00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Security Configuration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 bwMode="auto">
          <a:xfrm>
            <a:off x="889000" y="762000"/>
            <a:ext cx="1016000" cy="31750"/>
          </a:xfrm>
          <a:custGeom>
            <a:avLst/>
            <a:gdLst/>
            <a:ahLst/>
            <a:cxnLst/>
            <a:rect l="l" t="t" r="r" b="b"/>
            <a:pathLst>
              <a:path w="1016000" h="31750" fill="norm" stroke="1" extrusionOk="0">
                <a:moveTo>
                  <a:pt x="15875" y="0"/>
                </a:moveTo>
                <a:lnTo>
                  <a:pt x="1000125" y="0"/>
                </a:lnTo>
                <a:cubicBezTo>
                  <a:pt x="1008887" y="0"/>
                  <a:pt x="1016000" y="7113"/>
                  <a:pt x="1016000" y="15875"/>
                </a:cubicBezTo>
                <a:lnTo>
                  <a:pt x="1016000" y="15875"/>
                </a:lnTo>
                <a:cubicBezTo>
                  <a:pt x="1016000" y="24637"/>
                  <a:pt x="1008887" y="31750"/>
                  <a:pt x="1000125" y="31750"/>
                </a:cubicBezTo>
                <a:lnTo>
                  <a:pt x="15875" y="31750"/>
                </a:lnTo>
                <a:cubicBezTo>
                  <a:pt x="7113" y="31750"/>
                  <a:pt x="0" y="24637"/>
                  <a:pt x="0" y="15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 bwMode="auto">
          <a:xfrm>
            <a:off x="321469" y="988219"/>
            <a:ext cx="11549063" cy="531813"/>
          </a:xfrm>
          <a:custGeom>
            <a:avLst/>
            <a:gdLst/>
            <a:ahLst/>
            <a:cxnLst/>
            <a:rect l="l" t="t" r="r" b="b"/>
            <a:pathLst>
              <a:path w="11549063" h="531813" fill="norm" stroke="1" extrusionOk="0">
                <a:moveTo>
                  <a:pt x="127002" y="0"/>
                </a:moveTo>
                <a:lnTo>
                  <a:pt x="11422060" y="0"/>
                </a:lnTo>
                <a:cubicBezTo>
                  <a:pt x="11492202" y="0"/>
                  <a:pt x="11549063" y="56861"/>
                  <a:pt x="11549063" y="127002"/>
                </a:cubicBezTo>
                <a:lnTo>
                  <a:pt x="11549063" y="404810"/>
                </a:lnTo>
                <a:cubicBezTo>
                  <a:pt x="11549063" y="474952"/>
                  <a:pt x="11492202" y="531813"/>
                  <a:pt x="11422060" y="531813"/>
                </a:cubicBezTo>
                <a:lnTo>
                  <a:pt x="127002" y="531813"/>
                </a:lnTo>
                <a:cubicBezTo>
                  <a:pt x="56908" y="531813"/>
                  <a:pt x="0" y="474905"/>
                  <a:pt x="0" y="404810"/>
                </a:cubicBezTo>
                <a:lnTo>
                  <a:pt x="0" y="127002"/>
                </a:lnTo>
                <a:cubicBezTo>
                  <a:pt x="0" y="56908"/>
                  <a:pt x="56908" y="0"/>
                  <a:pt x="127002" y="0"/>
                </a:cubicBezTo>
                <a:close/>
              </a:path>
            </a:pathLst>
          </a:custGeom>
          <a:solidFill>
            <a:srgbClr val="4C1D95">
              <a:alpha val="30194"/>
            </a:srgbClr>
          </a:solidFill>
          <a:ln w="12700">
            <a:solidFill>
              <a:srgbClr val="7C3AED">
                <a:alpha val="30194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 bwMode="auto">
          <a:xfrm>
            <a:off x="484186" y="1150938"/>
            <a:ext cx="112871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Security is </a:t>
            </a:r>
            <a:r>
              <a:rPr lang="en-US" sz="100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built into every layer</a:t>
            </a: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of the system. These measures protect the system while keeping it </a:t>
            </a:r>
            <a:r>
              <a:rPr lang="en-US" sz="100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simple to use</a:t>
            </a: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.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 bwMode="auto">
          <a:xfrm>
            <a:off x="321469" y="1686719"/>
            <a:ext cx="3738562" cy="2563813"/>
          </a:xfrm>
          <a:custGeom>
            <a:avLst/>
            <a:gdLst/>
            <a:ahLst/>
            <a:cxnLst/>
            <a:rect l="l" t="t" r="r" b="b"/>
            <a:pathLst>
              <a:path w="3738563" h="2563813" fill="norm" stroke="1" extrusionOk="0">
                <a:moveTo>
                  <a:pt x="127011" y="0"/>
                </a:moveTo>
                <a:lnTo>
                  <a:pt x="3611551" y="0"/>
                </a:lnTo>
                <a:cubicBezTo>
                  <a:pt x="3681698" y="0"/>
                  <a:pt x="3738563" y="56865"/>
                  <a:pt x="3738563" y="127011"/>
                </a:cubicBezTo>
                <a:lnTo>
                  <a:pt x="3738563" y="2436801"/>
                </a:lnTo>
                <a:cubicBezTo>
                  <a:pt x="3738563" y="2506948"/>
                  <a:pt x="3681698" y="2563813"/>
                  <a:pt x="3611551" y="2563813"/>
                </a:cubicBezTo>
                <a:lnTo>
                  <a:pt x="127011" y="2563813"/>
                </a:lnTo>
                <a:cubicBezTo>
                  <a:pt x="56865" y="2563813"/>
                  <a:pt x="0" y="2506948"/>
                  <a:pt x="0" y="2436801"/>
                </a:cubicBezTo>
                <a:lnTo>
                  <a:pt x="0" y="127011"/>
                </a:lnTo>
                <a:cubicBezTo>
                  <a:pt x="0" y="56865"/>
                  <a:pt x="56865" y="0"/>
                  <a:pt x="127011" y="0"/>
                </a:cubicBezTo>
                <a:close/>
              </a:path>
            </a:pathLst>
          </a:custGeom>
          <a:gradFill>
            <a:gsLst>
              <a:gs pos="0">
                <a:srgbClr val="7C3AED">
                  <a:alpha val="30000"/>
                </a:srgbClr>
              </a:gs>
              <a:gs pos="100000">
                <a:srgbClr val="7C3AED">
                  <a:alpha val="10000"/>
                </a:srgbClr>
              </a:gs>
            </a:gsLst>
            <a:lin ang="2700000" scaled="1"/>
          </a:gra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 bwMode="auto">
          <a:xfrm>
            <a:off x="484186" y="1849438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 fill="norm" stroke="1" extrusionOk="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0" name="Shape 8"/>
          <p:cNvSpPr/>
          <p:nvPr/>
        </p:nvSpPr>
        <p:spPr bwMode="auto">
          <a:xfrm>
            <a:off x="611188" y="197643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fill="norm" stroke="1" extrusionOk="0">
                <a:moveTo>
                  <a:pt x="125016" y="130969"/>
                </a:moveTo>
                <a:cubicBezTo>
                  <a:pt x="161181" y="130969"/>
                  <a:pt x="190500" y="101650"/>
                  <a:pt x="190500" y="65484"/>
                </a:cubicBezTo>
                <a:cubicBezTo>
                  <a:pt x="190500" y="29319"/>
                  <a:pt x="161181" y="0"/>
                  <a:pt x="125016" y="0"/>
                </a:cubicBezTo>
                <a:cubicBezTo>
                  <a:pt x="88850" y="0"/>
                  <a:pt x="59531" y="29319"/>
                  <a:pt x="59531" y="65484"/>
                </a:cubicBezTo>
                <a:cubicBezTo>
                  <a:pt x="59531" y="72442"/>
                  <a:pt x="60610" y="79177"/>
                  <a:pt x="62619" y="85465"/>
                </a:cubicBezTo>
                <a:lnTo>
                  <a:pt x="2604" y="145479"/>
                </a:lnTo>
                <a:cubicBezTo>
                  <a:pt x="930" y="147154"/>
                  <a:pt x="0" y="149423"/>
                  <a:pt x="0" y="151805"/>
                </a:cubicBezTo>
                <a:lnTo>
                  <a:pt x="0" y="181570"/>
                </a:lnTo>
                <a:cubicBezTo>
                  <a:pt x="0" y="186519"/>
                  <a:pt x="3981" y="190500"/>
                  <a:pt x="8930" y="190500"/>
                </a:cubicBezTo>
                <a:lnTo>
                  <a:pt x="38695" y="190500"/>
                </a:lnTo>
                <a:cubicBezTo>
                  <a:pt x="43644" y="190500"/>
                  <a:pt x="47625" y="186519"/>
                  <a:pt x="47625" y="181570"/>
                </a:cubicBezTo>
                <a:lnTo>
                  <a:pt x="47625" y="166688"/>
                </a:lnTo>
                <a:lnTo>
                  <a:pt x="62508" y="166688"/>
                </a:lnTo>
                <a:cubicBezTo>
                  <a:pt x="67456" y="166688"/>
                  <a:pt x="71438" y="162706"/>
                  <a:pt x="71438" y="157758"/>
                </a:cubicBezTo>
                <a:lnTo>
                  <a:pt x="71438" y="142875"/>
                </a:lnTo>
                <a:lnTo>
                  <a:pt x="86320" y="142875"/>
                </a:lnTo>
                <a:cubicBezTo>
                  <a:pt x="88702" y="142875"/>
                  <a:pt x="90971" y="141945"/>
                  <a:pt x="92646" y="140271"/>
                </a:cubicBezTo>
                <a:lnTo>
                  <a:pt x="105035" y="127881"/>
                </a:lnTo>
                <a:cubicBezTo>
                  <a:pt x="111323" y="129890"/>
                  <a:pt x="118058" y="130969"/>
                  <a:pt x="125016" y="130969"/>
                </a:cubicBezTo>
                <a:close/>
                <a:moveTo>
                  <a:pt x="139898" y="35719"/>
                </a:moveTo>
                <a:cubicBezTo>
                  <a:pt x="148112" y="35719"/>
                  <a:pt x="154781" y="42388"/>
                  <a:pt x="154781" y="50602"/>
                </a:cubicBezTo>
                <a:cubicBezTo>
                  <a:pt x="154781" y="58816"/>
                  <a:pt x="148112" y="65484"/>
                  <a:pt x="139898" y="65484"/>
                </a:cubicBezTo>
                <a:cubicBezTo>
                  <a:pt x="131684" y="65484"/>
                  <a:pt x="125016" y="58816"/>
                  <a:pt x="125016" y="50602"/>
                </a:cubicBezTo>
                <a:cubicBezTo>
                  <a:pt x="125016" y="42388"/>
                  <a:pt x="131684" y="35719"/>
                  <a:pt x="139898" y="3571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 bwMode="auto">
          <a:xfrm>
            <a:off x="1023938" y="1960562"/>
            <a:ext cx="1111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5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Authentication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 bwMode="auto">
          <a:xfrm>
            <a:off x="484186" y="2420938"/>
            <a:ext cx="3468688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9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Users must log in with </a:t>
            </a:r>
            <a:r>
              <a:rPr lang="en-US" sz="90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secure JWT tokens</a:t>
            </a:r>
            <a:r>
              <a:rPr lang="en-US" sz="9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before they can upload or view data.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 bwMode="auto">
          <a:xfrm>
            <a:off x="484186" y="2909094"/>
            <a:ext cx="3413125" cy="349250"/>
          </a:xfrm>
          <a:custGeom>
            <a:avLst/>
            <a:gdLst/>
            <a:ahLst/>
            <a:cxnLst/>
            <a:rect l="l" t="t" r="r" b="b"/>
            <a:pathLst>
              <a:path w="3413125" h="349250" fill="norm" stroke="1" extrusionOk="0">
                <a:moveTo>
                  <a:pt x="63501" y="0"/>
                </a:moveTo>
                <a:lnTo>
                  <a:pt x="3349624" y="0"/>
                </a:lnTo>
                <a:cubicBezTo>
                  <a:pt x="3384695" y="0"/>
                  <a:pt x="3413125" y="28430"/>
                  <a:pt x="3413125" y="63501"/>
                </a:cubicBezTo>
                <a:lnTo>
                  <a:pt x="3413125" y="285749"/>
                </a:lnTo>
                <a:cubicBezTo>
                  <a:pt x="3413125" y="320820"/>
                  <a:pt x="3384695" y="349250"/>
                  <a:pt x="3349624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 bwMode="auto">
          <a:xfrm>
            <a:off x="595313" y="302021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 bwMode="auto">
          <a:xfrm>
            <a:off x="801688" y="3004343"/>
            <a:ext cx="928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Token based auth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 bwMode="auto">
          <a:xfrm>
            <a:off x="484186" y="3321844"/>
            <a:ext cx="3413125" cy="349250"/>
          </a:xfrm>
          <a:custGeom>
            <a:avLst/>
            <a:gdLst/>
            <a:ahLst/>
            <a:cxnLst/>
            <a:rect l="l" t="t" r="r" b="b"/>
            <a:pathLst>
              <a:path w="3413125" h="349250" fill="norm" stroke="1" extrusionOk="0">
                <a:moveTo>
                  <a:pt x="63501" y="0"/>
                </a:moveTo>
                <a:lnTo>
                  <a:pt x="3349624" y="0"/>
                </a:lnTo>
                <a:cubicBezTo>
                  <a:pt x="3384695" y="0"/>
                  <a:pt x="3413125" y="28430"/>
                  <a:pt x="3413125" y="63501"/>
                </a:cubicBezTo>
                <a:lnTo>
                  <a:pt x="3413125" y="285749"/>
                </a:lnTo>
                <a:cubicBezTo>
                  <a:pt x="3413125" y="320820"/>
                  <a:pt x="3384695" y="349250"/>
                  <a:pt x="3349624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 bwMode="auto">
          <a:xfrm>
            <a:off x="595313" y="343296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 bwMode="auto">
          <a:xfrm flipH="0" flipV="0">
            <a:off x="801687" y="3417093"/>
            <a:ext cx="1702294" cy="158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Session management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 bwMode="auto">
          <a:xfrm>
            <a:off x="484186" y="3734594"/>
            <a:ext cx="3413125" cy="349250"/>
          </a:xfrm>
          <a:custGeom>
            <a:avLst/>
            <a:gdLst/>
            <a:ahLst/>
            <a:cxnLst/>
            <a:rect l="l" t="t" r="r" b="b"/>
            <a:pathLst>
              <a:path w="3413125" h="349250" fill="norm" stroke="1" extrusionOk="0">
                <a:moveTo>
                  <a:pt x="63501" y="0"/>
                </a:moveTo>
                <a:lnTo>
                  <a:pt x="3349624" y="0"/>
                </a:lnTo>
                <a:cubicBezTo>
                  <a:pt x="3384695" y="0"/>
                  <a:pt x="3413125" y="28430"/>
                  <a:pt x="3413125" y="63501"/>
                </a:cubicBezTo>
                <a:lnTo>
                  <a:pt x="3413125" y="285749"/>
                </a:lnTo>
                <a:cubicBezTo>
                  <a:pt x="3413125" y="320820"/>
                  <a:pt x="3384695" y="349250"/>
                  <a:pt x="3349624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 bwMode="auto">
          <a:xfrm>
            <a:off x="595313" y="384571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 bwMode="auto">
          <a:xfrm flipH="0" flipV="0">
            <a:off x="801687" y="3829843"/>
            <a:ext cx="928686" cy="158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Secure log out</a:t>
            </a:r>
            <a:endParaRPr lang="en-US" sz="1600"/>
          </a:p>
        </p:txBody>
      </p:sp>
      <p:sp>
        <p:nvSpPr>
          <p:cNvPr id="22" name="Shape 20"/>
          <p:cNvSpPr/>
          <p:nvPr/>
        </p:nvSpPr>
        <p:spPr bwMode="auto">
          <a:xfrm>
            <a:off x="4226719" y="1686719"/>
            <a:ext cx="3738562" cy="2563813"/>
          </a:xfrm>
          <a:custGeom>
            <a:avLst/>
            <a:gdLst/>
            <a:ahLst/>
            <a:cxnLst/>
            <a:rect l="l" t="t" r="r" b="b"/>
            <a:pathLst>
              <a:path w="3738563" h="2563813" fill="norm" stroke="1" extrusionOk="0">
                <a:moveTo>
                  <a:pt x="127011" y="0"/>
                </a:moveTo>
                <a:lnTo>
                  <a:pt x="3611551" y="0"/>
                </a:lnTo>
                <a:cubicBezTo>
                  <a:pt x="3681698" y="0"/>
                  <a:pt x="3738563" y="56865"/>
                  <a:pt x="3738563" y="127011"/>
                </a:cubicBezTo>
                <a:lnTo>
                  <a:pt x="3738563" y="2436801"/>
                </a:lnTo>
                <a:cubicBezTo>
                  <a:pt x="3738563" y="2506948"/>
                  <a:pt x="3681698" y="2563813"/>
                  <a:pt x="3611551" y="2563813"/>
                </a:cubicBezTo>
                <a:lnTo>
                  <a:pt x="127011" y="2563813"/>
                </a:lnTo>
                <a:cubicBezTo>
                  <a:pt x="56865" y="2563813"/>
                  <a:pt x="0" y="2506948"/>
                  <a:pt x="0" y="2436801"/>
                </a:cubicBezTo>
                <a:lnTo>
                  <a:pt x="0" y="127011"/>
                </a:lnTo>
                <a:cubicBezTo>
                  <a:pt x="0" y="56865"/>
                  <a:pt x="56865" y="0"/>
                  <a:pt x="127011" y="0"/>
                </a:cubicBezTo>
                <a:close/>
              </a:path>
            </a:pathLst>
          </a:custGeom>
          <a:gradFill>
            <a:gsLst>
              <a:gs pos="0">
                <a:srgbClr val="EC4899">
                  <a:alpha val="30000"/>
                </a:srgbClr>
              </a:gs>
              <a:gs pos="100000">
                <a:srgbClr val="EC4899">
                  <a:alpha val="10000"/>
                </a:srgbClr>
              </a:gs>
            </a:gsLst>
            <a:lin ang="2700000" scaled="1"/>
          </a:gradFill>
          <a:ln w="1270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 bwMode="auto">
          <a:xfrm>
            <a:off x="4389438" y="1849438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 fill="norm" stroke="1" extrusionOk="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24" name="Shape 22"/>
          <p:cNvSpPr/>
          <p:nvPr/>
        </p:nvSpPr>
        <p:spPr bwMode="auto">
          <a:xfrm>
            <a:off x="4504531" y="197643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 fill="norm" stroke="1" extrusionOk="0">
                <a:moveTo>
                  <a:pt x="35719" y="0"/>
                </a:moveTo>
                <a:cubicBezTo>
                  <a:pt x="22585" y="0"/>
                  <a:pt x="11906" y="10678"/>
                  <a:pt x="11906" y="23812"/>
                </a:cubicBezTo>
                <a:lnTo>
                  <a:pt x="11906" y="166688"/>
                </a:lnTo>
                <a:cubicBezTo>
                  <a:pt x="11906" y="179822"/>
                  <a:pt x="22585" y="190500"/>
                  <a:pt x="35719" y="190500"/>
                </a:cubicBezTo>
                <a:lnTo>
                  <a:pt x="110579" y="190500"/>
                </a:lnTo>
                <a:cubicBezTo>
                  <a:pt x="97110" y="174650"/>
                  <a:pt x="89297" y="154223"/>
                  <a:pt x="89297" y="132606"/>
                </a:cubicBezTo>
                <a:lnTo>
                  <a:pt x="89297" y="121034"/>
                </a:lnTo>
                <a:cubicBezTo>
                  <a:pt x="89297" y="108235"/>
                  <a:pt x="97482" y="96850"/>
                  <a:pt x="109649" y="92794"/>
                </a:cubicBezTo>
                <a:lnTo>
                  <a:pt x="151321" y="78916"/>
                </a:lnTo>
                <a:cubicBezTo>
                  <a:pt x="152474" y="78544"/>
                  <a:pt x="153628" y="78246"/>
                  <a:pt x="154781" y="77986"/>
                </a:cubicBezTo>
                <a:lnTo>
                  <a:pt x="154781" y="63438"/>
                </a:lnTo>
                <a:cubicBezTo>
                  <a:pt x="154781" y="57113"/>
                  <a:pt x="152288" y="51048"/>
                  <a:pt x="147824" y="46583"/>
                </a:cubicBezTo>
                <a:lnTo>
                  <a:pt x="108161" y="6958"/>
                </a:lnTo>
                <a:cubicBezTo>
                  <a:pt x="103696" y="2493"/>
                  <a:pt x="97668" y="0"/>
                  <a:pt x="91343" y="0"/>
                </a:cubicBezTo>
                <a:lnTo>
                  <a:pt x="35719" y="0"/>
                </a:lnTo>
                <a:close/>
                <a:moveTo>
                  <a:pt x="133015" y="65484"/>
                </a:moveTo>
                <a:lnTo>
                  <a:pt x="98227" y="65484"/>
                </a:lnTo>
                <a:cubicBezTo>
                  <a:pt x="93278" y="65484"/>
                  <a:pt x="89297" y="61503"/>
                  <a:pt x="89297" y="56555"/>
                </a:cubicBezTo>
                <a:lnTo>
                  <a:pt x="89297" y="21766"/>
                </a:lnTo>
                <a:lnTo>
                  <a:pt x="133015" y="65484"/>
                </a:lnTo>
                <a:close/>
                <a:moveTo>
                  <a:pt x="165683" y="181756"/>
                </a:moveTo>
                <a:lnTo>
                  <a:pt x="160734" y="184100"/>
                </a:lnTo>
                <a:lnTo>
                  <a:pt x="160734" y="114114"/>
                </a:lnTo>
                <a:lnTo>
                  <a:pt x="196453" y="126020"/>
                </a:lnTo>
                <a:lnTo>
                  <a:pt x="196453" y="133313"/>
                </a:lnTo>
                <a:cubicBezTo>
                  <a:pt x="196453" y="154074"/>
                  <a:pt x="184472" y="172938"/>
                  <a:pt x="165683" y="181794"/>
                </a:cubicBezTo>
                <a:close/>
                <a:moveTo>
                  <a:pt x="156976" y="96552"/>
                </a:moveTo>
                <a:lnTo>
                  <a:pt x="115305" y="110430"/>
                </a:lnTo>
                <a:cubicBezTo>
                  <a:pt x="110430" y="112068"/>
                  <a:pt x="107156" y="116607"/>
                  <a:pt x="107156" y="121741"/>
                </a:cubicBezTo>
                <a:lnTo>
                  <a:pt x="107156" y="133313"/>
                </a:lnTo>
                <a:cubicBezTo>
                  <a:pt x="107156" y="160995"/>
                  <a:pt x="123155" y="186184"/>
                  <a:pt x="148158" y="197941"/>
                </a:cubicBezTo>
                <a:lnTo>
                  <a:pt x="155042" y="201178"/>
                </a:lnTo>
                <a:cubicBezTo>
                  <a:pt x="156828" y="201997"/>
                  <a:pt x="158762" y="202443"/>
                  <a:pt x="160697" y="202443"/>
                </a:cubicBezTo>
                <a:cubicBezTo>
                  <a:pt x="162632" y="202443"/>
                  <a:pt x="164604" y="201997"/>
                  <a:pt x="166353" y="201178"/>
                </a:cubicBezTo>
                <a:lnTo>
                  <a:pt x="173236" y="197941"/>
                </a:lnTo>
                <a:cubicBezTo>
                  <a:pt x="198313" y="186147"/>
                  <a:pt x="214313" y="160958"/>
                  <a:pt x="214313" y="133276"/>
                </a:cubicBezTo>
                <a:lnTo>
                  <a:pt x="214313" y="121704"/>
                </a:lnTo>
                <a:cubicBezTo>
                  <a:pt x="214313" y="116570"/>
                  <a:pt x="211038" y="112030"/>
                  <a:pt x="206164" y="110393"/>
                </a:cubicBezTo>
                <a:lnTo>
                  <a:pt x="164492" y="96515"/>
                </a:lnTo>
                <a:cubicBezTo>
                  <a:pt x="162037" y="95696"/>
                  <a:pt x="159395" y="95696"/>
                  <a:pt x="156976" y="9651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 bwMode="auto">
          <a:xfrm flipH="0" flipV="0">
            <a:off x="4929187" y="1960562"/>
            <a:ext cx="1723820" cy="222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5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File Validation</a:t>
            </a:r>
            <a:endParaRPr lang="en-US" sz="1600"/>
          </a:p>
        </p:txBody>
      </p:sp>
      <p:sp>
        <p:nvSpPr>
          <p:cNvPr id="26" name="Text 24"/>
          <p:cNvSpPr/>
          <p:nvPr/>
        </p:nvSpPr>
        <p:spPr bwMode="auto">
          <a:xfrm>
            <a:off x="4389438" y="2420938"/>
            <a:ext cx="3468688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9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File uploads are </a:t>
            </a:r>
            <a:r>
              <a:rPr lang="en-US" sz="90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checked for allowed formats</a:t>
            </a:r>
            <a:r>
              <a:rPr lang="en-US" sz="9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and size limits to prevent misuse.</a:t>
            </a:r>
            <a:endParaRPr lang="en-US" sz="1600"/>
          </a:p>
        </p:txBody>
      </p:sp>
      <p:sp>
        <p:nvSpPr>
          <p:cNvPr id="27" name="Shape 25"/>
          <p:cNvSpPr/>
          <p:nvPr/>
        </p:nvSpPr>
        <p:spPr bwMode="auto">
          <a:xfrm>
            <a:off x="4389438" y="2909094"/>
            <a:ext cx="3413125" cy="349250"/>
          </a:xfrm>
          <a:custGeom>
            <a:avLst/>
            <a:gdLst/>
            <a:ahLst/>
            <a:cxnLst/>
            <a:rect l="l" t="t" r="r" b="b"/>
            <a:pathLst>
              <a:path w="3413125" h="349250" fill="norm" stroke="1" extrusionOk="0">
                <a:moveTo>
                  <a:pt x="63501" y="0"/>
                </a:moveTo>
                <a:lnTo>
                  <a:pt x="3349624" y="0"/>
                </a:lnTo>
                <a:cubicBezTo>
                  <a:pt x="3384695" y="0"/>
                  <a:pt x="3413125" y="28430"/>
                  <a:pt x="3413125" y="63501"/>
                </a:cubicBezTo>
                <a:lnTo>
                  <a:pt x="3413125" y="285749"/>
                </a:lnTo>
                <a:cubicBezTo>
                  <a:pt x="3413125" y="320820"/>
                  <a:pt x="3384695" y="349250"/>
                  <a:pt x="3349624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 bwMode="auto">
          <a:xfrm>
            <a:off x="4500563" y="302021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29" name="Text 27"/>
          <p:cNvSpPr/>
          <p:nvPr/>
        </p:nvSpPr>
        <p:spPr bwMode="auto">
          <a:xfrm>
            <a:off x="4706938" y="3004343"/>
            <a:ext cx="825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Format whitelist</a:t>
            </a:r>
            <a:endParaRPr lang="en-US" sz="1600"/>
          </a:p>
        </p:txBody>
      </p:sp>
      <p:sp>
        <p:nvSpPr>
          <p:cNvPr id="30" name="Shape 28"/>
          <p:cNvSpPr/>
          <p:nvPr/>
        </p:nvSpPr>
        <p:spPr bwMode="auto">
          <a:xfrm>
            <a:off x="4389438" y="3321844"/>
            <a:ext cx="3413125" cy="349250"/>
          </a:xfrm>
          <a:custGeom>
            <a:avLst/>
            <a:gdLst/>
            <a:ahLst/>
            <a:cxnLst/>
            <a:rect l="l" t="t" r="r" b="b"/>
            <a:pathLst>
              <a:path w="3413125" h="349250" fill="norm" stroke="1" extrusionOk="0">
                <a:moveTo>
                  <a:pt x="63501" y="0"/>
                </a:moveTo>
                <a:lnTo>
                  <a:pt x="3349624" y="0"/>
                </a:lnTo>
                <a:cubicBezTo>
                  <a:pt x="3384695" y="0"/>
                  <a:pt x="3413125" y="28430"/>
                  <a:pt x="3413125" y="63501"/>
                </a:cubicBezTo>
                <a:lnTo>
                  <a:pt x="3413125" y="285749"/>
                </a:lnTo>
                <a:cubicBezTo>
                  <a:pt x="3413125" y="320820"/>
                  <a:pt x="3384695" y="349250"/>
                  <a:pt x="3349624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 bwMode="auto">
          <a:xfrm>
            <a:off x="4500563" y="343296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2" name="Text 30"/>
          <p:cNvSpPr/>
          <p:nvPr/>
        </p:nvSpPr>
        <p:spPr bwMode="auto">
          <a:xfrm>
            <a:off x="4706938" y="3417094"/>
            <a:ext cx="809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Size restrictions</a:t>
            </a:r>
            <a:endParaRPr lang="en-US" sz="1600"/>
          </a:p>
        </p:txBody>
      </p:sp>
      <p:sp>
        <p:nvSpPr>
          <p:cNvPr id="33" name="Shape 31"/>
          <p:cNvSpPr/>
          <p:nvPr/>
        </p:nvSpPr>
        <p:spPr bwMode="auto">
          <a:xfrm>
            <a:off x="4389438" y="3734594"/>
            <a:ext cx="3413125" cy="349250"/>
          </a:xfrm>
          <a:custGeom>
            <a:avLst/>
            <a:gdLst/>
            <a:ahLst/>
            <a:cxnLst/>
            <a:rect l="l" t="t" r="r" b="b"/>
            <a:pathLst>
              <a:path w="3413125" h="349250" fill="norm" stroke="1" extrusionOk="0">
                <a:moveTo>
                  <a:pt x="63501" y="0"/>
                </a:moveTo>
                <a:lnTo>
                  <a:pt x="3349624" y="0"/>
                </a:lnTo>
                <a:cubicBezTo>
                  <a:pt x="3384695" y="0"/>
                  <a:pt x="3413125" y="28430"/>
                  <a:pt x="3413125" y="63501"/>
                </a:cubicBezTo>
                <a:lnTo>
                  <a:pt x="3413125" y="285749"/>
                </a:lnTo>
                <a:cubicBezTo>
                  <a:pt x="3413125" y="320820"/>
                  <a:pt x="3384695" y="349250"/>
                  <a:pt x="3349624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34" name="Shape 32"/>
          <p:cNvSpPr/>
          <p:nvPr/>
        </p:nvSpPr>
        <p:spPr bwMode="auto">
          <a:xfrm>
            <a:off x="4500563" y="384571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5" name="Text 33"/>
          <p:cNvSpPr/>
          <p:nvPr/>
        </p:nvSpPr>
        <p:spPr bwMode="auto">
          <a:xfrm>
            <a:off x="4706938" y="3829844"/>
            <a:ext cx="928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Content validation</a:t>
            </a:r>
            <a:endParaRPr lang="en-US" sz="1600"/>
          </a:p>
        </p:txBody>
      </p:sp>
      <p:sp>
        <p:nvSpPr>
          <p:cNvPr id="36" name="Shape 34"/>
          <p:cNvSpPr/>
          <p:nvPr/>
        </p:nvSpPr>
        <p:spPr bwMode="auto">
          <a:xfrm>
            <a:off x="8131969" y="1686719"/>
            <a:ext cx="3738562" cy="2563813"/>
          </a:xfrm>
          <a:custGeom>
            <a:avLst/>
            <a:gdLst/>
            <a:ahLst/>
            <a:cxnLst/>
            <a:rect l="l" t="t" r="r" b="b"/>
            <a:pathLst>
              <a:path w="3738563" h="2563813" fill="norm" stroke="1" extrusionOk="0">
                <a:moveTo>
                  <a:pt x="127011" y="0"/>
                </a:moveTo>
                <a:lnTo>
                  <a:pt x="3611551" y="0"/>
                </a:lnTo>
                <a:cubicBezTo>
                  <a:pt x="3681698" y="0"/>
                  <a:pt x="3738563" y="56865"/>
                  <a:pt x="3738563" y="127011"/>
                </a:cubicBezTo>
                <a:lnTo>
                  <a:pt x="3738563" y="2436801"/>
                </a:lnTo>
                <a:cubicBezTo>
                  <a:pt x="3738563" y="2506948"/>
                  <a:pt x="3681698" y="2563813"/>
                  <a:pt x="3611551" y="2563813"/>
                </a:cubicBezTo>
                <a:lnTo>
                  <a:pt x="127011" y="2563813"/>
                </a:lnTo>
                <a:cubicBezTo>
                  <a:pt x="56865" y="2563813"/>
                  <a:pt x="0" y="2506948"/>
                  <a:pt x="0" y="2436801"/>
                </a:cubicBezTo>
                <a:lnTo>
                  <a:pt x="0" y="127011"/>
                </a:lnTo>
                <a:cubicBezTo>
                  <a:pt x="0" y="56865"/>
                  <a:pt x="56865" y="0"/>
                  <a:pt x="127011" y="0"/>
                </a:cubicBezTo>
                <a:close/>
              </a:path>
            </a:pathLst>
          </a:custGeom>
          <a:gradFill>
            <a:gsLst>
              <a:gs pos="0">
                <a:srgbClr val="7C3AED">
                  <a:alpha val="30000"/>
                </a:srgbClr>
              </a:gs>
              <a:gs pos="100000">
                <a:srgbClr val="7C3AED">
                  <a:alpha val="10000"/>
                </a:srgbClr>
              </a:gs>
            </a:gsLst>
            <a:lin ang="2700000" scaled="1"/>
          </a:gra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 bwMode="auto">
          <a:xfrm>
            <a:off x="8294687" y="1849438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 fill="norm" stroke="1" extrusionOk="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38" name="Shape 36"/>
          <p:cNvSpPr/>
          <p:nvPr/>
        </p:nvSpPr>
        <p:spPr bwMode="auto">
          <a:xfrm>
            <a:off x="8409781" y="197643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 fill="norm" stroke="1" extrusionOk="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10579" y="190500"/>
                </a:lnTo>
                <a:cubicBezTo>
                  <a:pt x="97110" y="174650"/>
                  <a:pt x="89297" y="154223"/>
                  <a:pt x="89297" y="132606"/>
                </a:cubicBezTo>
                <a:lnTo>
                  <a:pt x="89297" y="121034"/>
                </a:lnTo>
                <a:cubicBezTo>
                  <a:pt x="89297" y="118318"/>
                  <a:pt x="89669" y="115639"/>
                  <a:pt x="90376" y="113109"/>
                </a:cubicBezTo>
                <a:lnTo>
                  <a:pt x="72293" y="113109"/>
                </a:lnTo>
                <a:close/>
                <a:moveTo>
                  <a:pt x="165683" y="181756"/>
                </a:moveTo>
                <a:lnTo>
                  <a:pt x="160734" y="184100"/>
                </a:lnTo>
                <a:lnTo>
                  <a:pt x="160734" y="114114"/>
                </a:lnTo>
                <a:lnTo>
                  <a:pt x="196453" y="126020"/>
                </a:lnTo>
                <a:lnTo>
                  <a:pt x="196453" y="133313"/>
                </a:lnTo>
                <a:cubicBezTo>
                  <a:pt x="196453" y="154074"/>
                  <a:pt x="184472" y="172938"/>
                  <a:pt x="165683" y="181794"/>
                </a:cubicBezTo>
                <a:close/>
                <a:moveTo>
                  <a:pt x="156976" y="96552"/>
                </a:moveTo>
                <a:lnTo>
                  <a:pt x="115305" y="110430"/>
                </a:lnTo>
                <a:cubicBezTo>
                  <a:pt x="110430" y="112068"/>
                  <a:pt x="107156" y="116607"/>
                  <a:pt x="107156" y="121741"/>
                </a:cubicBezTo>
                <a:lnTo>
                  <a:pt x="107156" y="133313"/>
                </a:lnTo>
                <a:cubicBezTo>
                  <a:pt x="107156" y="160995"/>
                  <a:pt x="123155" y="186184"/>
                  <a:pt x="148158" y="197941"/>
                </a:cubicBezTo>
                <a:lnTo>
                  <a:pt x="155042" y="201178"/>
                </a:lnTo>
                <a:cubicBezTo>
                  <a:pt x="156828" y="201997"/>
                  <a:pt x="158762" y="202443"/>
                  <a:pt x="160697" y="202443"/>
                </a:cubicBezTo>
                <a:cubicBezTo>
                  <a:pt x="162632" y="202443"/>
                  <a:pt x="164604" y="201997"/>
                  <a:pt x="166353" y="201178"/>
                </a:cubicBezTo>
                <a:lnTo>
                  <a:pt x="173236" y="197941"/>
                </a:lnTo>
                <a:cubicBezTo>
                  <a:pt x="198313" y="186147"/>
                  <a:pt x="214313" y="160958"/>
                  <a:pt x="214313" y="133276"/>
                </a:cubicBezTo>
                <a:lnTo>
                  <a:pt x="214313" y="121704"/>
                </a:lnTo>
                <a:cubicBezTo>
                  <a:pt x="214313" y="116570"/>
                  <a:pt x="211038" y="112030"/>
                  <a:pt x="206164" y="110393"/>
                </a:cubicBezTo>
                <a:lnTo>
                  <a:pt x="164492" y="96515"/>
                </a:lnTo>
                <a:cubicBezTo>
                  <a:pt x="162037" y="95696"/>
                  <a:pt x="159395" y="95696"/>
                  <a:pt x="156976" y="9651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 bwMode="auto">
          <a:xfrm flipH="0" flipV="0">
            <a:off x="8834437" y="1960562"/>
            <a:ext cx="1999883" cy="222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5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Access Control</a:t>
            </a:r>
            <a:endParaRPr lang="en-US" sz="1600"/>
          </a:p>
        </p:txBody>
      </p:sp>
      <p:sp>
        <p:nvSpPr>
          <p:cNvPr id="40" name="Text 38"/>
          <p:cNvSpPr/>
          <p:nvPr/>
        </p:nvSpPr>
        <p:spPr bwMode="auto">
          <a:xfrm>
            <a:off x="8294687" y="2420938"/>
            <a:ext cx="34686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9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Storage access is </a:t>
            </a:r>
            <a:r>
              <a:rPr lang="en-US" sz="90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limited to specific buckets</a:t>
            </a:r>
            <a:r>
              <a:rPr lang="en-US" sz="9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and folders per user.</a:t>
            </a:r>
            <a:endParaRPr lang="en-US" sz="1600"/>
          </a:p>
        </p:txBody>
      </p:sp>
      <p:sp>
        <p:nvSpPr>
          <p:cNvPr id="41" name="Shape 39"/>
          <p:cNvSpPr/>
          <p:nvPr/>
        </p:nvSpPr>
        <p:spPr bwMode="auto">
          <a:xfrm>
            <a:off x="8294687" y="2728516"/>
            <a:ext cx="3413125" cy="349250"/>
          </a:xfrm>
          <a:custGeom>
            <a:avLst/>
            <a:gdLst/>
            <a:ahLst/>
            <a:cxnLst/>
            <a:rect l="l" t="t" r="r" b="b"/>
            <a:pathLst>
              <a:path w="3413125" h="349250" fill="norm" stroke="1" extrusionOk="0">
                <a:moveTo>
                  <a:pt x="63501" y="0"/>
                </a:moveTo>
                <a:lnTo>
                  <a:pt x="3349624" y="0"/>
                </a:lnTo>
                <a:cubicBezTo>
                  <a:pt x="3384695" y="0"/>
                  <a:pt x="3413125" y="28430"/>
                  <a:pt x="3413125" y="63501"/>
                </a:cubicBezTo>
                <a:lnTo>
                  <a:pt x="3413125" y="285749"/>
                </a:lnTo>
                <a:cubicBezTo>
                  <a:pt x="3413125" y="320820"/>
                  <a:pt x="3384695" y="349250"/>
                  <a:pt x="3349624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 bwMode="auto">
          <a:xfrm>
            <a:off x="8405813" y="283964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43" name="Text 41"/>
          <p:cNvSpPr/>
          <p:nvPr/>
        </p:nvSpPr>
        <p:spPr bwMode="auto">
          <a:xfrm>
            <a:off x="8612188" y="2823766"/>
            <a:ext cx="809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Bucket isolation</a:t>
            </a:r>
            <a:endParaRPr lang="en-US" sz="1600"/>
          </a:p>
        </p:txBody>
      </p:sp>
      <p:sp>
        <p:nvSpPr>
          <p:cNvPr id="44" name="Shape 42"/>
          <p:cNvSpPr/>
          <p:nvPr/>
        </p:nvSpPr>
        <p:spPr bwMode="auto">
          <a:xfrm>
            <a:off x="8294687" y="3141266"/>
            <a:ext cx="3413125" cy="349250"/>
          </a:xfrm>
          <a:custGeom>
            <a:avLst/>
            <a:gdLst/>
            <a:ahLst/>
            <a:cxnLst/>
            <a:rect l="l" t="t" r="r" b="b"/>
            <a:pathLst>
              <a:path w="3413125" h="349250" fill="norm" stroke="1" extrusionOk="0">
                <a:moveTo>
                  <a:pt x="63501" y="0"/>
                </a:moveTo>
                <a:lnTo>
                  <a:pt x="3349624" y="0"/>
                </a:lnTo>
                <a:cubicBezTo>
                  <a:pt x="3384695" y="0"/>
                  <a:pt x="3413125" y="28430"/>
                  <a:pt x="3413125" y="63501"/>
                </a:cubicBezTo>
                <a:lnTo>
                  <a:pt x="3413125" y="285749"/>
                </a:lnTo>
                <a:cubicBezTo>
                  <a:pt x="3413125" y="320820"/>
                  <a:pt x="3384695" y="349250"/>
                  <a:pt x="3349624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45" name="Shape 43"/>
          <p:cNvSpPr/>
          <p:nvPr/>
        </p:nvSpPr>
        <p:spPr bwMode="auto">
          <a:xfrm>
            <a:off x="8405813" y="325239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46" name="Text 44"/>
          <p:cNvSpPr/>
          <p:nvPr/>
        </p:nvSpPr>
        <p:spPr bwMode="auto">
          <a:xfrm>
            <a:off x="8612188" y="3236516"/>
            <a:ext cx="920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Folder restrictions</a:t>
            </a:r>
            <a:endParaRPr lang="en-US" sz="1600"/>
          </a:p>
        </p:txBody>
      </p:sp>
      <p:sp>
        <p:nvSpPr>
          <p:cNvPr id="47" name="Shape 45"/>
          <p:cNvSpPr/>
          <p:nvPr/>
        </p:nvSpPr>
        <p:spPr bwMode="auto">
          <a:xfrm>
            <a:off x="8294687" y="3554016"/>
            <a:ext cx="3413125" cy="349250"/>
          </a:xfrm>
          <a:custGeom>
            <a:avLst/>
            <a:gdLst/>
            <a:ahLst/>
            <a:cxnLst/>
            <a:rect l="l" t="t" r="r" b="b"/>
            <a:pathLst>
              <a:path w="3413125" h="349250" fill="norm" stroke="1" extrusionOk="0">
                <a:moveTo>
                  <a:pt x="63501" y="0"/>
                </a:moveTo>
                <a:lnTo>
                  <a:pt x="3349624" y="0"/>
                </a:lnTo>
                <a:cubicBezTo>
                  <a:pt x="3384695" y="0"/>
                  <a:pt x="3413125" y="28430"/>
                  <a:pt x="3413125" y="63501"/>
                </a:cubicBezTo>
                <a:lnTo>
                  <a:pt x="3413125" y="285749"/>
                </a:lnTo>
                <a:cubicBezTo>
                  <a:pt x="3413125" y="320820"/>
                  <a:pt x="3384695" y="349250"/>
                  <a:pt x="3349624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48" name="Shape 46"/>
          <p:cNvSpPr/>
          <p:nvPr/>
        </p:nvSpPr>
        <p:spPr bwMode="auto">
          <a:xfrm>
            <a:off x="8405813" y="366514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49" name="Text 47"/>
          <p:cNvSpPr/>
          <p:nvPr/>
        </p:nvSpPr>
        <p:spPr bwMode="auto">
          <a:xfrm>
            <a:off x="8612188" y="3649266"/>
            <a:ext cx="920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Permission based</a:t>
            </a:r>
            <a:endParaRPr lang="en-US" sz="1600"/>
          </a:p>
        </p:txBody>
      </p:sp>
      <p:sp>
        <p:nvSpPr>
          <p:cNvPr id="50" name="Shape 48"/>
          <p:cNvSpPr/>
          <p:nvPr/>
        </p:nvSpPr>
        <p:spPr bwMode="auto">
          <a:xfrm>
            <a:off x="321469" y="4413250"/>
            <a:ext cx="3738562" cy="2381250"/>
          </a:xfrm>
          <a:custGeom>
            <a:avLst/>
            <a:gdLst/>
            <a:ahLst/>
            <a:cxnLst/>
            <a:rect l="l" t="t" r="r" b="b"/>
            <a:pathLst>
              <a:path w="3738563" h="2381250" fill="norm" stroke="1" extrusionOk="0">
                <a:moveTo>
                  <a:pt x="126992" y="0"/>
                </a:moveTo>
                <a:lnTo>
                  <a:pt x="3611570" y="0"/>
                </a:lnTo>
                <a:cubicBezTo>
                  <a:pt x="3681706" y="0"/>
                  <a:pt x="3738563" y="56856"/>
                  <a:pt x="3738563" y="126992"/>
                </a:cubicBezTo>
                <a:lnTo>
                  <a:pt x="3738563" y="2254258"/>
                </a:lnTo>
                <a:cubicBezTo>
                  <a:pt x="3738563" y="2324394"/>
                  <a:pt x="3681706" y="2381250"/>
                  <a:pt x="3611570" y="2381250"/>
                </a:cubicBezTo>
                <a:lnTo>
                  <a:pt x="126992" y="2381250"/>
                </a:lnTo>
                <a:cubicBezTo>
                  <a:pt x="56856" y="2381250"/>
                  <a:pt x="0" y="2324394"/>
                  <a:pt x="0" y="2254258"/>
                </a:cubicBezTo>
                <a:lnTo>
                  <a:pt x="0" y="126992"/>
                </a:lnTo>
                <a:cubicBezTo>
                  <a:pt x="0" y="56903"/>
                  <a:pt x="56903" y="0"/>
                  <a:pt x="126992" y="0"/>
                </a:cubicBezTo>
                <a:close/>
              </a:path>
            </a:pathLst>
          </a:custGeom>
          <a:gradFill>
            <a:gsLst>
              <a:gs pos="0">
                <a:srgbClr val="EC4899">
                  <a:alpha val="30000"/>
                </a:srgbClr>
              </a:gs>
              <a:gs pos="100000">
                <a:srgbClr val="EC4899">
                  <a:alpha val="10000"/>
                </a:srgbClr>
              </a:gs>
            </a:gsLst>
            <a:lin ang="2700000" scaled="1"/>
          </a:gradFill>
          <a:ln w="1270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 bwMode="auto">
          <a:xfrm>
            <a:off x="484186" y="4575969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 fill="norm" stroke="1" extrusionOk="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52" name="Shape 50"/>
          <p:cNvSpPr/>
          <p:nvPr/>
        </p:nvSpPr>
        <p:spPr bwMode="auto">
          <a:xfrm>
            <a:off x="599281" y="4702969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 fill="norm" stroke="1" extrusionOk="0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 bwMode="auto">
          <a:xfrm flipH="0" flipV="0">
            <a:off x="1023937" y="4687093"/>
            <a:ext cx="2141951" cy="222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5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Nginx Gateway</a:t>
            </a:r>
            <a:endParaRPr lang="en-US" sz="1600"/>
          </a:p>
        </p:txBody>
      </p:sp>
      <p:sp>
        <p:nvSpPr>
          <p:cNvPr id="54" name="Text 52"/>
          <p:cNvSpPr/>
          <p:nvPr/>
        </p:nvSpPr>
        <p:spPr bwMode="auto">
          <a:xfrm>
            <a:off x="484186" y="5147469"/>
            <a:ext cx="34686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9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Nginx acts as a </a:t>
            </a:r>
            <a:r>
              <a:rPr lang="en-US" sz="90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secure front door</a:t>
            </a:r>
            <a:r>
              <a:rPr lang="en-US" sz="9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, controlling all incoming requests.</a:t>
            </a:r>
            <a:endParaRPr lang="en-US" sz="1600"/>
          </a:p>
        </p:txBody>
      </p:sp>
      <p:sp>
        <p:nvSpPr>
          <p:cNvPr id="55" name="Shape 53"/>
          <p:cNvSpPr/>
          <p:nvPr/>
        </p:nvSpPr>
        <p:spPr bwMode="auto">
          <a:xfrm>
            <a:off x="484186" y="5455047"/>
            <a:ext cx="3413125" cy="349250"/>
          </a:xfrm>
          <a:custGeom>
            <a:avLst/>
            <a:gdLst/>
            <a:ahLst/>
            <a:cxnLst/>
            <a:rect l="l" t="t" r="r" b="b"/>
            <a:pathLst>
              <a:path w="3413125" h="349250" fill="norm" stroke="1" extrusionOk="0">
                <a:moveTo>
                  <a:pt x="63501" y="0"/>
                </a:moveTo>
                <a:lnTo>
                  <a:pt x="3349624" y="0"/>
                </a:lnTo>
                <a:cubicBezTo>
                  <a:pt x="3384695" y="0"/>
                  <a:pt x="3413125" y="28430"/>
                  <a:pt x="3413125" y="63501"/>
                </a:cubicBezTo>
                <a:lnTo>
                  <a:pt x="3413125" y="285749"/>
                </a:lnTo>
                <a:cubicBezTo>
                  <a:pt x="3413125" y="320820"/>
                  <a:pt x="3384695" y="349250"/>
                  <a:pt x="3349624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56" name="Shape 54"/>
          <p:cNvSpPr/>
          <p:nvPr/>
        </p:nvSpPr>
        <p:spPr bwMode="auto">
          <a:xfrm>
            <a:off x="595313" y="556617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57" name="Text 55"/>
          <p:cNvSpPr/>
          <p:nvPr/>
        </p:nvSpPr>
        <p:spPr bwMode="auto">
          <a:xfrm>
            <a:off x="801688" y="5550297"/>
            <a:ext cx="833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Request filtering</a:t>
            </a:r>
            <a:endParaRPr lang="en-US" sz="1600"/>
          </a:p>
        </p:txBody>
      </p:sp>
      <p:sp>
        <p:nvSpPr>
          <p:cNvPr id="58" name="Shape 56"/>
          <p:cNvSpPr/>
          <p:nvPr/>
        </p:nvSpPr>
        <p:spPr bwMode="auto">
          <a:xfrm>
            <a:off x="484186" y="5867797"/>
            <a:ext cx="3413125" cy="349250"/>
          </a:xfrm>
          <a:custGeom>
            <a:avLst/>
            <a:gdLst/>
            <a:ahLst/>
            <a:cxnLst/>
            <a:rect l="l" t="t" r="r" b="b"/>
            <a:pathLst>
              <a:path w="3413125" h="349250" fill="norm" stroke="1" extrusionOk="0">
                <a:moveTo>
                  <a:pt x="63501" y="0"/>
                </a:moveTo>
                <a:lnTo>
                  <a:pt x="3349624" y="0"/>
                </a:lnTo>
                <a:cubicBezTo>
                  <a:pt x="3384695" y="0"/>
                  <a:pt x="3413125" y="28430"/>
                  <a:pt x="3413125" y="63501"/>
                </a:cubicBezTo>
                <a:lnTo>
                  <a:pt x="3413125" y="285749"/>
                </a:lnTo>
                <a:cubicBezTo>
                  <a:pt x="3413125" y="320820"/>
                  <a:pt x="3384695" y="349250"/>
                  <a:pt x="3349624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59" name="Shape 57"/>
          <p:cNvSpPr/>
          <p:nvPr/>
        </p:nvSpPr>
        <p:spPr bwMode="auto">
          <a:xfrm>
            <a:off x="595313" y="597892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60" name="Text 58"/>
          <p:cNvSpPr/>
          <p:nvPr/>
        </p:nvSpPr>
        <p:spPr bwMode="auto">
          <a:xfrm flipH="0" flipV="0">
            <a:off x="801687" y="5963046"/>
            <a:ext cx="1556998" cy="158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SSL/TLS encryption</a:t>
            </a:r>
            <a:endParaRPr lang="en-US" sz="1600"/>
          </a:p>
        </p:txBody>
      </p:sp>
      <p:sp>
        <p:nvSpPr>
          <p:cNvPr id="61" name="Shape 59"/>
          <p:cNvSpPr/>
          <p:nvPr/>
        </p:nvSpPr>
        <p:spPr bwMode="auto">
          <a:xfrm>
            <a:off x="484186" y="6280547"/>
            <a:ext cx="3413125" cy="349250"/>
          </a:xfrm>
          <a:custGeom>
            <a:avLst/>
            <a:gdLst/>
            <a:ahLst/>
            <a:cxnLst/>
            <a:rect l="l" t="t" r="r" b="b"/>
            <a:pathLst>
              <a:path w="3413125" h="349250" fill="norm" stroke="1" extrusionOk="0">
                <a:moveTo>
                  <a:pt x="63501" y="0"/>
                </a:moveTo>
                <a:lnTo>
                  <a:pt x="3349624" y="0"/>
                </a:lnTo>
                <a:cubicBezTo>
                  <a:pt x="3384695" y="0"/>
                  <a:pt x="3413125" y="28430"/>
                  <a:pt x="3413125" y="63501"/>
                </a:cubicBezTo>
                <a:lnTo>
                  <a:pt x="3413125" y="285749"/>
                </a:lnTo>
                <a:cubicBezTo>
                  <a:pt x="3413125" y="320820"/>
                  <a:pt x="3384695" y="349250"/>
                  <a:pt x="3349624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62" name="Shape 60"/>
          <p:cNvSpPr/>
          <p:nvPr/>
        </p:nvSpPr>
        <p:spPr bwMode="auto">
          <a:xfrm>
            <a:off x="595313" y="639167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63" name="Text 61"/>
          <p:cNvSpPr/>
          <p:nvPr/>
        </p:nvSpPr>
        <p:spPr bwMode="auto">
          <a:xfrm>
            <a:off x="801688" y="6375797"/>
            <a:ext cx="642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Rate limiting</a:t>
            </a:r>
            <a:endParaRPr lang="en-US" sz="1600"/>
          </a:p>
        </p:txBody>
      </p:sp>
      <p:sp>
        <p:nvSpPr>
          <p:cNvPr id="64" name="Shape 62"/>
          <p:cNvSpPr/>
          <p:nvPr/>
        </p:nvSpPr>
        <p:spPr bwMode="auto">
          <a:xfrm>
            <a:off x="4226719" y="4413250"/>
            <a:ext cx="3738562" cy="2381250"/>
          </a:xfrm>
          <a:custGeom>
            <a:avLst/>
            <a:gdLst/>
            <a:ahLst/>
            <a:cxnLst/>
            <a:rect l="l" t="t" r="r" b="b"/>
            <a:pathLst>
              <a:path w="3738563" h="2381250" fill="norm" stroke="1" extrusionOk="0">
                <a:moveTo>
                  <a:pt x="126992" y="0"/>
                </a:moveTo>
                <a:lnTo>
                  <a:pt x="3611570" y="0"/>
                </a:lnTo>
                <a:cubicBezTo>
                  <a:pt x="3681706" y="0"/>
                  <a:pt x="3738563" y="56856"/>
                  <a:pt x="3738563" y="126992"/>
                </a:cubicBezTo>
                <a:lnTo>
                  <a:pt x="3738563" y="2254258"/>
                </a:lnTo>
                <a:cubicBezTo>
                  <a:pt x="3738563" y="2324394"/>
                  <a:pt x="3681706" y="2381250"/>
                  <a:pt x="3611570" y="2381250"/>
                </a:cubicBezTo>
                <a:lnTo>
                  <a:pt x="126992" y="2381250"/>
                </a:lnTo>
                <a:cubicBezTo>
                  <a:pt x="56856" y="2381250"/>
                  <a:pt x="0" y="2324394"/>
                  <a:pt x="0" y="2254258"/>
                </a:cubicBezTo>
                <a:lnTo>
                  <a:pt x="0" y="126992"/>
                </a:lnTo>
                <a:cubicBezTo>
                  <a:pt x="0" y="56903"/>
                  <a:pt x="56903" y="0"/>
                  <a:pt x="126992" y="0"/>
                </a:cubicBezTo>
                <a:close/>
              </a:path>
            </a:pathLst>
          </a:custGeom>
          <a:gradFill>
            <a:gsLst>
              <a:gs pos="0">
                <a:srgbClr val="7C3AED">
                  <a:alpha val="30000"/>
                </a:srgbClr>
              </a:gs>
              <a:gs pos="100000">
                <a:srgbClr val="7C3AED">
                  <a:alpha val="10000"/>
                </a:srgbClr>
              </a:gs>
            </a:gsLst>
            <a:lin ang="2700000" scaled="1"/>
          </a:gra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 bwMode="auto">
          <a:xfrm>
            <a:off x="4389438" y="4575969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 fill="norm" stroke="1" extrusionOk="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66" name="Shape 64"/>
          <p:cNvSpPr/>
          <p:nvPr/>
        </p:nvSpPr>
        <p:spPr bwMode="auto">
          <a:xfrm>
            <a:off x="4504531" y="4702969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 fill="norm" stroke="1" extrusionOk="0">
                <a:moveTo>
                  <a:pt x="15255" y="-9265"/>
                </a:moveTo>
                <a:cubicBezTo>
                  <a:pt x="11757" y="-12762"/>
                  <a:pt x="6102" y="-12762"/>
                  <a:pt x="2642" y="-9265"/>
                </a:cubicBezTo>
                <a:cubicBezTo>
                  <a:pt x="-819" y="-5767"/>
                  <a:pt x="-856" y="-112"/>
                  <a:pt x="2604" y="3386"/>
                </a:cubicBezTo>
                <a:lnTo>
                  <a:pt x="199058" y="199839"/>
                </a:lnTo>
                <a:cubicBezTo>
                  <a:pt x="202555" y="203336"/>
                  <a:pt x="208211" y="203336"/>
                  <a:pt x="211671" y="199839"/>
                </a:cubicBezTo>
                <a:cubicBezTo>
                  <a:pt x="215131" y="196342"/>
                  <a:pt x="215168" y="190686"/>
                  <a:pt x="211671" y="187226"/>
                </a:cubicBezTo>
                <a:lnTo>
                  <a:pt x="175803" y="151358"/>
                </a:lnTo>
                <a:cubicBezTo>
                  <a:pt x="176808" y="150465"/>
                  <a:pt x="177812" y="149572"/>
                  <a:pt x="178780" y="148679"/>
                </a:cubicBezTo>
                <a:cubicBezTo>
                  <a:pt x="196193" y="132494"/>
                  <a:pt x="207838" y="113184"/>
                  <a:pt x="213382" y="99901"/>
                </a:cubicBezTo>
                <a:cubicBezTo>
                  <a:pt x="214610" y="96962"/>
                  <a:pt x="214610" y="93687"/>
                  <a:pt x="213382" y="90748"/>
                </a:cubicBezTo>
                <a:cubicBezTo>
                  <a:pt x="207838" y="77465"/>
                  <a:pt x="196193" y="58117"/>
                  <a:pt x="178780" y="41970"/>
                </a:cubicBezTo>
                <a:cubicBezTo>
                  <a:pt x="161255" y="25710"/>
                  <a:pt x="137182" y="11981"/>
                  <a:pt x="107119" y="11981"/>
                </a:cubicBezTo>
                <a:cubicBezTo>
                  <a:pt x="85985" y="11981"/>
                  <a:pt x="67828" y="18752"/>
                  <a:pt x="52797" y="28426"/>
                </a:cubicBezTo>
                <a:lnTo>
                  <a:pt x="15255" y="-9265"/>
                </a:lnTo>
                <a:close/>
                <a:moveTo>
                  <a:pt x="76088" y="51606"/>
                </a:moveTo>
                <a:cubicBezTo>
                  <a:pt x="84832" y="45355"/>
                  <a:pt x="95585" y="41672"/>
                  <a:pt x="107156" y="41672"/>
                </a:cubicBezTo>
                <a:cubicBezTo>
                  <a:pt x="136736" y="41672"/>
                  <a:pt x="160734" y="65670"/>
                  <a:pt x="160734" y="95250"/>
                </a:cubicBezTo>
                <a:cubicBezTo>
                  <a:pt x="160734" y="106821"/>
                  <a:pt x="157051" y="117537"/>
                  <a:pt x="150800" y="126318"/>
                </a:cubicBezTo>
                <a:lnTo>
                  <a:pt x="137889" y="113407"/>
                </a:lnTo>
                <a:cubicBezTo>
                  <a:pt x="142615" y="105445"/>
                  <a:pt x="144214" y="95659"/>
                  <a:pt x="141647" y="85985"/>
                </a:cubicBezTo>
                <a:cubicBezTo>
                  <a:pt x="136550" y="66935"/>
                  <a:pt x="116942" y="55625"/>
                  <a:pt x="97892" y="60722"/>
                </a:cubicBezTo>
                <a:cubicBezTo>
                  <a:pt x="94692" y="61578"/>
                  <a:pt x="91678" y="62843"/>
                  <a:pt x="88962" y="64443"/>
                </a:cubicBezTo>
                <a:lnTo>
                  <a:pt x="76051" y="51532"/>
                </a:lnTo>
                <a:close/>
                <a:moveTo>
                  <a:pt x="121034" y="147005"/>
                </a:moveTo>
                <a:cubicBezTo>
                  <a:pt x="116607" y="148196"/>
                  <a:pt x="111956" y="148828"/>
                  <a:pt x="107156" y="148828"/>
                </a:cubicBezTo>
                <a:cubicBezTo>
                  <a:pt x="77577" y="148828"/>
                  <a:pt x="53578" y="124830"/>
                  <a:pt x="53578" y="95250"/>
                </a:cubicBezTo>
                <a:cubicBezTo>
                  <a:pt x="53578" y="90450"/>
                  <a:pt x="54211" y="85799"/>
                  <a:pt x="55401" y="81372"/>
                </a:cubicBezTo>
                <a:lnTo>
                  <a:pt x="25822" y="51792"/>
                </a:lnTo>
                <a:cubicBezTo>
                  <a:pt x="13692" y="65484"/>
                  <a:pt x="5358" y="79995"/>
                  <a:pt x="930" y="90674"/>
                </a:cubicBezTo>
                <a:cubicBezTo>
                  <a:pt x="-298" y="93613"/>
                  <a:pt x="-298" y="96887"/>
                  <a:pt x="930" y="99826"/>
                </a:cubicBezTo>
                <a:cubicBezTo>
                  <a:pt x="6474" y="113109"/>
                  <a:pt x="18120" y="132457"/>
                  <a:pt x="35533" y="148605"/>
                </a:cubicBezTo>
                <a:cubicBezTo>
                  <a:pt x="53057" y="164864"/>
                  <a:pt x="77130" y="178594"/>
                  <a:pt x="107193" y="178594"/>
                </a:cubicBezTo>
                <a:cubicBezTo>
                  <a:pt x="121072" y="178594"/>
                  <a:pt x="133685" y="175654"/>
                  <a:pt x="144959" y="170929"/>
                </a:cubicBezTo>
                <a:lnTo>
                  <a:pt x="121072" y="14704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 bwMode="auto">
          <a:xfrm flipH="0" flipV="0">
            <a:off x="4929187" y="4687093"/>
            <a:ext cx="2385727" cy="222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5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Environment Security</a:t>
            </a:r>
            <a:endParaRPr lang="en-US" sz="1600"/>
          </a:p>
        </p:txBody>
      </p:sp>
      <p:sp>
        <p:nvSpPr>
          <p:cNvPr id="68" name="Text 66"/>
          <p:cNvSpPr/>
          <p:nvPr/>
        </p:nvSpPr>
        <p:spPr bwMode="auto">
          <a:xfrm>
            <a:off x="4389438" y="5147469"/>
            <a:ext cx="34686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9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Sensitive settings are stored in </a:t>
            </a:r>
            <a:r>
              <a:rPr lang="en-US" sz="90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environment variables</a:t>
            </a:r>
            <a:r>
              <a:rPr lang="en-US" sz="9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instead of code.</a:t>
            </a:r>
            <a:endParaRPr lang="en-US" sz="1600"/>
          </a:p>
        </p:txBody>
      </p:sp>
      <p:sp>
        <p:nvSpPr>
          <p:cNvPr id="69" name="Shape 67"/>
          <p:cNvSpPr/>
          <p:nvPr/>
        </p:nvSpPr>
        <p:spPr bwMode="auto">
          <a:xfrm>
            <a:off x="4389438" y="5455047"/>
            <a:ext cx="3413125" cy="349250"/>
          </a:xfrm>
          <a:custGeom>
            <a:avLst/>
            <a:gdLst/>
            <a:ahLst/>
            <a:cxnLst/>
            <a:rect l="l" t="t" r="r" b="b"/>
            <a:pathLst>
              <a:path w="3413125" h="349250" fill="norm" stroke="1" extrusionOk="0">
                <a:moveTo>
                  <a:pt x="63501" y="0"/>
                </a:moveTo>
                <a:lnTo>
                  <a:pt x="3349624" y="0"/>
                </a:lnTo>
                <a:cubicBezTo>
                  <a:pt x="3384695" y="0"/>
                  <a:pt x="3413125" y="28430"/>
                  <a:pt x="3413125" y="63501"/>
                </a:cubicBezTo>
                <a:lnTo>
                  <a:pt x="3413125" y="285749"/>
                </a:lnTo>
                <a:cubicBezTo>
                  <a:pt x="3413125" y="320820"/>
                  <a:pt x="3384695" y="349250"/>
                  <a:pt x="3349624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70" name="Shape 68"/>
          <p:cNvSpPr/>
          <p:nvPr/>
        </p:nvSpPr>
        <p:spPr bwMode="auto">
          <a:xfrm>
            <a:off x="4500563" y="556617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71" name="Text 69"/>
          <p:cNvSpPr/>
          <p:nvPr/>
        </p:nvSpPr>
        <p:spPr bwMode="auto">
          <a:xfrm>
            <a:off x="4706938" y="5550297"/>
            <a:ext cx="1119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No hardcoded secrets</a:t>
            </a:r>
            <a:endParaRPr lang="en-US" sz="1600"/>
          </a:p>
        </p:txBody>
      </p:sp>
      <p:sp>
        <p:nvSpPr>
          <p:cNvPr id="72" name="Shape 70"/>
          <p:cNvSpPr/>
          <p:nvPr/>
        </p:nvSpPr>
        <p:spPr bwMode="auto">
          <a:xfrm>
            <a:off x="4389438" y="5867797"/>
            <a:ext cx="3413125" cy="349250"/>
          </a:xfrm>
          <a:custGeom>
            <a:avLst/>
            <a:gdLst/>
            <a:ahLst/>
            <a:cxnLst/>
            <a:rect l="l" t="t" r="r" b="b"/>
            <a:pathLst>
              <a:path w="3413125" h="349250" fill="norm" stroke="1" extrusionOk="0">
                <a:moveTo>
                  <a:pt x="63501" y="0"/>
                </a:moveTo>
                <a:lnTo>
                  <a:pt x="3349624" y="0"/>
                </a:lnTo>
                <a:cubicBezTo>
                  <a:pt x="3384695" y="0"/>
                  <a:pt x="3413125" y="28430"/>
                  <a:pt x="3413125" y="63501"/>
                </a:cubicBezTo>
                <a:lnTo>
                  <a:pt x="3413125" y="285749"/>
                </a:lnTo>
                <a:cubicBezTo>
                  <a:pt x="3413125" y="320820"/>
                  <a:pt x="3384695" y="349250"/>
                  <a:pt x="3349624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73" name="Shape 71"/>
          <p:cNvSpPr/>
          <p:nvPr/>
        </p:nvSpPr>
        <p:spPr bwMode="auto">
          <a:xfrm>
            <a:off x="4500563" y="597892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74" name="Text 72"/>
          <p:cNvSpPr/>
          <p:nvPr/>
        </p:nvSpPr>
        <p:spPr bwMode="auto">
          <a:xfrm>
            <a:off x="4706938" y="5963047"/>
            <a:ext cx="9763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Credential isolation</a:t>
            </a:r>
            <a:endParaRPr lang="en-US" sz="1600"/>
          </a:p>
        </p:txBody>
      </p:sp>
      <p:sp>
        <p:nvSpPr>
          <p:cNvPr id="75" name="Shape 73"/>
          <p:cNvSpPr/>
          <p:nvPr/>
        </p:nvSpPr>
        <p:spPr bwMode="auto">
          <a:xfrm>
            <a:off x="4389438" y="6280547"/>
            <a:ext cx="3413125" cy="349250"/>
          </a:xfrm>
          <a:custGeom>
            <a:avLst/>
            <a:gdLst/>
            <a:ahLst/>
            <a:cxnLst/>
            <a:rect l="l" t="t" r="r" b="b"/>
            <a:pathLst>
              <a:path w="3413125" h="349250" fill="norm" stroke="1" extrusionOk="0">
                <a:moveTo>
                  <a:pt x="63501" y="0"/>
                </a:moveTo>
                <a:lnTo>
                  <a:pt x="3349624" y="0"/>
                </a:lnTo>
                <a:cubicBezTo>
                  <a:pt x="3384695" y="0"/>
                  <a:pt x="3413125" y="28430"/>
                  <a:pt x="3413125" y="63501"/>
                </a:cubicBezTo>
                <a:lnTo>
                  <a:pt x="3413125" y="285749"/>
                </a:lnTo>
                <a:cubicBezTo>
                  <a:pt x="3413125" y="320820"/>
                  <a:pt x="3384695" y="349250"/>
                  <a:pt x="3349624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76" name="Shape 74"/>
          <p:cNvSpPr/>
          <p:nvPr/>
        </p:nvSpPr>
        <p:spPr bwMode="auto">
          <a:xfrm>
            <a:off x="4500563" y="639167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77" name="Text 75"/>
          <p:cNvSpPr/>
          <p:nvPr/>
        </p:nvSpPr>
        <p:spPr bwMode="auto">
          <a:xfrm flipH="0" flipV="0">
            <a:off x="4706937" y="6375796"/>
            <a:ext cx="1389061" cy="158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Config management</a:t>
            </a:r>
            <a:endParaRPr lang="en-US" sz="1600"/>
          </a:p>
        </p:txBody>
      </p:sp>
      <p:sp>
        <p:nvSpPr>
          <p:cNvPr id="78" name="Shape 76"/>
          <p:cNvSpPr/>
          <p:nvPr/>
        </p:nvSpPr>
        <p:spPr bwMode="auto">
          <a:xfrm>
            <a:off x="8131969" y="4413250"/>
            <a:ext cx="3738562" cy="2381250"/>
          </a:xfrm>
          <a:custGeom>
            <a:avLst/>
            <a:gdLst/>
            <a:ahLst/>
            <a:cxnLst/>
            <a:rect l="l" t="t" r="r" b="b"/>
            <a:pathLst>
              <a:path w="3738563" h="2381250" fill="norm" stroke="1" extrusionOk="0">
                <a:moveTo>
                  <a:pt x="126992" y="0"/>
                </a:moveTo>
                <a:lnTo>
                  <a:pt x="3611570" y="0"/>
                </a:lnTo>
                <a:cubicBezTo>
                  <a:pt x="3681706" y="0"/>
                  <a:pt x="3738563" y="56856"/>
                  <a:pt x="3738563" y="126992"/>
                </a:cubicBezTo>
                <a:lnTo>
                  <a:pt x="3738563" y="2254258"/>
                </a:lnTo>
                <a:cubicBezTo>
                  <a:pt x="3738563" y="2324394"/>
                  <a:pt x="3681706" y="2381250"/>
                  <a:pt x="3611570" y="2381250"/>
                </a:cubicBezTo>
                <a:lnTo>
                  <a:pt x="126992" y="2381250"/>
                </a:lnTo>
                <a:cubicBezTo>
                  <a:pt x="56856" y="2381250"/>
                  <a:pt x="0" y="2324394"/>
                  <a:pt x="0" y="2254258"/>
                </a:cubicBezTo>
                <a:lnTo>
                  <a:pt x="0" y="126992"/>
                </a:lnTo>
                <a:cubicBezTo>
                  <a:pt x="0" y="56903"/>
                  <a:pt x="56903" y="0"/>
                  <a:pt x="126992" y="0"/>
                </a:cubicBezTo>
                <a:close/>
              </a:path>
            </a:pathLst>
          </a:custGeom>
          <a:gradFill>
            <a:gsLst>
              <a:gs pos="0">
                <a:srgbClr val="EC4899">
                  <a:alpha val="30000"/>
                </a:srgbClr>
              </a:gs>
              <a:gs pos="100000">
                <a:srgbClr val="EC4899">
                  <a:alpha val="10000"/>
                </a:srgbClr>
              </a:gs>
            </a:gsLst>
            <a:lin ang="2700000" scaled="1"/>
          </a:gradFill>
          <a:ln w="1270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 bwMode="auto">
          <a:xfrm>
            <a:off x="9683750" y="4999633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 fill="norm" stroke="1" extrusionOk="0">
                <a:moveTo>
                  <a:pt x="127000" y="0"/>
                </a:moveTo>
                <a:lnTo>
                  <a:pt x="508000" y="0"/>
                </a:lnTo>
                <a:cubicBezTo>
                  <a:pt x="578093" y="0"/>
                  <a:pt x="635000" y="56907"/>
                  <a:pt x="635000" y="127000"/>
                </a:cubicBezTo>
                <a:lnTo>
                  <a:pt x="635000" y="508000"/>
                </a:lnTo>
                <a:cubicBezTo>
                  <a:pt x="635000" y="578093"/>
                  <a:pt x="578093" y="635000"/>
                  <a:pt x="508000" y="635000"/>
                </a:cubicBezTo>
                <a:lnTo>
                  <a:pt x="127000" y="635000"/>
                </a:lnTo>
                <a:cubicBezTo>
                  <a:pt x="56907" y="635000"/>
                  <a:pt x="0" y="578093"/>
                  <a:pt x="0" y="508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</p:spPr>
      </p:sp>
      <p:sp>
        <p:nvSpPr>
          <p:cNvPr id="80" name="Shape 78"/>
          <p:cNvSpPr/>
          <p:nvPr/>
        </p:nvSpPr>
        <p:spPr bwMode="auto">
          <a:xfrm>
            <a:off x="9858375" y="517425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 fill="norm" stroke="1" extrusionOk="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1" name="Text 79"/>
          <p:cNvSpPr/>
          <p:nvPr/>
        </p:nvSpPr>
        <p:spPr bwMode="auto">
          <a:xfrm flipH="0" flipV="0">
            <a:off x="9409533" y="5761632"/>
            <a:ext cx="1521652" cy="222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12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Defense in Depth</a:t>
            </a:r>
            <a:endParaRPr lang="en-US" sz="1600"/>
          </a:p>
        </p:txBody>
      </p:sp>
      <p:sp>
        <p:nvSpPr>
          <p:cNvPr id="82" name="Text 80"/>
          <p:cNvSpPr/>
          <p:nvPr/>
        </p:nvSpPr>
        <p:spPr bwMode="auto">
          <a:xfrm>
            <a:off x="8622357" y="6047383"/>
            <a:ext cx="2754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9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Multiple security layers protect the system at every level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11">
    <p:bg>
      <p:bgPr shadeToTitle="0">
        <a:solidFill>
          <a:srgbClr val="1A0F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347350" y="364718"/>
            <a:ext cx="486291" cy="486291"/>
          </a:xfrm>
          <a:custGeom>
            <a:avLst/>
            <a:gdLst/>
            <a:ahLst/>
            <a:cxnLst/>
            <a:rect l="l" t="t" r="r" b="b"/>
            <a:pathLst>
              <a:path w="486291" h="486291" fill="norm" stroke="1" extrusionOk="0">
                <a:moveTo>
                  <a:pt x="104207" y="0"/>
                </a:moveTo>
                <a:lnTo>
                  <a:pt x="382083" y="0"/>
                </a:lnTo>
                <a:cubicBezTo>
                  <a:pt x="439597" y="0"/>
                  <a:pt x="486291" y="46694"/>
                  <a:pt x="486291" y="104207"/>
                </a:cubicBezTo>
                <a:lnTo>
                  <a:pt x="486291" y="382083"/>
                </a:lnTo>
                <a:cubicBezTo>
                  <a:pt x="486291" y="439597"/>
                  <a:pt x="439597" y="486291"/>
                  <a:pt x="382083" y="486291"/>
                </a:cubicBezTo>
                <a:lnTo>
                  <a:pt x="104207" y="486291"/>
                </a:lnTo>
                <a:cubicBezTo>
                  <a:pt x="46694" y="486291"/>
                  <a:pt x="0" y="439597"/>
                  <a:pt x="0" y="382083"/>
                </a:cubicBezTo>
                <a:lnTo>
                  <a:pt x="0" y="104207"/>
                </a:lnTo>
                <a:cubicBezTo>
                  <a:pt x="0" y="46694"/>
                  <a:pt x="46694" y="0"/>
                  <a:pt x="104207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 bwMode="auto">
          <a:xfrm>
            <a:off x="486291" y="503658"/>
            <a:ext cx="208410" cy="208410"/>
          </a:xfrm>
          <a:custGeom>
            <a:avLst/>
            <a:gdLst/>
            <a:ahLst/>
            <a:cxnLst/>
            <a:rect l="l" t="t" r="r" b="b"/>
            <a:pathLst>
              <a:path w="208410" h="208410" fill="norm" stroke="1" extrusionOk="0">
                <a:moveTo>
                  <a:pt x="104205" y="208410"/>
                </a:moveTo>
                <a:cubicBezTo>
                  <a:pt x="161718" y="208410"/>
                  <a:pt x="208410" y="161718"/>
                  <a:pt x="208410" y="104205"/>
                </a:cubicBezTo>
                <a:cubicBezTo>
                  <a:pt x="208410" y="46693"/>
                  <a:pt x="161718" y="0"/>
                  <a:pt x="104205" y="0"/>
                </a:cubicBezTo>
                <a:cubicBezTo>
                  <a:pt x="46693" y="0"/>
                  <a:pt x="0" y="46693"/>
                  <a:pt x="0" y="104205"/>
                </a:cubicBezTo>
                <a:cubicBezTo>
                  <a:pt x="0" y="161718"/>
                  <a:pt x="46693" y="208410"/>
                  <a:pt x="104205" y="208410"/>
                </a:cubicBezTo>
                <a:close/>
                <a:moveTo>
                  <a:pt x="104205" y="71641"/>
                </a:moveTo>
                <a:cubicBezTo>
                  <a:pt x="97000" y="71641"/>
                  <a:pt x="91179" y="77462"/>
                  <a:pt x="91179" y="84667"/>
                </a:cubicBezTo>
                <a:cubicBezTo>
                  <a:pt x="91179" y="90080"/>
                  <a:pt x="86824" y="94436"/>
                  <a:pt x="81410" y="94436"/>
                </a:cubicBezTo>
                <a:cubicBezTo>
                  <a:pt x="75996" y="94436"/>
                  <a:pt x="71641" y="90080"/>
                  <a:pt x="71641" y="84667"/>
                </a:cubicBezTo>
                <a:cubicBezTo>
                  <a:pt x="71641" y="66675"/>
                  <a:pt x="86213" y="52103"/>
                  <a:pt x="104205" y="52103"/>
                </a:cubicBezTo>
                <a:cubicBezTo>
                  <a:pt x="122197" y="52103"/>
                  <a:pt x="136769" y="66675"/>
                  <a:pt x="136769" y="84667"/>
                </a:cubicBezTo>
                <a:cubicBezTo>
                  <a:pt x="136769" y="103879"/>
                  <a:pt x="122115" y="112021"/>
                  <a:pt x="113974" y="114992"/>
                </a:cubicBezTo>
                <a:lnTo>
                  <a:pt x="113974" y="116539"/>
                </a:lnTo>
                <a:cubicBezTo>
                  <a:pt x="113974" y="121953"/>
                  <a:pt x="109619" y="126308"/>
                  <a:pt x="104205" y="126308"/>
                </a:cubicBezTo>
                <a:cubicBezTo>
                  <a:pt x="98791" y="126308"/>
                  <a:pt x="94436" y="121953"/>
                  <a:pt x="94436" y="116539"/>
                </a:cubicBezTo>
                <a:lnTo>
                  <a:pt x="94436" y="113242"/>
                </a:lnTo>
                <a:cubicBezTo>
                  <a:pt x="94436" y="104897"/>
                  <a:pt x="100460" y="98913"/>
                  <a:pt x="106688" y="96878"/>
                </a:cubicBezTo>
                <a:cubicBezTo>
                  <a:pt x="109293" y="96023"/>
                  <a:pt x="112061" y="94639"/>
                  <a:pt x="114096" y="92686"/>
                </a:cubicBezTo>
                <a:cubicBezTo>
                  <a:pt x="115847" y="90976"/>
                  <a:pt x="117231" y="88615"/>
                  <a:pt x="117231" y="84707"/>
                </a:cubicBezTo>
                <a:cubicBezTo>
                  <a:pt x="117231" y="77503"/>
                  <a:pt x="111410" y="71682"/>
                  <a:pt x="104205" y="71682"/>
                </a:cubicBezTo>
                <a:close/>
                <a:moveTo>
                  <a:pt x="91179" y="149795"/>
                </a:moveTo>
                <a:cubicBezTo>
                  <a:pt x="91179" y="142606"/>
                  <a:pt x="97016" y="136769"/>
                  <a:pt x="104205" y="136769"/>
                </a:cubicBezTo>
                <a:cubicBezTo>
                  <a:pt x="111394" y="136769"/>
                  <a:pt x="117231" y="142606"/>
                  <a:pt x="117231" y="149795"/>
                </a:cubicBezTo>
                <a:cubicBezTo>
                  <a:pt x="117231" y="156984"/>
                  <a:pt x="111394" y="162821"/>
                  <a:pt x="104205" y="162821"/>
                </a:cubicBezTo>
                <a:cubicBezTo>
                  <a:pt x="97016" y="162821"/>
                  <a:pt x="91179" y="156984"/>
                  <a:pt x="91179" y="14979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 bwMode="auto">
          <a:xfrm flipH="0" flipV="0">
            <a:off x="972580" y="347349"/>
            <a:ext cx="5394514" cy="41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30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Technology Justification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 bwMode="auto">
          <a:xfrm>
            <a:off x="972581" y="833641"/>
            <a:ext cx="1111521" cy="34735"/>
          </a:xfrm>
          <a:custGeom>
            <a:avLst/>
            <a:gdLst/>
            <a:ahLst/>
            <a:cxnLst/>
            <a:rect l="l" t="t" r="r" b="b"/>
            <a:pathLst>
              <a:path w="1111521" h="34735" fill="norm" stroke="1" extrusionOk="0">
                <a:moveTo>
                  <a:pt x="17368" y="0"/>
                </a:moveTo>
                <a:lnTo>
                  <a:pt x="1094154" y="0"/>
                </a:lnTo>
                <a:cubicBezTo>
                  <a:pt x="1103746" y="0"/>
                  <a:pt x="1111521" y="7776"/>
                  <a:pt x="1111521" y="17368"/>
                </a:cubicBezTo>
                <a:lnTo>
                  <a:pt x="1111521" y="17368"/>
                </a:lnTo>
                <a:cubicBezTo>
                  <a:pt x="1111521" y="26959"/>
                  <a:pt x="1103746" y="34735"/>
                  <a:pt x="1094154" y="34735"/>
                </a:cubicBezTo>
                <a:lnTo>
                  <a:pt x="17368" y="34735"/>
                </a:lnTo>
                <a:cubicBezTo>
                  <a:pt x="7782" y="34735"/>
                  <a:pt x="0" y="26953"/>
                  <a:pt x="0" y="17368"/>
                </a:cubicBezTo>
                <a:lnTo>
                  <a:pt x="0" y="17368"/>
                </a:lnTo>
                <a:cubicBezTo>
                  <a:pt x="0" y="7782"/>
                  <a:pt x="7782" y="0"/>
                  <a:pt x="17368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 bwMode="auto">
          <a:xfrm>
            <a:off x="351692" y="1046393"/>
            <a:ext cx="5653128" cy="1814906"/>
          </a:xfrm>
          <a:custGeom>
            <a:avLst/>
            <a:gdLst/>
            <a:ahLst/>
            <a:cxnLst/>
            <a:rect l="l" t="t" r="r" b="b"/>
            <a:pathLst>
              <a:path w="5653128" h="1814906" fill="norm" stroke="1" extrusionOk="0">
                <a:moveTo>
                  <a:pt x="138949" y="0"/>
                </a:moveTo>
                <a:lnTo>
                  <a:pt x="5514179" y="0"/>
                </a:lnTo>
                <a:cubicBezTo>
                  <a:pt x="5590919" y="0"/>
                  <a:pt x="5653128" y="62210"/>
                  <a:pt x="5653128" y="138949"/>
                </a:cubicBezTo>
                <a:lnTo>
                  <a:pt x="5653128" y="1675957"/>
                </a:lnTo>
                <a:cubicBezTo>
                  <a:pt x="5653128" y="1752696"/>
                  <a:pt x="5590919" y="1814906"/>
                  <a:pt x="5514179" y="1814906"/>
                </a:cubicBezTo>
                <a:lnTo>
                  <a:pt x="138949" y="1814906"/>
                </a:lnTo>
                <a:cubicBezTo>
                  <a:pt x="62210" y="1814906"/>
                  <a:pt x="0" y="1752696"/>
                  <a:pt x="0" y="1675957"/>
                </a:cubicBezTo>
                <a:lnTo>
                  <a:pt x="0" y="138949"/>
                </a:lnTo>
                <a:cubicBezTo>
                  <a:pt x="0" y="62210"/>
                  <a:pt x="62210" y="0"/>
                  <a:pt x="138949" y="0"/>
                </a:cubicBezTo>
                <a:close/>
              </a:path>
            </a:pathLst>
          </a:custGeom>
          <a:gradFill>
            <a:gsLst>
              <a:gs pos="0">
                <a:srgbClr val="7C3AED">
                  <a:alpha val="30000"/>
                </a:srgbClr>
              </a:gs>
              <a:gs pos="100000">
                <a:srgbClr val="7C3AED">
                  <a:alpha val="10000"/>
                </a:srgbClr>
              </a:gs>
            </a:gsLst>
            <a:lin ang="2700000" scaled="1"/>
          </a:gra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 bwMode="auto">
          <a:xfrm>
            <a:off x="529709" y="1224410"/>
            <a:ext cx="486291" cy="486291"/>
          </a:xfrm>
          <a:custGeom>
            <a:avLst/>
            <a:gdLst/>
            <a:ahLst/>
            <a:cxnLst/>
            <a:rect l="l" t="t" r="r" b="b"/>
            <a:pathLst>
              <a:path w="486291" h="486291" fill="norm" stroke="1" extrusionOk="0">
                <a:moveTo>
                  <a:pt x="104207" y="0"/>
                </a:moveTo>
                <a:lnTo>
                  <a:pt x="382083" y="0"/>
                </a:lnTo>
                <a:cubicBezTo>
                  <a:pt x="439597" y="0"/>
                  <a:pt x="486291" y="46694"/>
                  <a:pt x="486291" y="104207"/>
                </a:cubicBezTo>
                <a:lnTo>
                  <a:pt x="486291" y="382083"/>
                </a:lnTo>
                <a:cubicBezTo>
                  <a:pt x="486291" y="439597"/>
                  <a:pt x="439597" y="486291"/>
                  <a:pt x="382083" y="486291"/>
                </a:cubicBezTo>
                <a:lnTo>
                  <a:pt x="104207" y="486291"/>
                </a:lnTo>
                <a:cubicBezTo>
                  <a:pt x="46694" y="486291"/>
                  <a:pt x="0" y="439597"/>
                  <a:pt x="0" y="382083"/>
                </a:cubicBezTo>
                <a:lnTo>
                  <a:pt x="0" y="104207"/>
                </a:lnTo>
                <a:cubicBezTo>
                  <a:pt x="0" y="46694"/>
                  <a:pt x="46694" y="0"/>
                  <a:pt x="104207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 bwMode="auto">
          <a:xfrm>
            <a:off x="681674" y="1363349"/>
            <a:ext cx="182359" cy="208410"/>
          </a:xfrm>
          <a:custGeom>
            <a:avLst/>
            <a:gdLst/>
            <a:ahLst/>
            <a:cxnLst/>
            <a:rect l="l" t="t" r="r" b="b"/>
            <a:pathLst>
              <a:path w="182359" h="208410" fill="norm" stroke="1" extrusionOk="0">
                <a:moveTo>
                  <a:pt x="137909" y="-4030"/>
                </a:moveTo>
                <a:cubicBezTo>
                  <a:pt x="142753" y="-529"/>
                  <a:pt x="144544" y="5821"/>
                  <a:pt x="142346" y="11357"/>
                </a:cubicBezTo>
                <a:lnTo>
                  <a:pt x="110433" y="91179"/>
                </a:lnTo>
                <a:lnTo>
                  <a:pt x="169333" y="91179"/>
                </a:lnTo>
                <a:cubicBezTo>
                  <a:pt x="174829" y="91179"/>
                  <a:pt x="179713" y="94599"/>
                  <a:pt x="181586" y="99768"/>
                </a:cubicBezTo>
                <a:cubicBezTo>
                  <a:pt x="183458" y="104938"/>
                  <a:pt x="181871" y="110718"/>
                  <a:pt x="177678" y="114219"/>
                </a:cubicBezTo>
                <a:lnTo>
                  <a:pt x="60447" y="211911"/>
                </a:lnTo>
                <a:cubicBezTo>
                  <a:pt x="55847" y="215737"/>
                  <a:pt x="49294" y="215941"/>
                  <a:pt x="44450" y="212440"/>
                </a:cubicBezTo>
                <a:cubicBezTo>
                  <a:pt x="39606" y="208939"/>
                  <a:pt x="37815" y="202589"/>
                  <a:pt x="40013" y="197054"/>
                </a:cubicBezTo>
                <a:lnTo>
                  <a:pt x="71926" y="117231"/>
                </a:lnTo>
                <a:lnTo>
                  <a:pt x="13026" y="117231"/>
                </a:lnTo>
                <a:cubicBezTo>
                  <a:pt x="7530" y="117231"/>
                  <a:pt x="2646" y="113812"/>
                  <a:pt x="773" y="108642"/>
                </a:cubicBezTo>
                <a:cubicBezTo>
                  <a:pt x="-1099" y="103472"/>
                  <a:pt x="488" y="97692"/>
                  <a:pt x="4681" y="94192"/>
                </a:cubicBezTo>
                <a:lnTo>
                  <a:pt x="121912" y="-3501"/>
                </a:lnTo>
                <a:cubicBezTo>
                  <a:pt x="126512" y="-7327"/>
                  <a:pt x="133065" y="-7530"/>
                  <a:pt x="137909" y="-403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 bwMode="auto">
          <a:xfrm>
            <a:off x="1154940" y="1241778"/>
            <a:ext cx="1180991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65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FastAPI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 bwMode="auto">
          <a:xfrm flipH="0" flipV="0">
            <a:off x="1154939" y="1519657"/>
            <a:ext cx="2123958" cy="173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5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Backend Framework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 bwMode="auto">
          <a:xfrm>
            <a:off x="529709" y="1849641"/>
            <a:ext cx="5366564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1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Chosen because it is </a:t>
            </a:r>
            <a:r>
              <a:rPr lang="en-US" sz="110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fast, easy to develop with</a:t>
            </a:r>
            <a:r>
              <a:rPr lang="en-US" sz="11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, and produces clear, well documented APIs.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 bwMode="auto">
          <a:xfrm>
            <a:off x="529709" y="2440137"/>
            <a:ext cx="1154940" cy="243145"/>
          </a:xfrm>
          <a:custGeom>
            <a:avLst/>
            <a:gdLst/>
            <a:ahLst/>
            <a:cxnLst/>
            <a:rect l="l" t="t" r="r" b="b"/>
            <a:pathLst>
              <a:path w="1154940" h="243145" fill="norm" stroke="1" extrusionOk="0">
                <a:moveTo>
                  <a:pt x="121573" y="0"/>
                </a:moveTo>
                <a:lnTo>
                  <a:pt x="1033368" y="0"/>
                </a:lnTo>
                <a:cubicBezTo>
                  <a:pt x="1100510" y="0"/>
                  <a:pt x="1154940" y="54430"/>
                  <a:pt x="1154940" y="121573"/>
                </a:cubicBezTo>
                <a:lnTo>
                  <a:pt x="1154940" y="121573"/>
                </a:lnTo>
                <a:cubicBezTo>
                  <a:pt x="1154940" y="188715"/>
                  <a:pt x="1100510" y="243145"/>
                  <a:pt x="1033368" y="243145"/>
                </a:cubicBezTo>
                <a:lnTo>
                  <a:pt x="121573" y="243145"/>
                </a:lnTo>
                <a:cubicBezTo>
                  <a:pt x="54430" y="243145"/>
                  <a:pt x="0" y="188715"/>
                  <a:pt x="0" y="121573"/>
                </a:cubicBezTo>
                <a:lnTo>
                  <a:pt x="0" y="121573"/>
                </a:lnTo>
                <a:cubicBezTo>
                  <a:pt x="0" y="54430"/>
                  <a:pt x="54430" y="0"/>
                  <a:pt x="121573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13" name="Text 11"/>
          <p:cNvSpPr/>
          <p:nvPr/>
        </p:nvSpPr>
        <p:spPr bwMode="auto">
          <a:xfrm flipH="0" flipV="0">
            <a:off x="529708" y="2440136"/>
            <a:ext cx="1467555" cy="243143"/>
          </a:xfrm>
          <a:prstGeom prst="rect">
            <a:avLst/>
          </a:prstGeom>
          <a:noFill/>
          <a:ln/>
        </p:spPr>
        <p:txBody>
          <a:bodyPr wrap="square" lIns="104204" tIns="34734" rIns="104204" bIns="34734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5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High Performance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 bwMode="auto">
          <a:xfrm>
            <a:off x="1751813" y="2440137"/>
            <a:ext cx="1302564" cy="243145"/>
          </a:xfrm>
          <a:custGeom>
            <a:avLst/>
            <a:gdLst/>
            <a:ahLst/>
            <a:cxnLst/>
            <a:rect l="l" t="t" r="r" b="b"/>
            <a:pathLst>
              <a:path w="1302564" h="243145" fill="norm" stroke="1" extrusionOk="0">
                <a:moveTo>
                  <a:pt x="121573" y="0"/>
                </a:moveTo>
                <a:lnTo>
                  <a:pt x="1180991" y="0"/>
                </a:lnTo>
                <a:cubicBezTo>
                  <a:pt x="1248134" y="0"/>
                  <a:pt x="1302564" y="54430"/>
                  <a:pt x="1302564" y="121573"/>
                </a:cubicBezTo>
                <a:lnTo>
                  <a:pt x="1302564" y="121573"/>
                </a:lnTo>
                <a:cubicBezTo>
                  <a:pt x="1302564" y="188715"/>
                  <a:pt x="1248134" y="243145"/>
                  <a:pt x="1180991" y="243145"/>
                </a:cubicBezTo>
                <a:lnTo>
                  <a:pt x="121573" y="243145"/>
                </a:lnTo>
                <a:cubicBezTo>
                  <a:pt x="54430" y="243145"/>
                  <a:pt x="0" y="188715"/>
                  <a:pt x="0" y="121573"/>
                </a:cubicBezTo>
                <a:lnTo>
                  <a:pt x="0" y="121573"/>
                </a:lnTo>
                <a:cubicBezTo>
                  <a:pt x="0" y="54430"/>
                  <a:pt x="54430" y="0"/>
                  <a:pt x="121573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15" name="Text 13"/>
          <p:cNvSpPr/>
          <p:nvPr/>
        </p:nvSpPr>
        <p:spPr bwMode="auto">
          <a:xfrm flipH="0" flipV="0">
            <a:off x="1751812" y="2440136"/>
            <a:ext cx="1527085" cy="243143"/>
          </a:xfrm>
          <a:prstGeom prst="rect">
            <a:avLst/>
          </a:prstGeom>
          <a:noFill/>
          <a:ln/>
        </p:spPr>
        <p:txBody>
          <a:bodyPr wrap="square" lIns="104204" tIns="34734" rIns="104204" bIns="34734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5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Auto Documentation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 bwMode="auto">
          <a:xfrm>
            <a:off x="3122762" y="2440137"/>
            <a:ext cx="824956" cy="243145"/>
          </a:xfrm>
          <a:custGeom>
            <a:avLst/>
            <a:gdLst/>
            <a:ahLst/>
            <a:cxnLst/>
            <a:rect l="l" t="t" r="r" b="b"/>
            <a:pathLst>
              <a:path w="824957" h="243145" fill="norm" stroke="1" extrusionOk="0">
                <a:moveTo>
                  <a:pt x="121573" y="0"/>
                </a:moveTo>
                <a:lnTo>
                  <a:pt x="703385" y="0"/>
                </a:lnTo>
                <a:cubicBezTo>
                  <a:pt x="770527" y="0"/>
                  <a:pt x="824957" y="54430"/>
                  <a:pt x="824957" y="121573"/>
                </a:cubicBezTo>
                <a:lnTo>
                  <a:pt x="824957" y="121573"/>
                </a:lnTo>
                <a:cubicBezTo>
                  <a:pt x="824957" y="188715"/>
                  <a:pt x="770527" y="243145"/>
                  <a:pt x="703385" y="243145"/>
                </a:cubicBezTo>
                <a:lnTo>
                  <a:pt x="121573" y="243145"/>
                </a:lnTo>
                <a:cubicBezTo>
                  <a:pt x="54430" y="243145"/>
                  <a:pt x="0" y="188715"/>
                  <a:pt x="0" y="121573"/>
                </a:cubicBezTo>
                <a:lnTo>
                  <a:pt x="0" y="121573"/>
                </a:lnTo>
                <a:cubicBezTo>
                  <a:pt x="0" y="54430"/>
                  <a:pt x="54430" y="0"/>
                  <a:pt x="121573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17" name="Text 15"/>
          <p:cNvSpPr/>
          <p:nvPr/>
        </p:nvSpPr>
        <p:spPr bwMode="auto">
          <a:xfrm>
            <a:off x="3122762" y="2440137"/>
            <a:ext cx="885744" cy="243145"/>
          </a:xfrm>
          <a:prstGeom prst="rect">
            <a:avLst/>
          </a:prstGeom>
          <a:noFill/>
          <a:ln/>
        </p:spPr>
        <p:txBody>
          <a:bodyPr wrap="square" lIns="104205" tIns="34735" rIns="104205" bIns="34735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5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Type Safety</a:t>
            </a:r>
            <a:endParaRPr lang="en-US" sz="1600"/>
          </a:p>
        </p:txBody>
      </p:sp>
      <p:sp>
        <p:nvSpPr>
          <p:cNvPr id="18" name="Shape 16"/>
          <p:cNvSpPr/>
          <p:nvPr/>
        </p:nvSpPr>
        <p:spPr bwMode="auto">
          <a:xfrm>
            <a:off x="351692" y="3043658"/>
            <a:ext cx="5653128" cy="1814906"/>
          </a:xfrm>
          <a:custGeom>
            <a:avLst/>
            <a:gdLst/>
            <a:ahLst/>
            <a:cxnLst/>
            <a:rect l="l" t="t" r="r" b="b"/>
            <a:pathLst>
              <a:path w="5653128" h="1814906" fill="norm" stroke="1" extrusionOk="0">
                <a:moveTo>
                  <a:pt x="138949" y="0"/>
                </a:moveTo>
                <a:lnTo>
                  <a:pt x="5514179" y="0"/>
                </a:lnTo>
                <a:cubicBezTo>
                  <a:pt x="5590919" y="0"/>
                  <a:pt x="5653128" y="62210"/>
                  <a:pt x="5653128" y="138949"/>
                </a:cubicBezTo>
                <a:lnTo>
                  <a:pt x="5653128" y="1675957"/>
                </a:lnTo>
                <a:cubicBezTo>
                  <a:pt x="5653128" y="1752696"/>
                  <a:pt x="5590919" y="1814906"/>
                  <a:pt x="5514179" y="1814906"/>
                </a:cubicBezTo>
                <a:lnTo>
                  <a:pt x="138949" y="1814906"/>
                </a:lnTo>
                <a:cubicBezTo>
                  <a:pt x="62210" y="1814906"/>
                  <a:pt x="0" y="1752696"/>
                  <a:pt x="0" y="1675957"/>
                </a:cubicBezTo>
                <a:lnTo>
                  <a:pt x="0" y="138949"/>
                </a:lnTo>
                <a:cubicBezTo>
                  <a:pt x="0" y="62210"/>
                  <a:pt x="62210" y="0"/>
                  <a:pt x="138949" y="0"/>
                </a:cubicBezTo>
                <a:close/>
              </a:path>
            </a:pathLst>
          </a:custGeom>
          <a:gradFill>
            <a:gsLst>
              <a:gs pos="0">
                <a:srgbClr val="EC4899">
                  <a:alpha val="30000"/>
                </a:srgbClr>
              </a:gs>
              <a:gs pos="100000">
                <a:srgbClr val="EC4899">
                  <a:alpha val="10000"/>
                </a:srgbClr>
              </a:gs>
            </a:gsLst>
            <a:lin ang="2700000" scaled="1"/>
          </a:gradFill>
          <a:ln w="1270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 bwMode="auto">
          <a:xfrm>
            <a:off x="529709" y="3221675"/>
            <a:ext cx="486291" cy="486291"/>
          </a:xfrm>
          <a:custGeom>
            <a:avLst/>
            <a:gdLst/>
            <a:ahLst/>
            <a:cxnLst/>
            <a:rect l="l" t="t" r="r" b="b"/>
            <a:pathLst>
              <a:path w="486291" h="486291" fill="norm" stroke="1" extrusionOk="0">
                <a:moveTo>
                  <a:pt x="104207" y="0"/>
                </a:moveTo>
                <a:lnTo>
                  <a:pt x="382083" y="0"/>
                </a:lnTo>
                <a:cubicBezTo>
                  <a:pt x="439597" y="0"/>
                  <a:pt x="486291" y="46694"/>
                  <a:pt x="486291" y="104207"/>
                </a:cubicBezTo>
                <a:lnTo>
                  <a:pt x="486291" y="382083"/>
                </a:lnTo>
                <a:cubicBezTo>
                  <a:pt x="486291" y="439597"/>
                  <a:pt x="439597" y="486291"/>
                  <a:pt x="382083" y="486291"/>
                </a:cubicBezTo>
                <a:lnTo>
                  <a:pt x="104207" y="486291"/>
                </a:lnTo>
                <a:cubicBezTo>
                  <a:pt x="46694" y="486291"/>
                  <a:pt x="0" y="439597"/>
                  <a:pt x="0" y="382083"/>
                </a:cubicBezTo>
                <a:lnTo>
                  <a:pt x="0" y="104207"/>
                </a:lnTo>
                <a:cubicBezTo>
                  <a:pt x="0" y="46694"/>
                  <a:pt x="46694" y="0"/>
                  <a:pt x="104207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20" name="Shape 18"/>
          <p:cNvSpPr/>
          <p:nvPr/>
        </p:nvSpPr>
        <p:spPr bwMode="auto">
          <a:xfrm>
            <a:off x="681674" y="3360615"/>
            <a:ext cx="182359" cy="208410"/>
          </a:xfrm>
          <a:custGeom>
            <a:avLst/>
            <a:gdLst/>
            <a:ahLst/>
            <a:cxnLst/>
            <a:rect l="l" t="t" r="r" b="b"/>
            <a:pathLst>
              <a:path w="182359" h="208410" fill="norm" stroke="1" extrusionOk="0">
                <a:moveTo>
                  <a:pt x="65332" y="-10746"/>
                </a:moveTo>
                <a:cubicBezTo>
                  <a:pt x="69117" y="-13921"/>
                  <a:pt x="74694" y="-13799"/>
                  <a:pt x="78317" y="-10380"/>
                </a:cubicBezTo>
                <a:cubicBezTo>
                  <a:pt x="83323" y="-5658"/>
                  <a:pt x="87801" y="-448"/>
                  <a:pt x="92116" y="4844"/>
                </a:cubicBezTo>
                <a:cubicBezTo>
                  <a:pt x="97611" y="11560"/>
                  <a:pt x="104205" y="20434"/>
                  <a:pt x="110555" y="30977"/>
                </a:cubicBezTo>
                <a:cubicBezTo>
                  <a:pt x="112672" y="28209"/>
                  <a:pt x="114626" y="25766"/>
                  <a:pt x="116335" y="23690"/>
                </a:cubicBezTo>
                <a:cubicBezTo>
                  <a:pt x="116783" y="23161"/>
                  <a:pt x="117231" y="22591"/>
                  <a:pt x="117679" y="22021"/>
                </a:cubicBezTo>
                <a:cubicBezTo>
                  <a:pt x="120894" y="18032"/>
                  <a:pt x="124883" y="13026"/>
                  <a:pt x="130216" y="13026"/>
                </a:cubicBezTo>
                <a:cubicBezTo>
                  <a:pt x="135670" y="13026"/>
                  <a:pt x="139496" y="17870"/>
                  <a:pt x="142753" y="22021"/>
                </a:cubicBezTo>
                <a:cubicBezTo>
                  <a:pt x="143282" y="22713"/>
                  <a:pt x="143811" y="23365"/>
                  <a:pt x="144340" y="23975"/>
                </a:cubicBezTo>
                <a:cubicBezTo>
                  <a:pt x="148533" y="29023"/>
                  <a:pt x="154110" y="36309"/>
                  <a:pt x="159686" y="45305"/>
                </a:cubicBezTo>
                <a:cubicBezTo>
                  <a:pt x="170758" y="63174"/>
                  <a:pt x="182318" y="88615"/>
                  <a:pt x="182318" y="117190"/>
                </a:cubicBezTo>
                <a:cubicBezTo>
                  <a:pt x="182318" y="167542"/>
                  <a:pt x="141491" y="208370"/>
                  <a:pt x="91139" y="208370"/>
                </a:cubicBezTo>
                <a:cubicBezTo>
                  <a:pt x="40787" y="208370"/>
                  <a:pt x="0" y="167583"/>
                  <a:pt x="0" y="117231"/>
                </a:cubicBezTo>
                <a:cubicBezTo>
                  <a:pt x="0" y="80148"/>
                  <a:pt x="16730" y="48032"/>
                  <a:pt x="32768" y="25644"/>
                </a:cubicBezTo>
                <a:cubicBezTo>
                  <a:pt x="40868" y="14369"/>
                  <a:pt x="48928" y="5332"/>
                  <a:pt x="54993" y="-855"/>
                </a:cubicBezTo>
                <a:cubicBezTo>
                  <a:pt x="58330" y="-4274"/>
                  <a:pt x="61709" y="-7653"/>
                  <a:pt x="65372" y="-10705"/>
                </a:cubicBezTo>
                <a:close/>
                <a:moveTo>
                  <a:pt x="91871" y="169333"/>
                </a:moveTo>
                <a:cubicBezTo>
                  <a:pt x="102170" y="169333"/>
                  <a:pt x="111288" y="166484"/>
                  <a:pt x="119877" y="160785"/>
                </a:cubicBezTo>
                <a:cubicBezTo>
                  <a:pt x="137013" y="148818"/>
                  <a:pt x="141613" y="124883"/>
                  <a:pt x="131315" y="106078"/>
                </a:cubicBezTo>
                <a:cubicBezTo>
                  <a:pt x="129483" y="102414"/>
                  <a:pt x="124802" y="102170"/>
                  <a:pt x="122156" y="105263"/>
                </a:cubicBezTo>
                <a:lnTo>
                  <a:pt x="111898" y="117190"/>
                </a:lnTo>
                <a:cubicBezTo>
                  <a:pt x="109212" y="120284"/>
                  <a:pt x="104368" y="120202"/>
                  <a:pt x="101844" y="116987"/>
                </a:cubicBezTo>
                <a:cubicBezTo>
                  <a:pt x="94802" y="107991"/>
                  <a:pt x="81858" y="91587"/>
                  <a:pt x="75264" y="83201"/>
                </a:cubicBezTo>
                <a:cubicBezTo>
                  <a:pt x="73066" y="80393"/>
                  <a:pt x="69077" y="79945"/>
                  <a:pt x="66512" y="82428"/>
                </a:cubicBezTo>
                <a:cubicBezTo>
                  <a:pt x="59063" y="89673"/>
                  <a:pt x="45549" y="105548"/>
                  <a:pt x="45549" y="124883"/>
                </a:cubicBezTo>
                <a:cubicBezTo>
                  <a:pt x="45549" y="152807"/>
                  <a:pt x="66146" y="169333"/>
                  <a:pt x="91831" y="16933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 bwMode="auto">
          <a:xfrm flipH="0" flipV="0">
            <a:off x="1154939" y="3239042"/>
            <a:ext cx="2410693" cy="277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65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Apache Spark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 bwMode="auto">
          <a:xfrm flipH="0" flipV="0">
            <a:off x="1154939" y="3516922"/>
            <a:ext cx="2484097" cy="173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5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Data Processing Engine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 bwMode="auto">
          <a:xfrm>
            <a:off x="529709" y="3846906"/>
            <a:ext cx="5366564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1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Provides </a:t>
            </a:r>
            <a:r>
              <a:rPr lang="en-US" sz="110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true parallel processing</a:t>
            </a:r>
            <a:r>
              <a:rPr lang="en-US" sz="11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and works well with many file types ,  exactly what is needed for distributed data handling.</a:t>
            </a:r>
            <a:endParaRPr lang="en-US" sz="1600"/>
          </a:p>
        </p:txBody>
      </p:sp>
      <p:sp>
        <p:nvSpPr>
          <p:cNvPr id="24" name="Shape 22"/>
          <p:cNvSpPr/>
          <p:nvPr/>
        </p:nvSpPr>
        <p:spPr bwMode="auto">
          <a:xfrm>
            <a:off x="529709" y="4437402"/>
            <a:ext cx="1128889" cy="243145"/>
          </a:xfrm>
          <a:custGeom>
            <a:avLst/>
            <a:gdLst/>
            <a:ahLst/>
            <a:cxnLst/>
            <a:rect l="l" t="t" r="r" b="b"/>
            <a:pathLst>
              <a:path w="1128889" h="243145" fill="norm" stroke="1" extrusionOk="0">
                <a:moveTo>
                  <a:pt x="121573" y="0"/>
                </a:moveTo>
                <a:lnTo>
                  <a:pt x="1007316" y="0"/>
                </a:lnTo>
                <a:cubicBezTo>
                  <a:pt x="1074459" y="0"/>
                  <a:pt x="1128889" y="54430"/>
                  <a:pt x="1128889" y="121573"/>
                </a:cubicBezTo>
                <a:lnTo>
                  <a:pt x="1128889" y="121573"/>
                </a:lnTo>
                <a:cubicBezTo>
                  <a:pt x="1128889" y="188715"/>
                  <a:pt x="1074459" y="243145"/>
                  <a:pt x="1007316" y="243145"/>
                </a:cubicBezTo>
                <a:lnTo>
                  <a:pt x="121573" y="243145"/>
                </a:lnTo>
                <a:cubicBezTo>
                  <a:pt x="54430" y="243145"/>
                  <a:pt x="0" y="188715"/>
                  <a:pt x="0" y="121573"/>
                </a:cubicBezTo>
                <a:lnTo>
                  <a:pt x="0" y="121573"/>
                </a:lnTo>
                <a:cubicBezTo>
                  <a:pt x="0" y="54430"/>
                  <a:pt x="54430" y="0"/>
                  <a:pt x="121573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/>
        </p:spPr>
      </p:sp>
      <p:sp>
        <p:nvSpPr>
          <p:cNvPr id="25" name="Text 23"/>
          <p:cNvSpPr/>
          <p:nvPr/>
        </p:nvSpPr>
        <p:spPr bwMode="auto">
          <a:xfrm flipH="0" flipV="0">
            <a:off x="529708" y="4437401"/>
            <a:ext cx="1293880" cy="243143"/>
          </a:xfrm>
          <a:prstGeom prst="rect">
            <a:avLst/>
          </a:prstGeom>
          <a:noFill/>
          <a:ln/>
        </p:spPr>
        <p:txBody>
          <a:bodyPr wrap="square" lIns="104204" tIns="34734" rIns="104204" bIns="34734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5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Parallel Execution</a:t>
            </a:r>
            <a:endParaRPr lang="en-US" sz="1600"/>
          </a:p>
        </p:txBody>
      </p:sp>
      <p:sp>
        <p:nvSpPr>
          <p:cNvPr id="26" name="Shape 24"/>
          <p:cNvSpPr/>
          <p:nvPr/>
        </p:nvSpPr>
        <p:spPr bwMode="auto">
          <a:xfrm>
            <a:off x="1732003" y="4437402"/>
            <a:ext cx="1337299" cy="243145"/>
          </a:xfrm>
          <a:custGeom>
            <a:avLst/>
            <a:gdLst/>
            <a:ahLst/>
            <a:cxnLst/>
            <a:rect l="l" t="t" r="r" b="b"/>
            <a:pathLst>
              <a:path w="1337299" h="243145" fill="norm" stroke="1" extrusionOk="0">
                <a:moveTo>
                  <a:pt x="121573" y="0"/>
                </a:moveTo>
                <a:lnTo>
                  <a:pt x="1215726" y="0"/>
                </a:lnTo>
                <a:cubicBezTo>
                  <a:pt x="1282869" y="0"/>
                  <a:pt x="1337299" y="54430"/>
                  <a:pt x="1337299" y="121573"/>
                </a:cubicBezTo>
                <a:lnTo>
                  <a:pt x="1337299" y="121573"/>
                </a:lnTo>
                <a:cubicBezTo>
                  <a:pt x="1337299" y="188715"/>
                  <a:pt x="1282869" y="243145"/>
                  <a:pt x="1215726" y="243145"/>
                </a:cubicBezTo>
                <a:lnTo>
                  <a:pt x="121573" y="243145"/>
                </a:lnTo>
                <a:cubicBezTo>
                  <a:pt x="54430" y="243145"/>
                  <a:pt x="0" y="188715"/>
                  <a:pt x="0" y="121573"/>
                </a:cubicBezTo>
                <a:lnTo>
                  <a:pt x="0" y="121573"/>
                </a:lnTo>
                <a:cubicBezTo>
                  <a:pt x="0" y="54430"/>
                  <a:pt x="54430" y="0"/>
                  <a:pt x="121573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/>
        </p:spPr>
      </p:sp>
      <p:sp>
        <p:nvSpPr>
          <p:cNvPr id="27" name="Text 25"/>
          <p:cNvSpPr/>
          <p:nvPr/>
        </p:nvSpPr>
        <p:spPr bwMode="auto">
          <a:xfrm flipH="0" flipV="0">
            <a:off x="1732002" y="4437401"/>
            <a:ext cx="1480986" cy="243143"/>
          </a:xfrm>
          <a:prstGeom prst="rect">
            <a:avLst/>
          </a:prstGeom>
          <a:noFill/>
          <a:ln/>
        </p:spPr>
        <p:txBody>
          <a:bodyPr wrap="square" lIns="104204" tIns="34734" rIns="104204" bIns="34734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5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Multi format Support</a:t>
            </a:r>
            <a:endParaRPr lang="en-US" sz="1600"/>
          </a:p>
        </p:txBody>
      </p:sp>
      <p:sp>
        <p:nvSpPr>
          <p:cNvPr id="28" name="Shape 26"/>
          <p:cNvSpPr/>
          <p:nvPr/>
        </p:nvSpPr>
        <p:spPr bwMode="auto">
          <a:xfrm>
            <a:off x="3135380" y="4437402"/>
            <a:ext cx="1007316" cy="243145"/>
          </a:xfrm>
          <a:custGeom>
            <a:avLst/>
            <a:gdLst/>
            <a:ahLst/>
            <a:cxnLst/>
            <a:rect l="l" t="t" r="r" b="b"/>
            <a:pathLst>
              <a:path w="1007316" h="243145" fill="norm" stroke="1" extrusionOk="0">
                <a:moveTo>
                  <a:pt x="121573" y="0"/>
                </a:moveTo>
                <a:lnTo>
                  <a:pt x="885744" y="0"/>
                </a:lnTo>
                <a:cubicBezTo>
                  <a:pt x="952886" y="0"/>
                  <a:pt x="1007316" y="54430"/>
                  <a:pt x="1007316" y="121573"/>
                </a:cubicBezTo>
                <a:lnTo>
                  <a:pt x="1007316" y="121573"/>
                </a:lnTo>
                <a:cubicBezTo>
                  <a:pt x="1007316" y="188715"/>
                  <a:pt x="952886" y="243145"/>
                  <a:pt x="885744" y="243145"/>
                </a:cubicBezTo>
                <a:lnTo>
                  <a:pt x="121573" y="243145"/>
                </a:lnTo>
                <a:cubicBezTo>
                  <a:pt x="54430" y="243145"/>
                  <a:pt x="0" y="188715"/>
                  <a:pt x="0" y="121573"/>
                </a:cubicBezTo>
                <a:lnTo>
                  <a:pt x="0" y="121573"/>
                </a:lnTo>
                <a:cubicBezTo>
                  <a:pt x="0" y="54430"/>
                  <a:pt x="54430" y="0"/>
                  <a:pt x="121573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/>
        </p:spPr>
      </p:sp>
      <p:sp>
        <p:nvSpPr>
          <p:cNvPr id="29" name="Text 27"/>
          <p:cNvSpPr/>
          <p:nvPr/>
        </p:nvSpPr>
        <p:spPr bwMode="auto">
          <a:xfrm flipH="0" flipV="0">
            <a:off x="3135379" y="4437401"/>
            <a:ext cx="1168973" cy="243143"/>
          </a:xfrm>
          <a:prstGeom prst="rect">
            <a:avLst/>
          </a:prstGeom>
          <a:noFill/>
          <a:ln/>
        </p:spPr>
        <p:txBody>
          <a:bodyPr wrap="square" lIns="104204" tIns="34734" rIns="104204" bIns="34734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5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Fault Tolerance</a:t>
            </a:r>
            <a:endParaRPr lang="en-US" sz="1600"/>
          </a:p>
        </p:txBody>
      </p:sp>
      <p:sp>
        <p:nvSpPr>
          <p:cNvPr id="30" name="Shape 28"/>
          <p:cNvSpPr/>
          <p:nvPr/>
        </p:nvSpPr>
        <p:spPr bwMode="auto">
          <a:xfrm>
            <a:off x="351692" y="5040923"/>
            <a:ext cx="5653128" cy="1814906"/>
          </a:xfrm>
          <a:custGeom>
            <a:avLst/>
            <a:gdLst/>
            <a:ahLst/>
            <a:cxnLst/>
            <a:rect l="l" t="t" r="r" b="b"/>
            <a:pathLst>
              <a:path w="5653128" h="1814906" fill="norm" stroke="1" extrusionOk="0">
                <a:moveTo>
                  <a:pt x="138949" y="0"/>
                </a:moveTo>
                <a:lnTo>
                  <a:pt x="5514179" y="0"/>
                </a:lnTo>
                <a:cubicBezTo>
                  <a:pt x="5590919" y="0"/>
                  <a:pt x="5653128" y="62210"/>
                  <a:pt x="5653128" y="138949"/>
                </a:cubicBezTo>
                <a:lnTo>
                  <a:pt x="5653128" y="1675957"/>
                </a:lnTo>
                <a:cubicBezTo>
                  <a:pt x="5653128" y="1752696"/>
                  <a:pt x="5590919" y="1814906"/>
                  <a:pt x="5514179" y="1814906"/>
                </a:cubicBezTo>
                <a:lnTo>
                  <a:pt x="138949" y="1814906"/>
                </a:lnTo>
                <a:cubicBezTo>
                  <a:pt x="62210" y="1814906"/>
                  <a:pt x="0" y="1752696"/>
                  <a:pt x="0" y="1675957"/>
                </a:cubicBezTo>
                <a:lnTo>
                  <a:pt x="0" y="138949"/>
                </a:lnTo>
                <a:cubicBezTo>
                  <a:pt x="0" y="62210"/>
                  <a:pt x="62210" y="0"/>
                  <a:pt x="138949" y="0"/>
                </a:cubicBezTo>
                <a:close/>
              </a:path>
            </a:pathLst>
          </a:custGeom>
          <a:gradFill>
            <a:gsLst>
              <a:gs pos="0">
                <a:srgbClr val="7C3AED">
                  <a:alpha val="30000"/>
                </a:srgbClr>
              </a:gs>
              <a:gs pos="100000">
                <a:srgbClr val="7C3AED">
                  <a:alpha val="10000"/>
                </a:srgbClr>
              </a:gs>
            </a:gsLst>
            <a:lin ang="2700000" scaled="1"/>
          </a:gra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 bwMode="auto">
          <a:xfrm>
            <a:off x="529709" y="5218940"/>
            <a:ext cx="486291" cy="486291"/>
          </a:xfrm>
          <a:custGeom>
            <a:avLst/>
            <a:gdLst/>
            <a:ahLst/>
            <a:cxnLst/>
            <a:rect l="l" t="t" r="r" b="b"/>
            <a:pathLst>
              <a:path w="486291" h="486291" fill="norm" stroke="1" extrusionOk="0">
                <a:moveTo>
                  <a:pt x="104207" y="0"/>
                </a:moveTo>
                <a:lnTo>
                  <a:pt x="382083" y="0"/>
                </a:lnTo>
                <a:cubicBezTo>
                  <a:pt x="439597" y="0"/>
                  <a:pt x="486291" y="46694"/>
                  <a:pt x="486291" y="104207"/>
                </a:cubicBezTo>
                <a:lnTo>
                  <a:pt x="486291" y="382083"/>
                </a:lnTo>
                <a:cubicBezTo>
                  <a:pt x="486291" y="439597"/>
                  <a:pt x="439597" y="486291"/>
                  <a:pt x="382083" y="486291"/>
                </a:cubicBezTo>
                <a:lnTo>
                  <a:pt x="104207" y="486291"/>
                </a:lnTo>
                <a:cubicBezTo>
                  <a:pt x="46694" y="486291"/>
                  <a:pt x="0" y="439597"/>
                  <a:pt x="0" y="382083"/>
                </a:cubicBezTo>
                <a:lnTo>
                  <a:pt x="0" y="104207"/>
                </a:lnTo>
                <a:cubicBezTo>
                  <a:pt x="0" y="46694"/>
                  <a:pt x="46694" y="0"/>
                  <a:pt x="104207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32" name="Shape 30"/>
          <p:cNvSpPr/>
          <p:nvPr/>
        </p:nvSpPr>
        <p:spPr bwMode="auto">
          <a:xfrm>
            <a:off x="681674" y="5357880"/>
            <a:ext cx="182359" cy="208410"/>
          </a:xfrm>
          <a:custGeom>
            <a:avLst/>
            <a:gdLst/>
            <a:ahLst/>
            <a:cxnLst/>
            <a:rect l="l" t="t" r="r" b="b"/>
            <a:pathLst>
              <a:path w="182359" h="208410" fill="norm" stroke="1" extrusionOk="0">
                <a:moveTo>
                  <a:pt x="182359" y="83771"/>
                </a:moveTo>
                <a:cubicBezTo>
                  <a:pt x="176335" y="87760"/>
                  <a:pt x="169415" y="90976"/>
                  <a:pt x="162210" y="93540"/>
                </a:cubicBezTo>
                <a:cubicBezTo>
                  <a:pt x="143079" y="100379"/>
                  <a:pt x="117963" y="104205"/>
                  <a:pt x="91179" y="104205"/>
                </a:cubicBezTo>
                <a:cubicBezTo>
                  <a:pt x="64396" y="104205"/>
                  <a:pt x="39240" y="100338"/>
                  <a:pt x="20149" y="93540"/>
                </a:cubicBezTo>
                <a:cubicBezTo>
                  <a:pt x="12985" y="90976"/>
                  <a:pt x="6024" y="87760"/>
                  <a:pt x="0" y="83771"/>
                </a:cubicBezTo>
                <a:lnTo>
                  <a:pt x="0" y="117231"/>
                </a:lnTo>
                <a:cubicBezTo>
                  <a:pt x="0" y="135222"/>
                  <a:pt x="40827" y="149795"/>
                  <a:pt x="91179" y="149795"/>
                </a:cubicBezTo>
                <a:cubicBezTo>
                  <a:pt x="141532" y="149795"/>
                  <a:pt x="182359" y="135222"/>
                  <a:pt x="182359" y="117231"/>
                </a:cubicBezTo>
                <a:lnTo>
                  <a:pt x="182359" y="83771"/>
                </a:lnTo>
                <a:close/>
                <a:moveTo>
                  <a:pt x="182359" y="52103"/>
                </a:moveTo>
                <a:lnTo>
                  <a:pt x="182359" y="32564"/>
                </a:lnTo>
                <a:cubicBezTo>
                  <a:pt x="182359" y="14572"/>
                  <a:pt x="141532" y="0"/>
                  <a:pt x="91179" y="0"/>
                </a:cubicBezTo>
                <a:cubicBezTo>
                  <a:pt x="40827" y="0"/>
                  <a:pt x="0" y="14572"/>
                  <a:pt x="0" y="32564"/>
                </a:cubicBezTo>
                <a:lnTo>
                  <a:pt x="0" y="52103"/>
                </a:lnTo>
                <a:cubicBezTo>
                  <a:pt x="0" y="70094"/>
                  <a:pt x="40827" y="84667"/>
                  <a:pt x="91179" y="84667"/>
                </a:cubicBezTo>
                <a:cubicBezTo>
                  <a:pt x="141532" y="84667"/>
                  <a:pt x="182359" y="70094"/>
                  <a:pt x="182359" y="52103"/>
                </a:cubicBezTo>
                <a:close/>
                <a:moveTo>
                  <a:pt x="162210" y="158669"/>
                </a:moveTo>
                <a:cubicBezTo>
                  <a:pt x="143119" y="165466"/>
                  <a:pt x="118004" y="169333"/>
                  <a:pt x="91179" y="169333"/>
                </a:cubicBezTo>
                <a:cubicBezTo>
                  <a:pt x="64355" y="169333"/>
                  <a:pt x="39240" y="165466"/>
                  <a:pt x="20149" y="158669"/>
                </a:cubicBezTo>
                <a:cubicBezTo>
                  <a:pt x="12985" y="156104"/>
                  <a:pt x="6024" y="152888"/>
                  <a:pt x="0" y="148899"/>
                </a:cubicBezTo>
                <a:lnTo>
                  <a:pt x="0" y="175846"/>
                </a:lnTo>
                <a:cubicBezTo>
                  <a:pt x="0" y="193838"/>
                  <a:pt x="40827" y="208410"/>
                  <a:pt x="91179" y="208410"/>
                </a:cubicBezTo>
                <a:cubicBezTo>
                  <a:pt x="141532" y="208410"/>
                  <a:pt x="182359" y="193838"/>
                  <a:pt x="182359" y="175846"/>
                </a:cubicBezTo>
                <a:lnTo>
                  <a:pt x="182359" y="148899"/>
                </a:lnTo>
                <a:cubicBezTo>
                  <a:pt x="176335" y="152888"/>
                  <a:pt x="169415" y="156104"/>
                  <a:pt x="162210" y="15866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 bwMode="auto">
          <a:xfrm>
            <a:off x="1154940" y="5236308"/>
            <a:ext cx="885744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65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MinIO</a:t>
            </a:r>
            <a:endParaRPr lang="en-US" sz="1600"/>
          </a:p>
        </p:txBody>
      </p:sp>
      <p:sp>
        <p:nvSpPr>
          <p:cNvPr id="34" name="Text 32"/>
          <p:cNvSpPr/>
          <p:nvPr/>
        </p:nvSpPr>
        <p:spPr bwMode="auto">
          <a:xfrm flipH="0" flipV="0">
            <a:off x="1154939" y="5514187"/>
            <a:ext cx="1248154" cy="173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5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Object Storage</a:t>
            </a:r>
            <a:endParaRPr lang="en-US" sz="1600"/>
          </a:p>
        </p:txBody>
      </p:sp>
      <p:sp>
        <p:nvSpPr>
          <p:cNvPr id="35" name="Text 33"/>
          <p:cNvSpPr/>
          <p:nvPr/>
        </p:nvSpPr>
        <p:spPr bwMode="auto">
          <a:xfrm>
            <a:off x="529709" y="5844171"/>
            <a:ext cx="5366564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1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Gives the benefits of </a:t>
            </a:r>
            <a:r>
              <a:rPr lang="en-US" sz="110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distributed object storage</a:t>
            </a:r>
            <a:r>
              <a:rPr lang="en-US" sz="11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without needing a full cloud account, making the system easy to test and deploy.</a:t>
            </a:r>
            <a:endParaRPr lang="en-US" sz="1600"/>
          </a:p>
        </p:txBody>
      </p:sp>
      <p:sp>
        <p:nvSpPr>
          <p:cNvPr id="36" name="Shape 34"/>
          <p:cNvSpPr/>
          <p:nvPr/>
        </p:nvSpPr>
        <p:spPr bwMode="auto">
          <a:xfrm>
            <a:off x="529709" y="6434667"/>
            <a:ext cx="981265" cy="243145"/>
          </a:xfrm>
          <a:custGeom>
            <a:avLst/>
            <a:gdLst/>
            <a:ahLst/>
            <a:cxnLst/>
            <a:rect l="l" t="t" r="r" b="b"/>
            <a:pathLst>
              <a:path w="981265" h="243145" fill="norm" stroke="1" extrusionOk="0">
                <a:moveTo>
                  <a:pt x="121573" y="0"/>
                </a:moveTo>
                <a:lnTo>
                  <a:pt x="859692" y="0"/>
                </a:lnTo>
                <a:cubicBezTo>
                  <a:pt x="926835" y="0"/>
                  <a:pt x="981265" y="54430"/>
                  <a:pt x="981265" y="121573"/>
                </a:cubicBezTo>
                <a:lnTo>
                  <a:pt x="981265" y="121573"/>
                </a:lnTo>
                <a:cubicBezTo>
                  <a:pt x="981265" y="188715"/>
                  <a:pt x="926835" y="243145"/>
                  <a:pt x="859692" y="243145"/>
                </a:cubicBezTo>
                <a:lnTo>
                  <a:pt x="121573" y="243145"/>
                </a:lnTo>
                <a:cubicBezTo>
                  <a:pt x="54430" y="243145"/>
                  <a:pt x="0" y="188715"/>
                  <a:pt x="0" y="121573"/>
                </a:cubicBezTo>
                <a:lnTo>
                  <a:pt x="0" y="121573"/>
                </a:lnTo>
                <a:cubicBezTo>
                  <a:pt x="0" y="54430"/>
                  <a:pt x="54430" y="0"/>
                  <a:pt x="121573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37" name="Text 35"/>
          <p:cNvSpPr/>
          <p:nvPr/>
        </p:nvSpPr>
        <p:spPr bwMode="auto">
          <a:xfrm flipH="0" flipV="0">
            <a:off x="529708" y="6434667"/>
            <a:ext cx="1215726" cy="243143"/>
          </a:xfrm>
          <a:prstGeom prst="rect">
            <a:avLst/>
          </a:prstGeom>
          <a:noFill/>
          <a:ln/>
        </p:spPr>
        <p:txBody>
          <a:bodyPr wrap="square" lIns="104204" tIns="34734" rIns="104204" bIns="34734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5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S3 Compatible</a:t>
            </a:r>
            <a:endParaRPr lang="en-US" sz="1600"/>
          </a:p>
        </p:txBody>
      </p:sp>
      <p:sp>
        <p:nvSpPr>
          <p:cNvPr id="38" name="Shape 36"/>
          <p:cNvSpPr/>
          <p:nvPr/>
        </p:nvSpPr>
        <p:spPr bwMode="auto">
          <a:xfrm>
            <a:off x="1577866" y="6434667"/>
            <a:ext cx="824956" cy="243145"/>
          </a:xfrm>
          <a:custGeom>
            <a:avLst/>
            <a:gdLst/>
            <a:ahLst/>
            <a:cxnLst/>
            <a:rect l="l" t="t" r="r" b="b"/>
            <a:pathLst>
              <a:path w="824957" h="243145" fill="norm" stroke="1" extrusionOk="0">
                <a:moveTo>
                  <a:pt x="121573" y="0"/>
                </a:moveTo>
                <a:lnTo>
                  <a:pt x="703385" y="0"/>
                </a:lnTo>
                <a:cubicBezTo>
                  <a:pt x="770527" y="0"/>
                  <a:pt x="824957" y="54430"/>
                  <a:pt x="824957" y="121573"/>
                </a:cubicBezTo>
                <a:lnTo>
                  <a:pt x="824957" y="121573"/>
                </a:lnTo>
                <a:cubicBezTo>
                  <a:pt x="824957" y="188715"/>
                  <a:pt x="770527" y="243145"/>
                  <a:pt x="703385" y="243145"/>
                </a:cubicBezTo>
                <a:lnTo>
                  <a:pt x="121573" y="243145"/>
                </a:lnTo>
                <a:cubicBezTo>
                  <a:pt x="54430" y="243145"/>
                  <a:pt x="0" y="188715"/>
                  <a:pt x="0" y="121573"/>
                </a:cubicBezTo>
                <a:lnTo>
                  <a:pt x="0" y="121573"/>
                </a:lnTo>
                <a:cubicBezTo>
                  <a:pt x="0" y="54430"/>
                  <a:pt x="54430" y="0"/>
                  <a:pt x="121573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39" name="Text 37"/>
          <p:cNvSpPr/>
          <p:nvPr/>
        </p:nvSpPr>
        <p:spPr bwMode="auto">
          <a:xfrm>
            <a:off x="1577866" y="6434667"/>
            <a:ext cx="885744" cy="243145"/>
          </a:xfrm>
          <a:prstGeom prst="rect">
            <a:avLst/>
          </a:prstGeom>
          <a:noFill/>
          <a:ln/>
        </p:spPr>
        <p:txBody>
          <a:bodyPr wrap="square" lIns="104205" tIns="34735" rIns="104205" bIns="34735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5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Self hosted</a:t>
            </a:r>
            <a:endParaRPr lang="en-US" sz="1600"/>
          </a:p>
        </p:txBody>
      </p:sp>
      <p:sp>
        <p:nvSpPr>
          <p:cNvPr id="40" name="Shape 38"/>
          <p:cNvSpPr/>
          <p:nvPr/>
        </p:nvSpPr>
        <p:spPr bwMode="auto">
          <a:xfrm>
            <a:off x="2468766" y="6434667"/>
            <a:ext cx="651282" cy="243145"/>
          </a:xfrm>
          <a:custGeom>
            <a:avLst/>
            <a:gdLst/>
            <a:ahLst/>
            <a:cxnLst/>
            <a:rect l="l" t="t" r="r" b="b"/>
            <a:pathLst>
              <a:path w="651282" h="243145" fill="norm" stroke="1" extrusionOk="0">
                <a:moveTo>
                  <a:pt x="121573" y="0"/>
                </a:moveTo>
                <a:lnTo>
                  <a:pt x="529709" y="0"/>
                </a:lnTo>
                <a:cubicBezTo>
                  <a:pt x="596852" y="0"/>
                  <a:pt x="651282" y="54430"/>
                  <a:pt x="651282" y="121573"/>
                </a:cubicBezTo>
                <a:lnTo>
                  <a:pt x="651282" y="121573"/>
                </a:lnTo>
                <a:cubicBezTo>
                  <a:pt x="651282" y="188715"/>
                  <a:pt x="596852" y="243145"/>
                  <a:pt x="529709" y="243145"/>
                </a:cubicBezTo>
                <a:lnTo>
                  <a:pt x="121573" y="243145"/>
                </a:lnTo>
                <a:cubicBezTo>
                  <a:pt x="54430" y="243145"/>
                  <a:pt x="0" y="188715"/>
                  <a:pt x="0" y="121573"/>
                </a:cubicBezTo>
                <a:lnTo>
                  <a:pt x="0" y="121573"/>
                </a:lnTo>
                <a:cubicBezTo>
                  <a:pt x="0" y="54430"/>
                  <a:pt x="54430" y="0"/>
                  <a:pt x="121573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41" name="Text 39"/>
          <p:cNvSpPr/>
          <p:nvPr/>
        </p:nvSpPr>
        <p:spPr bwMode="auto">
          <a:xfrm>
            <a:off x="2468766" y="6434667"/>
            <a:ext cx="712068" cy="243145"/>
          </a:xfrm>
          <a:prstGeom prst="rect">
            <a:avLst/>
          </a:prstGeom>
          <a:noFill/>
          <a:ln/>
        </p:spPr>
        <p:txBody>
          <a:bodyPr wrap="square" lIns="104205" tIns="34735" rIns="104205" bIns="34735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5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Scalable</a:t>
            </a:r>
            <a:endParaRPr lang="en-US" sz="1600"/>
          </a:p>
        </p:txBody>
      </p:sp>
      <p:sp>
        <p:nvSpPr>
          <p:cNvPr id="42" name="Shape 40"/>
          <p:cNvSpPr/>
          <p:nvPr/>
        </p:nvSpPr>
        <p:spPr bwMode="auto">
          <a:xfrm>
            <a:off x="6189079" y="1046393"/>
            <a:ext cx="5653128" cy="1814906"/>
          </a:xfrm>
          <a:custGeom>
            <a:avLst/>
            <a:gdLst/>
            <a:ahLst/>
            <a:cxnLst/>
            <a:rect l="l" t="t" r="r" b="b"/>
            <a:pathLst>
              <a:path w="5653128" h="1814906" fill="norm" stroke="1" extrusionOk="0">
                <a:moveTo>
                  <a:pt x="138949" y="0"/>
                </a:moveTo>
                <a:lnTo>
                  <a:pt x="5514179" y="0"/>
                </a:lnTo>
                <a:cubicBezTo>
                  <a:pt x="5590919" y="0"/>
                  <a:pt x="5653128" y="62210"/>
                  <a:pt x="5653128" y="138949"/>
                </a:cubicBezTo>
                <a:lnTo>
                  <a:pt x="5653128" y="1675957"/>
                </a:lnTo>
                <a:cubicBezTo>
                  <a:pt x="5653128" y="1752696"/>
                  <a:pt x="5590919" y="1814906"/>
                  <a:pt x="5514179" y="1814906"/>
                </a:cubicBezTo>
                <a:lnTo>
                  <a:pt x="138949" y="1814906"/>
                </a:lnTo>
                <a:cubicBezTo>
                  <a:pt x="62210" y="1814906"/>
                  <a:pt x="0" y="1752696"/>
                  <a:pt x="0" y="1675957"/>
                </a:cubicBezTo>
                <a:lnTo>
                  <a:pt x="0" y="138949"/>
                </a:lnTo>
                <a:cubicBezTo>
                  <a:pt x="0" y="62210"/>
                  <a:pt x="62210" y="0"/>
                  <a:pt x="138949" y="0"/>
                </a:cubicBezTo>
                <a:close/>
              </a:path>
            </a:pathLst>
          </a:custGeom>
          <a:gradFill>
            <a:gsLst>
              <a:gs pos="0">
                <a:srgbClr val="EC4899">
                  <a:alpha val="30000"/>
                </a:srgbClr>
              </a:gs>
              <a:gs pos="100000">
                <a:srgbClr val="EC4899">
                  <a:alpha val="10000"/>
                </a:srgbClr>
              </a:gs>
            </a:gsLst>
            <a:lin ang="2700000" scaled="1"/>
          </a:gradFill>
          <a:ln w="1270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 bwMode="auto">
          <a:xfrm>
            <a:off x="6367096" y="1224410"/>
            <a:ext cx="486291" cy="486291"/>
          </a:xfrm>
          <a:custGeom>
            <a:avLst/>
            <a:gdLst/>
            <a:ahLst/>
            <a:cxnLst/>
            <a:rect l="l" t="t" r="r" b="b"/>
            <a:pathLst>
              <a:path w="486291" h="486291" fill="norm" stroke="1" extrusionOk="0">
                <a:moveTo>
                  <a:pt x="104207" y="0"/>
                </a:moveTo>
                <a:lnTo>
                  <a:pt x="382083" y="0"/>
                </a:lnTo>
                <a:cubicBezTo>
                  <a:pt x="439597" y="0"/>
                  <a:pt x="486291" y="46694"/>
                  <a:pt x="486291" y="104207"/>
                </a:cubicBezTo>
                <a:lnTo>
                  <a:pt x="486291" y="382083"/>
                </a:lnTo>
                <a:cubicBezTo>
                  <a:pt x="486291" y="439597"/>
                  <a:pt x="439597" y="486291"/>
                  <a:pt x="382083" y="486291"/>
                </a:cubicBezTo>
                <a:lnTo>
                  <a:pt x="104207" y="486291"/>
                </a:lnTo>
                <a:cubicBezTo>
                  <a:pt x="46694" y="486291"/>
                  <a:pt x="0" y="439597"/>
                  <a:pt x="0" y="382083"/>
                </a:cubicBezTo>
                <a:lnTo>
                  <a:pt x="0" y="104207"/>
                </a:lnTo>
                <a:cubicBezTo>
                  <a:pt x="0" y="46694"/>
                  <a:pt x="46694" y="0"/>
                  <a:pt x="104207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44" name="Shape 42"/>
          <p:cNvSpPr/>
          <p:nvPr/>
        </p:nvSpPr>
        <p:spPr bwMode="auto">
          <a:xfrm>
            <a:off x="6493011" y="1363349"/>
            <a:ext cx="234462" cy="208410"/>
          </a:xfrm>
          <a:custGeom>
            <a:avLst/>
            <a:gdLst/>
            <a:ahLst/>
            <a:cxnLst/>
            <a:rect l="l" t="t" r="r" b="b"/>
            <a:pathLst>
              <a:path w="234462" h="208410" fill="norm" stroke="1" extrusionOk="0">
                <a:moveTo>
                  <a:pt x="0" y="57842"/>
                </a:moveTo>
                <a:lnTo>
                  <a:pt x="0" y="195385"/>
                </a:lnTo>
                <a:cubicBezTo>
                  <a:pt x="0" y="202589"/>
                  <a:pt x="5821" y="208410"/>
                  <a:pt x="13026" y="208410"/>
                </a:cubicBezTo>
                <a:cubicBezTo>
                  <a:pt x="20230" y="208410"/>
                  <a:pt x="26051" y="202589"/>
                  <a:pt x="26051" y="195385"/>
                </a:cubicBezTo>
                <a:lnTo>
                  <a:pt x="26051" y="97692"/>
                </a:lnTo>
                <a:cubicBezTo>
                  <a:pt x="26051" y="90488"/>
                  <a:pt x="31872" y="84667"/>
                  <a:pt x="39077" y="84667"/>
                </a:cubicBezTo>
                <a:lnTo>
                  <a:pt x="195385" y="84667"/>
                </a:lnTo>
                <a:cubicBezTo>
                  <a:pt x="202589" y="84667"/>
                  <a:pt x="208410" y="90488"/>
                  <a:pt x="208410" y="97692"/>
                </a:cubicBezTo>
                <a:lnTo>
                  <a:pt x="208410" y="195385"/>
                </a:lnTo>
                <a:cubicBezTo>
                  <a:pt x="208410" y="202589"/>
                  <a:pt x="214231" y="208410"/>
                  <a:pt x="221436" y="208410"/>
                </a:cubicBezTo>
                <a:cubicBezTo>
                  <a:pt x="228641" y="208410"/>
                  <a:pt x="234462" y="202589"/>
                  <a:pt x="234462" y="195385"/>
                </a:cubicBezTo>
                <a:lnTo>
                  <a:pt x="234462" y="57842"/>
                </a:lnTo>
                <a:cubicBezTo>
                  <a:pt x="234462" y="46648"/>
                  <a:pt x="227297" y="36675"/>
                  <a:pt x="216633" y="33134"/>
                </a:cubicBezTo>
                <a:lnTo>
                  <a:pt x="123418" y="2076"/>
                </a:lnTo>
                <a:cubicBezTo>
                  <a:pt x="119388" y="733"/>
                  <a:pt x="115073" y="733"/>
                  <a:pt x="111044" y="2076"/>
                </a:cubicBezTo>
                <a:lnTo>
                  <a:pt x="17829" y="33134"/>
                </a:lnTo>
                <a:cubicBezTo>
                  <a:pt x="7164" y="36675"/>
                  <a:pt x="0" y="46648"/>
                  <a:pt x="0" y="57842"/>
                </a:cubicBezTo>
                <a:close/>
                <a:moveTo>
                  <a:pt x="188872" y="104205"/>
                </a:moveTo>
                <a:lnTo>
                  <a:pt x="45590" y="104205"/>
                </a:lnTo>
                <a:lnTo>
                  <a:pt x="45590" y="130256"/>
                </a:lnTo>
                <a:lnTo>
                  <a:pt x="188872" y="130256"/>
                </a:lnTo>
                <a:lnTo>
                  <a:pt x="188872" y="104205"/>
                </a:lnTo>
                <a:close/>
                <a:moveTo>
                  <a:pt x="45590" y="169333"/>
                </a:moveTo>
                <a:lnTo>
                  <a:pt x="188872" y="169333"/>
                </a:lnTo>
                <a:lnTo>
                  <a:pt x="188872" y="143282"/>
                </a:lnTo>
                <a:lnTo>
                  <a:pt x="45590" y="143282"/>
                </a:lnTo>
                <a:lnTo>
                  <a:pt x="45590" y="169333"/>
                </a:lnTo>
                <a:close/>
                <a:moveTo>
                  <a:pt x="188872" y="182359"/>
                </a:moveTo>
                <a:lnTo>
                  <a:pt x="45590" y="182359"/>
                </a:lnTo>
                <a:lnTo>
                  <a:pt x="45590" y="208410"/>
                </a:lnTo>
                <a:lnTo>
                  <a:pt x="188872" y="208410"/>
                </a:lnTo>
                <a:lnTo>
                  <a:pt x="188872" y="18235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 bwMode="auto">
          <a:xfrm>
            <a:off x="6992327" y="1241778"/>
            <a:ext cx="989949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65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DuckDB</a:t>
            </a:r>
            <a:endParaRPr lang="en-US" sz="1600"/>
          </a:p>
        </p:txBody>
      </p:sp>
      <p:sp>
        <p:nvSpPr>
          <p:cNvPr id="46" name="Text 44"/>
          <p:cNvSpPr/>
          <p:nvPr/>
        </p:nvSpPr>
        <p:spPr bwMode="auto">
          <a:xfrm>
            <a:off x="6992327" y="1519657"/>
            <a:ext cx="946530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5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Data Warehouse</a:t>
            </a:r>
            <a:endParaRPr lang="en-US" sz="1600"/>
          </a:p>
        </p:txBody>
      </p:sp>
      <p:sp>
        <p:nvSpPr>
          <p:cNvPr id="47" name="Text 45"/>
          <p:cNvSpPr/>
          <p:nvPr/>
        </p:nvSpPr>
        <p:spPr bwMode="auto">
          <a:xfrm>
            <a:off x="6367096" y="1849641"/>
            <a:ext cx="5366564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10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Lightweight, extremely fast</a:t>
            </a:r>
            <a:r>
              <a:rPr lang="en-US" sz="11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for analytics and stores everything in a single file that is simple to backup and inspect.</a:t>
            </a:r>
            <a:endParaRPr lang="en-US" sz="1600"/>
          </a:p>
        </p:txBody>
      </p:sp>
      <p:sp>
        <p:nvSpPr>
          <p:cNvPr id="48" name="Shape 46"/>
          <p:cNvSpPr/>
          <p:nvPr/>
        </p:nvSpPr>
        <p:spPr bwMode="auto">
          <a:xfrm>
            <a:off x="6367096" y="2440137"/>
            <a:ext cx="929162" cy="243145"/>
          </a:xfrm>
          <a:custGeom>
            <a:avLst/>
            <a:gdLst/>
            <a:ahLst/>
            <a:cxnLst/>
            <a:rect l="l" t="t" r="r" b="b"/>
            <a:pathLst>
              <a:path w="929162" h="243145" fill="norm" stroke="1" extrusionOk="0">
                <a:moveTo>
                  <a:pt x="121573" y="0"/>
                </a:moveTo>
                <a:lnTo>
                  <a:pt x="807590" y="0"/>
                </a:lnTo>
                <a:cubicBezTo>
                  <a:pt x="874732" y="0"/>
                  <a:pt x="929162" y="54430"/>
                  <a:pt x="929162" y="121573"/>
                </a:cubicBezTo>
                <a:lnTo>
                  <a:pt x="929162" y="121573"/>
                </a:lnTo>
                <a:cubicBezTo>
                  <a:pt x="929162" y="188715"/>
                  <a:pt x="874732" y="243145"/>
                  <a:pt x="807590" y="243145"/>
                </a:cubicBezTo>
                <a:lnTo>
                  <a:pt x="121573" y="243145"/>
                </a:lnTo>
                <a:cubicBezTo>
                  <a:pt x="54430" y="243145"/>
                  <a:pt x="0" y="188715"/>
                  <a:pt x="0" y="121573"/>
                </a:cubicBezTo>
                <a:lnTo>
                  <a:pt x="0" y="121573"/>
                </a:lnTo>
                <a:cubicBezTo>
                  <a:pt x="0" y="54430"/>
                  <a:pt x="54430" y="0"/>
                  <a:pt x="121573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/>
        </p:spPr>
      </p:sp>
      <p:sp>
        <p:nvSpPr>
          <p:cNvPr id="49" name="Text 47"/>
          <p:cNvSpPr/>
          <p:nvPr/>
        </p:nvSpPr>
        <p:spPr bwMode="auto">
          <a:xfrm flipH="0" flipV="0">
            <a:off x="6367095" y="2440136"/>
            <a:ext cx="1267828" cy="243143"/>
          </a:xfrm>
          <a:prstGeom prst="rect">
            <a:avLst/>
          </a:prstGeom>
          <a:noFill/>
          <a:ln/>
        </p:spPr>
        <p:txBody>
          <a:bodyPr wrap="square" lIns="104204" tIns="34734" rIns="104204" bIns="34734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5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Fast Analytics</a:t>
            </a:r>
            <a:endParaRPr lang="en-US" sz="1600"/>
          </a:p>
        </p:txBody>
      </p:sp>
      <p:sp>
        <p:nvSpPr>
          <p:cNvPr id="50" name="Shape 48"/>
          <p:cNvSpPr/>
          <p:nvPr/>
        </p:nvSpPr>
        <p:spPr bwMode="auto">
          <a:xfrm>
            <a:off x="7362201" y="2440137"/>
            <a:ext cx="729436" cy="243145"/>
          </a:xfrm>
          <a:custGeom>
            <a:avLst/>
            <a:gdLst/>
            <a:ahLst/>
            <a:cxnLst/>
            <a:rect l="l" t="t" r="r" b="b"/>
            <a:pathLst>
              <a:path w="729436" h="243145" fill="norm" stroke="1" extrusionOk="0">
                <a:moveTo>
                  <a:pt x="121573" y="0"/>
                </a:moveTo>
                <a:lnTo>
                  <a:pt x="607863" y="0"/>
                </a:lnTo>
                <a:cubicBezTo>
                  <a:pt x="675006" y="0"/>
                  <a:pt x="729436" y="54430"/>
                  <a:pt x="729436" y="121573"/>
                </a:cubicBezTo>
                <a:lnTo>
                  <a:pt x="729436" y="121573"/>
                </a:lnTo>
                <a:cubicBezTo>
                  <a:pt x="729436" y="188715"/>
                  <a:pt x="675006" y="243145"/>
                  <a:pt x="607863" y="243145"/>
                </a:cubicBezTo>
                <a:lnTo>
                  <a:pt x="121573" y="243145"/>
                </a:lnTo>
                <a:cubicBezTo>
                  <a:pt x="54430" y="243145"/>
                  <a:pt x="0" y="188715"/>
                  <a:pt x="0" y="121573"/>
                </a:cubicBezTo>
                <a:lnTo>
                  <a:pt x="0" y="121573"/>
                </a:lnTo>
                <a:cubicBezTo>
                  <a:pt x="0" y="54430"/>
                  <a:pt x="54430" y="0"/>
                  <a:pt x="121573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/>
        </p:spPr>
      </p:sp>
      <p:sp>
        <p:nvSpPr>
          <p:cNvPr id="51" name="Text 49"/>
          <p:cNvSpPr/>
          <p:nvPr/>
        </p:nvSpPr>
        <p:spPr bwMode="auto">
          <a:xfrm flipH="0" flipV="0">
            <a:off x="7362200" y="2440136"/>
            <a:ext cx="1088590" cy="243143"/>
          </a:xfrm>
          <a:prstGeom prst="rect">
            <a:avLst/>
          </a:prstGeom>
          <a:noFill/>
          <a:ln/>
        </p:spPr>
        <p:txBody>
          <a:bodyPr wrap="square" lIns="104204" tIns="34734" rIns="104204" bIns="34734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5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Single File</a:t>
            </a:r>
            <a:endParaRPr lang="en-US" sz="1600"/>
          </a:p>
        </p:txBody>
      </p:sp>
      <p:sp>
        <p:nvSpPr>
          <p:cNvPr id="52" name="Shape 50"/>
          <p:cNvSpPr/>
          <p:nvPr/>
        </p:nvSpPr>
        <p:spPr bwMode="auto">
          <a:xfrm>
            <a:off x="8161785" y="2440137"/>
            <a:ext cx="1068103" cy="243145"/>
          </a:xfrm>
          <a:custGeom>
            <a:avLst/>
            <a:gdLst/>
            <a:ahLst/>
            <a:cxnLst/>
            <a:rect l="l" t="t" r="r" b="b"/>
            <a:pathLst>
              <a:path w="1068103" h="243145" fill="norm" stroke="1" extrusionOk="0">
                <a:moveTo>
                  <a:pt x="121573" y="0"/>
                </a:moveTo>
                <a:lnTo>
                  <a:pt x="946530" y="0"/>
                </a:lnTo>
                <a:cubicBezTo>
                  <a:pt x="1013673" y="0"/>
                  <a:pt x="1068103" y="54430"/>
                  <a:pt x="1068103" y="121573"/>
                </a:cubicBezTo>
                <a:lnTo>
                  <a:pt x="1068103" y="121573"/>
                </a:lnTo>
                <a:cubicBezTo>
                  <a:pt x="1068103" y="188715"/>
                  <a:pt x="1013673" y="243145"/>
                  <a:pt x="946530" y="243145"/>
                </a:cubicBezTo>
                <a:lnTo>
                  <a:pt x="121573" y="243145"/>
                </a:lnTo>
                <a:cubicBezTo>
                  <a:pt x="54430" y="243145"/>
                  <a:pt x="0" y="188715"/>
                  <a:pt x="0" y="121573"/>
                </a:cubicBezTo>
                <a:lnTo>
                  <a:pt x="0" y="121573"/>
                </a:lnTo>
                <a:cubicBezTo>
                  <a:pt x="0" y="54430"/>
                  <a:pt x="54430" y="0"/>
                  <a:pt x="121573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/>
        </p:spPr>
      </p:sp>
      <p:sp>
        <p:nvSpPr>
          <p:cNvPr id="53" name="Text 51"/>
          <p:cNvSpPr/>
          <p:nvPr/>
        </p:nvSpPr>
        <p:spPr bwMode="auto">
          <a:xfrm flipH="0" flipV="0">
            <a:off x="8161785" y="2440136"/>
            <a:ext cx="1335535" cy="243143"/>
          </a:xfrm>
          <a:prstGeom prst="rect">
            <a:avLst/>
          </a:prstGeom>
          <a:noFill/>
          <a:ln/>
        </p:spPr>
        <p:txBody>
          <a:bodyPr wrap="square" lIns="104204" tIns="34734" rIns="104204" bIns="34734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5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SQL Compatible</a:t>
            </a:r>
            <a:endParaRPr lang="en-US" sz="1600"/>
          </a:p>
        </p:txBody>
      </p:sp>
      <p:sp>
        <p:nvSpPr>
          <p:cNvPr id="54" name="Shape 52"/>
          <p:cNvSpPr/>
          <p:nvPr/>
        </p:nvSpPr>
        <p:spPr bwMode="auto">
          <a:xfrm>
            <a:off x="6189079" y="3043658"/>
            <a:ext cx="5653128" cy="1814906"/>
          </a:xfrm>
          <a:custGeom>
            <a:avLst/>
            <a:gdLst/>
            <a:ahLst/>
            <a:cxnLst/>
            <a:rect l="l" t="t" r="r" b="b"/>
            <a:pathLst>
              <a:path w="5653128" h="1814906" fill="norm" stroke="1" extrusionOk="0">
                <a:moveTo>
                  <a:pt x="138949" y="0"/>
                </a:moveTo>
                <a:lnTo>
                  <a:pt x="5514179" y="0"/>
                </a:lnTo>
                <a:cubicBezTo>
                  <a:pt x="5590919" y="0"/>
                  <a:pt x="5653128" y="62210"/>
                  <a:pt x="5653128" y="138949"/>
                </a:cubicBezTo>
                <a:lnTo>
                  <a:pt x="5653128" y="1675957"/>
                </a:lnTo>
                <a:cubicBezTo>
                  <a:pt x="5653128" y="1752696"/>
                  <a:pt x="5590919" y="1814906"/>
                  <a:pt x="5514179" y="1814906"/>
                </a:cubicBezTo>
                <a:lnTo>
                  <a:pt x="138949" y="1814906"/>
                </a:lnTo>
                <a:cubicBezTo>
                  <a:pt x="62210" y="1814906"/>
                  <a:pt x="0" y="1752696"/>
                  <a:pt x="0" y="1675957"/>
                </a:cubicBezTo>
                <a:lnTo>
                  <a:pt x="0" y="138949"/>
                </a:lnTo>
                <a:cubicBezTo>
                  <a:pt x="0" y="62210"/>
                  <a:pt x="62210" y="0"/>
                  <a:pt x="138949" y="0"/>
                </a:cubicBezTo>
                <a:close/>
              </a:path>
            </a:pathLst>
          </a:custGeom>
          <a:gradFill>
            <a:gsLst>
              <a:gs pos="0">
                <a:srgbClr val="7C3AED">
                  <a:alpha val="30000"/>
                </a:srgbClr>
              </a:gs>
              <a:gs pos="100000">
                <a:srgbClr val="7C3AED">
                  <a:alpha val="10000"/>
                </a:srgbClr>
              </a:gs>
            </a:gsLst>
            <a:lin ang="2700000" scaled="1"/>
          </a:gra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 bwMode="auto">
          <a:xfrm>
            <a:off x="6367096" y="3221675"/>
            <a:ext cx="486291" cy="486291"/>
          </a:xfrm>
          <a:custGeom>
            <a:avLst/>
            <a:gdLst/>
            <a:ahLst/>
            <a:cxnLst/>
            <a:rect l="l" t="t" r="r" b="b"/>
            <a:pathLst>
              <a:path w="486291" h="486291" fill="norm" stroke="1" extrusionOk="0">
                <a:moveTo>
                  <a:pt x="104207" y="0"/>
                </a:moveTo>
                <a:lnTo>
                  <a:pt x="382083" y="0"/>
                </a:lnTo>
                <a:cubicBezTo>
                  <a:pt x="439597" y="0"/>
                  <a:pt x="486291" y="46694"/>
                  <a:pt x="486291" y="104207"/>
                </a:cubicBezTo>
                <a:lnTo>
                  <a:pt x="486291" y="382083"/>
                </a:lnTo>
                <a:cubicBezTo>
                  <a:pt x="486291" y="439597"/>
                  <a:pt x="439597" y="486291"/>
                  <a:pt x="382083" y="486291"/>
                </a:cubicBezTo>
                <a:lnTo>
                  <a:pt x="104207" y="486291"/>
                </a:lnTo>
                <a:cubicBezTo>
                  <a:pt x="46694" y="486291"/>
                  <a:pt x="0" y="439597"/>
                  <a:pt x="0" y="382083"/>
                </a:cubicBezTo>
                <a:lnTo>
                  <a:pt x="0" y="104207"/>
                </a:lnTo>
                <a:cubicBezTo>
                  <a:pt x="0" y="46694"/>
                  <a:pt x="46694" y="0"/>
                  <a:pt x="104207" y="0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56" name="Shape 54"/>
          <p:cNvSpPr/>
          <p:nvPr/>
        </p:nvSpPr>
        <p:spPr bwMode="auto">
          <a:xfrm>
            <a:off x="6493011" y="3360615"/>
            <a:ext cx="234462" cy="208410"/>
          </a:xfrm>
          <a:custGeom>
            <a:avLst/>
            <a:gdLst/>
            <a:ahLst/>
            <a:cxnLst/>
            <a:rect l="l" t="t" r="r" b="b"/>
            <a:pathLst>
              <a:path w="234462" h="208410" fill="norm" stroke="1" extrusionOk="0">
                <a:moveTo>
                  <a:pt x="100949" y="35821"/>
                </a:moveTo>
                <a:lnTo>
                  <a:pt x="133513" y="35821"/>
                </a:lnTo>
                <a:lnTo>
                  <a:pt x="133513" y="55359"/>
                </a:lnTo>
                <a:lnTo>
                  <a:pt x="100949" y="55359"/>
                </a:lnTo>
                <a:lnTo>
                  <a:pt x="100949" y="35821"/>
                </a:lnTo>
                <a:close/>
                <a:moveTo>
                  <a:pt x="97692" y="13026"/>
                </a:moveTo>
                <a:cubicBezTo>
                  <a:pt x="86905" y="13026"/>
                  <a:pt x="78154" y="21777"/>
                  <a:pt x="78154" y="32564"/>
                </a:cubicBezTo>
                <a:lnTo>
                  <a:pt x="78154" y="58615"/>
                </a:lnTo>
                <a:cubicBezTo>
                  <a:pt x="78154" y="69402"/>
                  <a:pt x="86905" y="78154"/>
                  <a:pt x="97692" y="78154"/>
                </a:cubicBezTo>
                <a:lnTo>
                  <a:pt x="104205" y="78154"/>
                </a:lnTo>
                <a:lnTo>
                  <a:pt x="104205" y="91179"/>
                </a:lnTo>
                <a:lnTo>
                  <a:pt x="13026" y="91179"/>
                </a:lnTo>
                <a:cubicBezTo>
                  <a:pt x="5821" y="91179"/>
                  <a:pt x="0" y="97000"/>
                  <a:pt x="0" y="104205"/>
                </a:cubicBezTo>
                <a:cubicBezTo>
                  <a:pt x="0" y="111410"/>
                  <a:pt x="5821" y="117231"/>
                  <a:pt x="13026" y="117231"/>
                </a:cubicBezTo>
                <a:lnTo>
                  <a:pt x="52103" y="117231"/>
                </a:lnTo>
                <a:lnTo>
                  <a:pt x="52103" y="130256"/>
                </a:lnTo>
                <a:lnTo>
                  <a:pt x="45590" y="130256"/>
                </a:lnTo>
                <a:cubicBezTo>
                  <a:pt x="34803" y="130256"/>
                  <a:pt x="26051" y="139008"/>
                  <a:pt x="26051" y="149795"/>
                </a:cubicBezTo>
                <a:lnTo>
                  <a:pt x="26051" y="175846"/>
                </a:lnTo>
                <a:cubicBezTo>
                  <a:pt x="26051" y="186633"/>
                  <a:pt x="34803" y="195385"/>
                  <a:pt x="45590" y="195385"/>
                </a:cubicBezTo>
                <a:lnTo>
                  <a:pt x="84667" y="195385"/>
                </a:lnTo>
                <a:cubicBezTo>
                  <a:pt x="95454" y="195385"/>
                  <a:pt x="104205" y="186633"/>
                  <a:pt x="104205" y="175846"/>
                </a:cubicBezTo>
                <a:lnTo>
                  <a:pt x="104205" y="149795"/>
                </a:lnTo>
                <a:cubicBezTo>
                  <a:pt x="104205" y="139008"/>
                  <a:pt x="95454" y="130256"/>
                  <a:pt x="84667" y="130256"/>
                </a:cubicBezTo>
                <a:lnTo>
                  <a:pt x="78154" y="130256"/>
                </a:lnTo>
                <a:lnTo>
                  <a:pt x="78154" y="117231"/>
                </a:lnTo>
                <a:lnTo>
                  <a:pt x="156308" y="117231"/>
                </a:lnTo>
                <a:lnTo>
                  <a:pt x="156308" y="130256"/>
                </a:lnTo>
                <a:lnTo>
                  <a:pt x="149795" y="130256"/>
                </a:lnTo>
                <a:cubicBezTo>
                  <a:pt x="139008" y="130256"/>
                  <a:pt x="130256" y="139008"/>
                  <a:pt x="130256" y="149795"/>
                </a:cubicBezTo>
                <a:lnTo>
                  <a:pt x="130256" y="175846"/>
                </a:lnTo>
                <a:cubicBezTo>
                  <a:pt x="130256" y="186633"/>
                  <a:pt x="139008" y="195385"/>
                  <a:pt x="149795" y="195385"/>
                </a:cubicBezTo>
                <a:lnTo>
                  <a:pt x="188872" y="195385"/>
                </a:lnTo>
                <a:cubicBezTo>
                  <a:pt x="199659" y="195385"/>
                  <a:pt x="208410" y="186633"/>
                  <a:pt x="208410" y="175846"/>
                </a:cubicBezTo>
                <a:lnTo>
                  <a:pt x="208410" y="149795"/>
                </a:lnTo>
                <a:cubicBezTo>
                  <a:pt x="208410" y="139008"/>
                  <a:pt x="199659" y="130256"/>
                  <a:pt x="188872" y="130256"/>
                </a:cubicBezTo>
                <a:lnTo>
                  <a:pt x="182359" y="130256"/>
                </a:lnTo>
                <a:lnTo>
                  <a:pt x="182359" y="117231"/>
                </a:lnTo>
                <a:lnTo>
                  <a:pt x="221436" y="117231"/>
                </a:lnTo>
                <a:cubicBezTo>
                  <a:pt x="228641" y="117231"/>
                  <a:pt x="234462" y="111410"/>
                  <a:pt x="234462" y="104205"/>
                </a:cubicBezTo>
                <a:cubicBezTo>
                  <a:pt x="234462" y="97000"/>
                  <a:pt x="228641" y="91179"/>
                  <a:pt x="221436" y="91179"/>
                </a:cubicBezTo>
                <a:lnTo>
                  <a:pt x="130256" y="91179"/>
                </a:lnTo>
                <a:lnTo>
                  <a:pt x="130256" y="78154"/>
                </a:lnTo>
                <a:lnTo>
                  <a:pt x="136769" y="78154"/>
                </a:lnTo>
                <a:cubicBezTo>
                  <a:pt x="147556" y="78154"/>
                  <a:pt x="156308" y="69402"/>
                  <a:pt x="156308" y="58615"/>
                </a:cubicBezTo>
                <a:lnTo>
                  <a:pt x="156308" y="32564"/>
                </a:lnTo>
                <a:cubicBezTo>
                  <a:pt x="156308" y="21777"/>
                  <a:pt x="147556" y="13026"/>
                  <a:pt x="136769" y="13026"/>
                </a:cubicBezTo>
                <a:lnTo>
                  <a:pt x="97692" y="13026"/>
                </a:lnTo>
                <a:close/>
                <a:moveTo>
                  <a:pt x="182359" y="153051"/>
                </a:moveTo>
                <a:lnTo>
                  <a:pt x="185615" y="153051"/>
                </a:lnTo>
                <a:lnTo>
                  <a:pt x="185615" y="172590"/>
                </a:lnTo>
                <a:lnTo>
                  <a:pt x="153051" y="172590"/>
                </a:lnTo>
                <a:lnTo>
                  <a:pt x="153051" y="153051"/>
                </a:lnTo>
                <a:lnTo>
                  <a:pt x="182359" y="153051"/>
                </a:lnTo>
                <a:close/>
                <a:moveTo>
                  <a:pt x="78154" y="153051"/>
                </a:moveTo>
                <a:lnTo>
                  <a:pt x="81410" y="153051"/>
                </a:lnTo>
                <a:lnTo>
                  <a:pt x="81410" y="172590"/>
                </a:lnTo>
                <a:lnTo>
                  <a:pt x="48846" y="172590"/>
                </a:lnTo>
                <a:lnTo>
                  <a:pt x="48846" y="153051"/>
                </a:lnTo>
                <a:lnTo>
                  <a:pt x="78154" y="15305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 bwMode="auto">
          <a:xfrm>
            <a:off x="6992327" y="3239043"/>
            <a:ext cx="868376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65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Nginx</a:t>
            </a:r>
            <a:endParaRPr lang="en-US" sz="1600"/>
          </a:p>
        </p:txBody>
      </p:sp>
      <p:sp>
        <p:nvSpPr>
          <p:cNvPr id="58" name="Text 56"/>
          <p:cNvSpPr/>
          <p:nvPr/>
        </p:nvSpPr>
        <p:spPr bwMode="auto">
          <a:xfrm>
            <a:off x="6992327" y="3516923"/>
            <a:ext cx="824956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5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Web Gateway</a:t>
            </a:r>
            <a:endParaRPr lang="en-US" sz="1600"/>
          </a:p>
        </p:txBody>
      </p:sp>
      <p:sp>
        <p:nvSpPr>
          <p:cNvPr id="59" name="Text 57"/>
          <p:cNvSpPr/>
          <p:nvPr/>
        </p:nvSpPr>
        <p:spPr bwMode="auto">
          <a:xfrm>
            <a:off x="6367096" y="3846906"/>
            <a:ext cx="5366564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1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Provides a </a:t>
            </a:r>
            <a:r>
              <a:rPr lang="en-US" sz="110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professional web gateway</a:t>
            </a:r>
            <a:r>
              <a:rPr lang="en-US" sz="11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with SSL termination, load balancing and secure request routing.</a:t>
            </a:r>
            <a:endParaRPr lang="en-US" sz="1600"/>
          </a:p>
        </p:txBody>
      </p:sp>
      <p:sp>
        <p:nvSpPr>
          <p:cNvPr id="60" name="Shape 58"/>
          <p:cNvSpPr/>
          <p:nvPr/>
        </p:nvSpPr>
        <p:spPr bwMode="auto">
          <a:xfrm>
            <a:off x="6367096" y="4437402"/>
            <a:ext cx="963897" cy="243145"/>
          </a:xfrm>
          <a:custGeom>
            <a:avLst/>
            <a:gdLst/>
            <a:ahLst/>
            <a:cxnLst/>
            <a:rect l="l" t="t" r="r" b="b"/>
            <a:pathLst>
              <a:path w="963897" h="243145" fill="norm" stroke="1" extrusionOk="0">
                <a:moveTo>
                  <a:pt x="121573" y="0"/>
                </a:moveTo>
                <a:lnTo>
                  <a:pt x="842325" y="0"/>
                </a:lnTo>
                <a:cubicBezTo>
                  <a:pt x="909468" y="0"/>
                  <a:pt x="963897" y="54430"/>
                  <a:pt x="963897" y="121573"/>
                </a:cubicBezTo>
                <a:lnTo>
                  <a:pt x="963897" y="121573"/>
                </a:lnTo>
                <a:cubicBezTo>
                  <a:pt x="963897" y="188715"/>
                  <a:pt x="909468" y="243145"/>
                  <a:pt x="842325" y="243145"/>
                </a:cubicBezTo>
                <a:lnTo>
                  <a:pt x="121573" y="243145"/>
                </a:lnTo>
                <a:cubicBezTo>
                  <a:pt x="54430" y="243145"/>
                  <a:pt x="0" y="188715"/>
                  <a:pt x="0" y="121573"/>
                </a:cubicBezTo>
                <a:lnTo>
                  <a:pt x="0" y="121573"/>
                </a:lnTo>
                <a:cubicBezTo>
                  <a:pt x="0" y="54430"/>
                  <a:pt x="54430" y="0"/>
                  <a:pt x="121573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61" name="Text 59"/>
          <p:cNvSpPr/>
          <p:nvPr/>
        </p:nvSpPr>
        <p:spPr bwMode="auto">
          <a:xfrm flipH="0" flipV="0">
            <a:off x="6367095" y="4437401"/>
            <a:ext cx="1098495" cy="243143"/>
          </a:xfrm>
          <a:prstGeom prst="rect">
            <a:avLst/>
          </a:prstGeom>
          <a:noFill/>
          <a:ln/>
        </p:spPr>
        <p:txBody>
          <a:bodyPr wrap="square" lIns="104204" tIns="34734" rIns="104204" bIns="34734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5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Reverse Proxy</a:t>
            </a:r>
            <a:endParaRPr lang="en-US" sz="1600"/>
          </a:p>
        </p:txBody>
      </p:sp>
      <p:sp>
        <p:nvSpPr>
          <p:cNvPr id="62" name="Shape 60"/>
          <p:cNvSpPr/>
          <p:nvPr/>
        </p:nvSpPr>
        <p:spPr bwMode="auto">
          <a:xfrm>
            <a:off x="7397886" y="4437402"/>
            <a:ext cx="642598" cy="243145"/>
          </a:xfrm>
          <a:custGeom>
            <a:avLst/>
            <a:gdLst/>
            <a:ahLst/>
            <a:cxnLst/>
            <a:rect l="l" t="t" r="r" b="b"/>
            <a:pathLst>
              <a:path w="642598" h="243145" fill="norm" stroke="1" extrusionOk="0">
                <a:moveTo>
                  <a:pt x="121573" y="0"/>
                </a:moveTo>
                <a:lnTo>
                  <a:pt x="521026" y="0"/>
                </a:lnTo>
                <a:cubicBezTo>
                  <a:pt x="588168" y="0"/>
                  <a:pt x="642598" y="54430"/>
                  <a:pt x="642598" y="121573"/>
                </a:cubicBezTo>
                <a:lnTo>
                  <a:pt x="642598" y="121573"/>
                </a:lnTo>
                <a:cubicBezTo>
                  <a:pt x="642598" y="188715"/>
                  <a:pt x="588168" y="243145"/>
                  <a:pt x="521026" y="243145"/>
                </a:cubicBezTo>
                <a:lnTo>
                  <a:pt x="121573" y="243145"/>
                </a:lnTo>
                <a:cubicBezTo>
                  <a:pt x="54430" y="243145"/>
                  <a:pt x="0" y="188715"/>
                  <a:pt x="0" y="121573"/>
                </a:cubicBezTo>
                <a:lnTo>
                  <a:pt x="0" y="121573"/>
                </a:lnTo>
                <a:cubicBezTo>
                  <a:pt x="0" y="54430"/>
                  <a:pt x="54430" y="0"/>
                  <a:pt x="121573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63" name="Text 61"/>
          <p:cNvSpPr/>
          <p:nvPr/>
        </p:nvSpPr>
        <p:spPr bwMode="auto">
          <a:xfrm flipH="0" flipV="0">
            <a:off x="7397885" y="4437401"/>
            <a:ext cx="801483" cy="243143"/>
          </a:xfrm>
          <a:prstGeom prst="rect">
            <a:avLst/>
          </a:prstGeom>
          <a:noFill/>
          <a:ln/>
        </p:spPr>
        <p:txBody>
          <a:bodyPr wrap="square" lIns="104204" tIns="34734" rIns="104204" bIns="34734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5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SSL/TLS</a:t>
            </a:r>
            <a:endParaRPr lang="en-US" sz="1600"/>
          </a:p>
        </p:txBody>
      </p:sp>
      <p:sp>
        <p:nvSpPr>
          <p:cNvPr id="64" name="Shape 62"/>
          <p:cNvSpPr/>
          <p:nvPr/>
        </p:nvSpPr>
        <p:spPr bwMode="auto">
          <a:xfrm>
            <a:off x="8111311" y="4437402"/>
            <a:ext cx="998632" cy="243145"/>
          </a:xfrm>
          <a:custGeom>
            <a:avLst/>
            <a:gdLst/>
            <a:ahLst/>
            <a:cxnLst/>
            <a:rect l="l" t="t" r="r" b="b"/>
            <a:pathLst>
              <a:path w="998632" h="243145" fill="norm" stroke="1" extrusionOk="0">
                <a:moveTo>
                  <a:pt x="121573" y="0"/>
                </a:moveTo>
                <a:lnTo>
                  <a:pt x="877060" y="0"/>
                </a:lnTo>
                <a:cubicBezTo>
                  <a:pt x="944203" y="0"/>
                  <a:pt x="998632" y="54430"/>
                  <a:pt x="998632" y="121573"/>
                </a:cubicBezTo>
                <a:lnTo>
                  <a:pt x="998632" y="121573"/>
                </a:lnTo>
                <a:cubicBezTo>
                  <a:pt x="998632" y="188715"/>
                  <a:pt x="944203" y="243145"/>
                  <a:pt x="877060" y="243145"/>
                </a:cubicBezTo>
                <a:lnTo>
                  <a:pt x="121573" y="243145"/>
                </a:lnTo>
                <a:cubicBezTo>
                  <a:pt x="54430" y="243145"/>
                  <a:pt x="0" y="188715"/>
                  <a:pt x="0" y="121573"/>
                </a:cubicBezTo>
                <a:lnTo>
                  <a:pt x="0" y="121573"/>
                </a:lnTo>
                <a:cubicBezTo>
                  <a:pt x="0" y="54430"/>
                  <a:pt x="54430" y="0"/>
                  <a:pt x="121573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65" name="Text 63"/>
          <p:cNvSpPr/>
          <p:nvPr/>
        </p:nvSpPr>
        <p:spPr bwMode="auto">
          <a:xfrm flipH="0" flipV="0">
            <a:off x="8111310" y="4437401"/>
            <a:ext cx="1118576" cy="243143"/>
          </a:xfrm>
          <a:prstGeom prst="rect">
            <a:avLst/>
          </a:prstGeom>
          <a:noFill/>
          <a:ln/>
        </p:spPr>
        <p:txBody>
          <a:bodyPr wrap="square" lIns="104204" tIns="34734" rIns="104204" bIns="34734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5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Load Balancing</a:t>
            </a:r>
            <a:endParaRPr lang="en-US" sz="1600"/>
          </a:p>
        </p:txBody>
      </p:sp>
      <p:sp>
        <p:nvSpPr>
          <p:cNvPr id="66" name="Shape 64"/>
          <p:cNvSpPr/>
          <p:nvPr/>
        </p:nvSpPr>
        <p:spPr bwMode="auto">
          <a:xfrm>
            <a:off x="6189079" y="5040923"/>
            <a:ext cx="5653128" cy="1814906"/>
          </a:xfrm>
          <a:custGeom>
            <a:avLst/>
            <a:gdLst/>
            <a:ahLst/>
            <a:cxnLst/>
            <a:rect l="l" t="t" r="r" b="b"/>
            <a:pathLst>
              <a:path w="5653128" h="1814906" fill="norm" stroke="1" extrusionOk="0">
                <a:moveTo>
                  <a:pt x="138949" y="0"/>
                </a:moveTo>
                <a:lnTo>
                  <a:pt x="5514179" y="0"/>
                </a:lnTo>
                <a:cubicBezTo>
                  <a:pt x="5590919" y="0"/>
                  <a:pt x="5653128" y="62210"/>
                  <a:pt x="5653128" y="138949"/>
                </a:cubicBezTo>
                <a:lnTo>
                  <a:pt x="5653128" y="1675957"/>
                </a:lnTo>
                <a:cubicBezTo>
                  <a:pt x="5653128" y="1752696"/>
                  <a:pt x="5590919" y="1814906"/>
                  <a:pt x="5514179" y="1814906"/>
                </a:cubicBezTo>
                <a:lnTo>
                  <a:pt x="138949" y="1814906"/>
                </a:lnTo>
                <a:cubicBezTo>
                  <a:pt x="62210" y="1814906"/>
                  <a:pt x="0" y="1752696"/>
                  <a:pt x="0" y="1675957"/>
                </a:cubicBezTo>
                <a:lnTo>
                  <a:pt x="0" y="138949"/>
                </a:lnTo>
                <a:cubicBezTo>
                  <a:pt x="0" y="62210"/>
                  <a:pt x="62210" y="0"/>
                  <a:pt x="138949" y="0"/>
                </a:cubicBezTo>
                <a:close/>
              </a:path>
            </a:pathLst>
          </a:custGeom>
          <a:gradFill>
            <a:gsLst>
              <a:gs pos="0">
                <a:srgbClr val="EC4899">
                  <a:alpha val="30000"/>
                </a:srgbClr>
              </a:gs>
              <a:gs pos="100000">
                <a:srgbClr val="EC4899">
                  <a:alpha val="10000"/>
                </a:srgbClr>
              </a:gs>
            </a:gsLst>
            <a:lin ang="2700000" scaled="1"/>
          </a:gradFill>
          <a:ln w="1270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 bwMode="auto">
          <a:xfrm>
            <a:off x="6367096" y="5218940"/>
            <a:ext cx="486291" cy="486291"/>
          </a:xfrm>
          <a:custGeom>
            <a:avLst/>
            <a:gdLst/>
            <a:ahLst/>
            <a:cxnLst/>
            <a:rect l="l" t="t" r="r" b="b"/>
            <a:pathLst>
              <a:path w="486291" h="486291" fill="norm" stroke="1" extrusionOk="0">
                <a:moveTo>
                  <a:pt x="104207" y="0"/>
                </a:moveTo>
                <a:lnTo>
                  <a:pt x="382083" y="0"/>
                </a:lnTo>
                <a:cubicBezTo>
                  <a:pt x="439597" y="0"/>
                  <a:pt x="486291" y="46694"/>
                  <a:pt x="486291" y="104207"/>
                </a:cubicBezTo>
                <a:lnTo>
                  <a:pt x="486291" y="382083"/>
                </a:lnTo>
                <a:cubicBezTo>
                  <a:pt x="486291" y="439597"/>
                  <a:pt x="439597" y="486291"/>
                  <a:pt x="382083" y="486291"/>
                </a:cubicBezTo>
                <a:lnTo>
                  <a:pt x="104207" y="486291"/>
                </a:lnTo>
                <a:cubicBezTo>
                  <a:pt x="46694" y="486291"/>
                  <a:pt x="0" y="439597"/>
                  <a:pt x="0" y="382083"/>
                </a:cubicBezTo>
                <a:lnTo>
                  <a:pt x="0" y="104207"/>
                </a:lnTo>
                <a:cubicBezTo>
                  <a:pt x="0" y="46694"/>
                  <a:pt x="46694" y="0"/>
                  <a:pt x="104207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68" name="Shape 66"/>
          <p:cNvSpPr/>
          <p:nvPr/>
        </p:nvSpPr>
        <p:spPr bwMode="auto">
          <a:xfrm>
            <a:off x="6506036" y="5357880"/>
            <a:ext cx="208410" cy="208410"/>
          </a:xfrm>
          <a:custGeom>
            <a:avLst/>
            <a:gdLst/>
            <a:ahLst/>
            <a:cxnLst/>
            <a:rect l="l" t="t" r="r" b="b"/>
            <a:pathLst>
              <a:path w="208410" h="208410" fill="norm" stroke="1" extrusionOk="0">
                <a:moveTo>
                  <a:pt x="170229" y="72129"/>
                </a:moveTo>
                <a:cubicBezTo>
                  <a:pt x="168031" y="71397"/>
                  <a:pt x="165833" y="70705"/>
                  <a:pt x="163635" y="70054"/>
                </a:cubicBezTo>
                <a:cubicBezTo>
                  <a:pt x="164001" y="68547"/>
                  <a:pt x="164327" y="67041"/>
                  <a:pt x="164652" y="65535"/>
                </a:cubicBezTo>
                <a:cubicBezTo>
                  <a:pt x="169659" y="41275"/>
                  <a:pt x="166362" y="21777"/>
                  <a:pt x="155249" y="15346"/>
                </a:cubicBezTo>
                <a:cubicBezTo>
                  <a:pt x="144544" y="9199"/>
                  <a:pt x="127081" y="15590"/>
                  <a:pt x="109415" y="30977"/>
                </a:cubicBezTo>
                <a:cubicBezTo>
                  <a:pt x="107665" y="32483"/>
                  <a:pt x="105955" y="34070"/>
                  <a:pt x="104327" y="35658"/>
                </a:cubicBezTo>
                <a:cubicBezTo>
                  <a:pt x="103228" y="34599"/>
                  <a:pt x="102088" y="33541"/>
                  <a:pt x="100949" y="32523"/>
                </a:cubicBezTo>
                <a:cubicBezTo>
                  <a:pt x="82428" y="16079"/>
                  <a:pt x="63866" y="9159"/>
                  <a:pt x="52754" y="15631"/>
                </a:cubicBezTo>
                <a:cubicBezTo>
                  <a:pt x="42089" y="21818"/>
                  <a:pt x="38914" y="40176"/>
                  <a:pt x="43392" y="63134"/>
                </a:cubicBezTo>
                <a:cubicBezTo>
                  <a:pt x="43839" y="65413"/>
                  <a:pt x="44328" y="67652"/>
                  <a:pt x="44898" y="69931"/>
                </a:cubicBezTo>
                <a:cubicBezTo>
                  <a:pt x="42293" y="70664"/>
                  <a:pt x="39728" y="71478"/>
                  <a:pt x="37327" y="72333"/>
                </a:cubicBezTo>
                <a:cubicBezTo>
                  <a:pt x="15590" y="79863"/>
                  <a:pt x="0" y="91749"/>
                  <a:pt x="0" y="104042"/>
                </a:cubicBezTo>
                <a:cubicBezTo>
                  <a:pt x="0" y="116742"/>
                  <a:pt x="16608" y="129483"/>
                  <a:pt x="39199" y="137217"/>
                </a:cubicBezTo>
                <a:cubicBezTo>
                  <a:pt x="41031" y="137828"/>
                  <a:pt x="42862" y="138438"/>
                  <a:pt x="44735" y="138967"/>
                </a:cubicBezTo>
                <a:cubicBezTo>
                  <a:pt x="44124" y="141410"/>
                  <a:pt x="43595" y="143811"/>
                  <a:pt x="43107" y="146294"/>
                </a:cubicBezTo>
                <a:cubicBezTo>
                  <a:pt x="38833" y="168886"/>
                  <a:pt x="42171" y="186796"/>
                  <a:pt x="52835" y="192942"/>
                </a:cubicBezTo>
                <a:cubicBezTo>
                  <a:pt x="63826" y="199292"/>
                  <a:pt x="82306" y="192779"/>
                  <a:pt x="100297" y="177027"/>
                </a:cubicBezTo>
                <a:cubicBezTo>
                  <a:pt x="101722" y="175765"/>
                  <a:pt x="103147" y="174462"/>
                  <a:pt x="104571" y="173078"/>
                </a:cubicBezTo>
                <a:cubicBezTo>
                  <a:pt x="106362" y="174829"/>
                  <a:pt x="108235" y="176497"/>
                  <a:pt x="110107" y="178126"/>
                </a:cubicBezTo>
                <a:cubicBezTo>
                  <a:pt x="127529" y="193105"/>
                  <a:pt x="144747" y="199170"/>
                  <a:pt x="155371" y="193024"/>
                </a:cubicBezTo>
                <a:cubicBezTo>
                  <a:pt x="166362" y="186674"/>
                  <a:pt x="169944" y="167420"/>
                  <a:pt x="165304" y="143974"/>
                </a:cubicBezTo>
                <a:cubicBezTo>
                  <a:pt x="164937" y="142183"/>
                  <a:pt x="164530" y="140351"/>
                  <a:pt x="164082" y="138479"/>
                </a:cubicBezTo>
                <a:cubicBezTo>
                  <a:pt x="165385" y="138113"/>
                  <a:pt x="166647" y="137705"/>
                  <a:pt x="167909" y="137298"/>
                </a:cubicBezTo>
                <a:cubicBezTo>
                  <a:pt x="191396" y="129524"/>
                  <a:pt x="208410" y="116946"/>
                  <a:pt x="208410" y="104042"/>
                </a:cubicBezTo>
                <a:cubicBezTo>
                  <a:pt x="208410" y="91709"/>
                  <a:pt x="192372" y="79741"/>
                  <a:pt x="170229" y="72129"/>
                </a:cubicBezTo>
                <a:close/>
                <a:moveTo>
                  <a:pt x="115155" y="37571"/>
                </a:moveTo>
                <a:cubicBezTo>
                  <a:pt x="130297" y="24382"/>
                  <a:pt x="144422" y="19213"/>
                  <a:pt x="150853" y="22917"/>
                </a:cubicBezTo>
                <a:cubicBezTo>
                  <a:pt x="157732" y="26865"/>
                  <a:pt x="160378" y="42822"/>
                  <a:pt x="156063" y="63785"/>
                </a:cubicBezTo>
                <a:cubicBezTo>
                  <a:pt x="155779" y="65169"/>
                  <a:pt x="155494" y="66512"/>
                  <a:pt x="155127" y="67855"/>
                </a:cubicBezTo>
                <a:cubicBezTo>
                  <a:pt x="146091" y="65820"/>
                  <a:pt x="136932" y="64355"/>
                  <a:pt x="127733" y="63541"/>
                </a:cubicBezTo>
                <a:cubicBezTo>
                  <a:pt x="122441" y="55970"/>
                  <a:pt x="116661" y="48724"/>
                  <a:pt x="110392" y="41926"/>
                </a:cubicBezTo>
                <a:cubicBezTo>
                  <a:pt x="111980" y="40420"/>
                  <a:pt x="113527" y="38996"/>
                  <a:pt x="115155" y="37571"/>
                </a:cubicBezTo>
                <a:close/>
                <a:moveTo>
                  <a:pt x="68059" y="125168"/>
                </a:moveTo>
                <a:cubicBezTo>
                  <a:pt x="70135" y="128710"/>
                  <a:pt x="72252" y="132251"/>
                  <a:pt x="74490" y="135711"/>
                </a:cubicBezTo>
                <a:cubicBezTo>
                  <a:pt x="68140" y="135019"/>
                  <a:pt x="61831" y="134001"/>
                  <a:pt x="55603" y="132658"/>
                </a:cubicBezTo>
                <a:cubicBezTo>
                  <a:pt x="57394" y="126796"/>
                  <a:pt x="59633" y="120731"/>
                  <a:pt x="62238" y="114544"/>
                </a:cubicBezTo>
                <a:cubicBezTo>
                  <a:pt x="64111" y="118126"/>
                  <a:pt x="66024" y="121668"/>
                  <a:pt x="68059" y="125168"/>
                </a:cubicBezTo>
                <a:close/>
                <a:moveTo>
                  <a:pt x="55725" y="76200"/>
                </a:moveTo>
                <a:cubicBezTo>
                  <a:pt x="61587" y="74897"/>
                  <a:pt x="67815" y="73839"/>
                  <a:pt x="74287" y="73025"/>
                </a:cubicBezTo>
                <a:cubicBezTo>
                  <a:pt x="72129" y="76404"/>
                  <a:pt x="70013" y="79863"/>
                  <a:pt x="68018" y="83364"/>
                </a:cubicBezTo>
                <a:cubicBezTo>
                  <a:pt x="66024" y="86824"/>
                  <a:pt x="64070" y="90365"/>
                  <a:pt x="62238" y="93947"/>
                </a:cubicBezTo>
                <a:cubicBezTo>
                  <a:pt x="59674" y="87882"/>
                  <a:pt x="57516" y="81939"/>
                  <a:pt x="55725" y="76200"/>
                </a:cubicBezTo>
                <a:close/>
                <a:moveTo>
                  <a:pt x="66879" y="104246"/>
                </a:moveTo>
                <a:cubicBezTo>
                  <a:pt x="69565" y="98629"/>
                  <a:pt x="72496" y="93133"/>
                  <a:pt x="75589" y="87720"/>
                </a:cubicBezTo>
                <a:cubicBezTo>
                  <a:pt x="78683" y="82306"/>
                  <a:pt x="82021" y="77055"/>
                  <a:pt x="85521" y="71885"/>
                </a:cubicBezTo>
                <a:cubicBezTo>
                  <a:pt x="91627" y="71438"/>
                  <a:pt x="97855" y="71193"/>
                  <a:pt x="104205" y="71193"/>
                </a:cubicBezTo>
                <a:cubicBezTo>
                  <a:pt x="110555" y="71193"/>
                  <a:pt x="116824" y="71438"/>
                  <a:pt x="122889" y="71885"/>
                </a:cubicBezTo>
                <a:cubicBezTo>
                  <a:pt x="126349" y="77014"/>
                  <a:pt x="129646" y="82265"/>
                  <a:pt x="132780" y="87638"/>
                </a:cubicBezTo>
                <a:cubicBezTo>
                  <a:pt x="135914" y="93011"/>
                  <a:pt x="138845" y="98506"/>
                  <a:pt x="141613" y="104083"/>
                </a:cubicBezTo>
                <a:cubicBezTo>
                  <a:pt x="138886" y="109700"/>
                  <a:pt x="135955" y="115236"/>
                  <a:pt x="132821" y="120691"/>
                </a:cubicBezTo>
                <a:cubicBezTo>
                  <a:pt x="129727" y="126104"/>
                  <a:pt x="126430" y="131355"/>
                  <a:pt x="122970" y="136566"/>
                </a:cubicBezTo>
                <a:cubicBezTo>
                  <a:pt x="116905" y="137013"/>
                  <a:pt x="110596" y="137217"/>
                  <a:pt x="104205" y="137217"/>
                </a:cubicBezTo>
                <a:cubicBezTo>
                  <a:pt x="97814" y="137217"/>
                  <a:pt x="91627" y="137013"/>
                  <a:pt x="85644" y="136647"/>
                </a:cubicBezTo>
                <a:cubicBezTo>
                  <a:pt x="82102" y="131478"/>
                  <a:pt x="78764" y="126186"/>
                  <a:pt x="75630" y="120772"/>
                </a:cubicBezTo>
                <a:cubicBezTo>
                  <a:pt x="72496" y="115358"/>
                  <a:pt x="69606" y="109863"/>
                  <a:pt x="66879" y="104246"/>
                </a:cubicBezTo>
                <a:close/>
                <a:moveTo>
                  <a:pt x="140392" y="125087"/>
                </a:moveTo>
                <a:cubicBezTo>
                  <a:pt x="142468" y="121505"/>
                  <a:pt x="144422" y="117882"/>
                  <a:pt x="146335" y="114219"/>
                </a:cubicBezTo>
                <a:cubicBezTo>
                  <a:pt x="148940" y="120121"/>
                  <a:pt x="151220" y="126104"/>
                  <a:pt x="153214" y="132251"/>
                </a:cubicBezTo>
                <a:cubicBezTo>
                  <a:pt x="146905" y="133676"/>
                  <a:pt x="140514" y="134775"/>
                  <a:pt x="134083" y="135507"/>
                </a:cubicBezTo>
                <a:cubicBezTo>
                  <a:pt x="136281" y="132088"/>
                  <a:pt x="138357" y="128588"/>
                  <a:pt x="140392" y="125087"/>
                </a:cubicBezTo>
                <a:close/>
                <a:moveTo>
                  <a:pt x="146254" y="93947"/>
                </a:moveTo>
                <a:cubicBezTo>
                  <a:pt x="144340" y="90365"/>
                  <a:pt x="142387" y="86783"/>
                  <a:pt x="140351" y="83283"/>
                </a:cubicBezTo>
                <a:cubicBezTo>
                  <a:pt x="138357" y="79823"/>
                  <a:pt x="136281" y="76404"/>
                  <a:pt x="134123" y="73025"/>
                </a:cubicBezTo>
                <a:cubicBezTo>
                  <a:pt x="140677" y="73839"/>
                  <a:pt x="146946" y="74938"/>
                  <a:pt x="152807" y="76281"/>
                </a:cubicBezTo>
                <a:cubicBezTo>
                  <a:pt x="150935" y="82306"/>
                  <a:pt x="148737" y="88167"/>
                  <a:pt x="146254" y="93947"/>
                </a:cubicBezTo>
                <a:close/>
                <a:moveTo>
                  <a:pt x="104287" y="48154"/>
                </a:moveTo>
                <a:cubicBezTo>
                  <a:pt x="108561" y="52795"/>
                  <a:pt x="112590" y="57679"/>
                  <a:pt x="116335" y="62727"/>
                </a:cubicBezTo>
                <a:cubicBezTo>
                  <a:pt x="108276" y="62360"/>
                  <a:pt x="100175" y="62360"/>
                  <a:pt x="92116" y="62727"/>
                </a:cubicBezTo>
                <a:cubicBezTo>
                  <a:pt x="96105" y="57476"/>
                  <a:pt x="100216" y="52591"/>
                  <a:pt x="104287" y="48154"/>
                </a:cubicBezTo>
                <a:close/>
                <a:moveTo>
                  <a:pt x="57069" y="23202"/>
                </a:moveTo>
                <a:cubicBezTo>
                  <a:pt x="63907" y="19213"/>
                  <a:pt x="79090" y="24912"/>
                  <a:pt x="95087" y="39077"/>
                </a:cubicBezTo>
                <a:cubicBezTo>
                  <a:pt x="96105" y="39972"/>
                  <a:pt x="97122" y="40949"/>
                  <a:pt x="98181" y="41926"/>
                </a:cubicBezTo>
                <a:cubicBezTo>
                  <a:pt x="91871" y="48724"/>
                  <a:pt x="86051" y="55970"/>
                  <a:pt x="80718" y="63541"/>
                </a:cubicBezTo>
                <a:cubicBezTo>
                  <a:pt x="71519" y="64355"/>
                  <a:pt x="62401" y="65779"/>
                  <a:pt x="53364" y="67774"/>
                </a:cubicBezTo>
                <a:cubicBezTo>
                  <a:pt x="52835" y="65698"/>
                  <a:pt x="52387" y="63581"/>
                  <a:pt x="51940" y="61465"/>
                </a:cubicBezTo>
                <a:cubicBezTo>
                  <a:pt x="48113" y="41763"/>
                  <a:pt x="50637" y="26906"/>
                  <a:pt x="57069" y="23202"/>
                </a:cubicBezTo>
                <a:close/>
                <a:moveTo>
                  <a:pt x="47096" y="130501"/>
                </a:moveTo>
                <a:cubicBezTo>
                  <a:pt x="45386" y="130012"/>
                  <a:pt x="43717" y="129483"/>
                  <a:pt x="42048" y="128913"/>
                </a:cubicBezTo>
                <a:cubicBezTo>
                  <a:pt x="33378" y="126186"/>
                  <a:pt x="23528" y="121871"/>
                  <a:pt x="16404" y="116213"/>
                </a:cubicBezTo>
                <a:cubicBezTo>
                  <a:pt x="12293" y="113364"/>
                  <a:pt x="9525" y="108968"/>
                  <a:pt x="8752" y="104042"/>
                </a:cubicBezTo>
                <a:cubicBezTo>
                  <a:pt x="8752" y="96593"/>
                  <a:pt x="21614" y="87068"/>
                  <a:pt x="40176" y="80596"/>
                </a:cubicBezTo>
                <a:cubicBezTo>
                  <a:pt x="42496" y="79782"/>
                  <a:pt x="44857" y="79049"/>
                  <a:pt x="47218" y="78357"/>
                </a:cubicBezTo>
                <a:cubicBezTo>
                  <a:pt x="49986" y="87190"/>
                  <a:pt x="53324" y="95861"/>
                  <a:pt x="57191" y="104246"/>
                </a:cubicBezTo>
                <a:cubicBezTo>
                  <a:pt x="53283" y="112753"/>
                  <a:pt x="49904" y="121546"/>
                  <a:pt x="47096" y="130501"/>
                </a:cubicBezTo>
                <a:close/>
                <a:moveTo>
                  <a:pt x="94558" y="170392"/>
                </a:moveTo>
                <a:cubicBezTo>
                  <a:pt x="87842" y="176538"/>
                  <a:pt x="80067" y="181423"/>
                  <a:pt x="71600" y="184761"/>
                </a:cubicBezTo>
                <a:cubicBezTo>
                  <a:pt x="67082" y="186918"/>
                  <a:pt x="61872" y="187121"/>
                  <a:pt x="57231" y="185290"/>
                </a:cubicBezTo>
                <a:cubicBezTo>
                  <a:pt x="50759" y="181545"/>
                  <a:pt x="48073" y="167176"/>
                  <a:pt x="51736" y="147841"/>
                </a:cubicBezTo>
                <a:cubicBezTo>
                  <a:pt x="52184" y="145562"/>
                  <a:pt x="52672" y="143282"/>
                  <a:pt x="53242" y="141043"/>
                </a:cubicBezTo>
                <a:cubicBezTo>
                  <a:pt x="62360" y="142997"/>
                  <a:pt x="71560" y="144340"/>
                  <a:pt x="80881" y="145032"/>
                </a:cubicBezTo>
                <a:cubicBezTo>
                  <a:pt x="86254" y="152644"/>
                  <a:pt x="92156" y="159930"/>
                  <a:pt x="98466" y="166769"/>
                </a:cubicBezTo>
                <a:cubicBezTo>
                  <a:pt x="97163" y="168031"/>
                  <a:pt x="95861" y="169252"/>
                  <a:pt x="94558" y="170392"/>
                </a:cubicBezTo>
                <a:close/>
                <a:moveTo>
                  <a:pt x="104531" y="160500"/>
                </a:moveTo>
                <a:cubicBezTo>
                  <a:pt x="100379" y="156023"/>
                  <a:pt x="96227" y="151057"/>
                  <a:pt x="92197" y="145724"/>
                </a:cubicBezTo>
                <a:cubicBezTo>
                  <a:pt x="96105" y="145887"/>
                  <a:pt x="100135" y="145969"/>
                  <a:pt x="104205" y="145969"/>
                </a:cubicBezTo>
                <a:cubicBezTo>
                  <a:pt x="108398" y="145969"/>
                  <a:pt x="112509" y="145887"/>
                  <a:pt x="116579" y="145684"/>
                </a:cubicBezTo>
                <a:cubicBezTo>
                  <a:pt x="112835" y="150853"/>
                  <a:pt x="108805" y="155779"/>
                  <a:pt x="104531" y="160500"/>
                </a:cubicBezTo>
                <a:close/>
                <a:moveTo>
                  <a:pt x="157732" y="172712"/>
                </a:moveTo>
                <a:cubicBezTo>
                  <a:pt x="157366" y="177678"/>
                  <a:pt x="154924" y="182318"/>
                  <a:pt x="151016" y="185453"/>
                </a:cubicBezTo>
                <a:cubicBezTo>
                  <a:pt x="144544" y="189197"/>
                  <a:pt x="130745" y="184313"/>
                  <a:pt x="115847" y="171531"/>
                </a:cubicBezTo>
                <a:cubicBezTo>
                  <a:pt x="114137" y="170066"/>
                  <a:pt x="112428" y="168479"/>
                  <a:pt x="110677" y="166850"/>
                </a:cubicBezTo>
                <a:cubicBezTo>
                  <a:pt x="116905" y="159971"/>
                  <a:pt x="122645" y="152685"/>
                  <a:pt x="127855" y="145032"/>
                </a:cubicBezTo>
                <a:cubicBezTo>
                  <a:pt x="137176" y="144259"/>
                  <a:pt x="146457" y="142834"/>
                  <a:pt x="155616" y="140758"/>
                </a:cubicBezTo>
                <a:cubicBezTo>
                  <a:pt x="156023" y="142427"/>
                  <a:pt x="156389" y="144096"/>
                  <a:pt x="156715" y="145724"/>
                </a:cubicBezTo>
                <a:cubicBezTo>
                  <a:pt x="158709" y="154517"/>
                  <a:pt x="159035" y="163675"/>
                  <a:pt x="157732" y="172712"/>
                </a:cubicBezTo>
                <a:close/>
                <a:moveTo>
                  <a:pt x="165141" y="128954"/>
                </a:moveTo>
                <a:cubicBezTo>
                  <a:pt x="164001" y="129320"/>
                  <a:pt x="162861" y="129687"/>
                  <a:pt x="161681" y="130012"/>
                </a:cubicBezTo>
                <a:cubicBezTo>
                  <a:pt x="158831" y="121138"/>
                  <a:pt x="155331" y="112468"/>
                  <a:pt x="151301" y="104042"/>
                </a:cubicBezTo>
                <a:cubicBezTo>
                  <a:pt x="155209" y="95738"/>
                  <a:pt x="158506" y="87190"/>
                  <a:pt x="161274" y="78439"/>
                </a:cubicBezTo>
                <a:cubicBezTo>
                  <a:pt x="163390" y="79049"/>
                  <a:pt x="165426" y="79701"/>
                  <a:pt x="167379" y="80352"/>
                </a:cubicBezTo>
                <a:cubicBezTo>
                  <a:pt x="186348" y="86865"/>
                  <a:pt x="199659" y="96553"/>
                  <a:pt x="199659" y="103961"/>
                </a:cubicBezTo>
                <a:cubicBezTo>
                  <a:pt x="199659" y="111939"/>
                  <a:pt x="185453" y="122238"/>
                  <a:pt x="165141" y="128954"/>
                </a:cubicBezTo>
                <a:close/>
                <a:moveTo>
                  <a:pt x="104205" y="122848"/>
                </a:moveTo>
                <a:cubicBezTo>
                  <a:pt x="114494" y="122848"/>
                  <a:pt x="122848" y="114494"/>
                  <a:pt x="122848" y="104205"/>
                </a:cubicBezTo>
                <a:cubicBezTo>
                  <a:pt x="122848" y="93916"/>
                  <a:pt x="114494" y="85562"/>
                  <a:pt x="104205" y="85562"/>
                </a:cubicBezTo>
                <a:cubicBezTo>
                  <a:pt x="93916" y="85562"/>
                  <a:pt x="85562" y="93916"/>
                  <a:pt x="85562" y="104205"/>
                </a:cubicBezTo>
                <a:cubicBezTo>
                  <a:pt x="85562" y="114494"/>
                  <a:pt x="93916" y="122848"/>
                  <a:pt x="104205" y="12284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 bwMode="auto">
          <a:xfrm>
            <a:off x="6992327" y="5236308"/>
            <a:ext cx="1207043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65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React</a:t>
            </a:r>
            <a:endParaRPr lang="en-US" sz="1600"/>
          </a:p>
        </p:txBody>
      </p:sp>
      <p:sp>
        <p:nvSpPr>
          <p:cNvPr id="70" name="Text 68"/>
          <p:cNvSpPr/>
          <p:nvPr/>
        </p:nvSpPr>
        <p:spPr bwMode="auto">
          <a:xfrm flipH="0" flipV="0">
            <a:off x="6992326" y="5514187"/>
            <a:ext cx="1703509" cy="173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5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Frontend Framework</a:t>
            </a:r>
            <a:endParaRPr lang="en-US" sz="1600"/>
          </a:p>
        </p:txBody>
      </p:sp>
      <p:sp>
        <p:nvSpPr>
          <p:cNvPr id="71" name="Text 69"/>
          <p:cNvSpPr/>
          <p:nvPr/>
        </p:nvSpPr>
        <p:spPr bwMode="auto">
          <a:xfrm>
            <a:off x="6367096" y="5844171"/>
            <a:ext cx="5366564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1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Creates a </a:t>
            </a:r>
            <a:r>
              <a:rPr lang="en-US" sz="110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smooth, modern user interface</a:t>
            </a:r>
            <a:r>
              <a:rPr lang="en-US" sz="11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that clearly shows every stage of the pipeline with real time updates.</a:t>
            </a:r>
            <a:endParaRPr lang="en-US" sz="1600"/>
          </a:p>
        </p:txBody>
      </p:sp>
      <p:sp>
        <p:nvSpPr>
          <p:cNvPr id="72" name="Shape 70"/>
          <p:cNvSpPr/>
          <p:nvPr/>
        </p:nvSpPr>
        <p:spPr bwMode="auto">
          <a:xfrm>
            <a:off x="6367096" y="6434667"/>
            <a:ext cx="1207043" cy="243145"/>
          </a:xfrm>
          <a:custGeom>
            <a:avLst/>
            <a:gdLst/>
            <a:ahLst/>
            <a:cxnLst/>
            <a:rect l="l" t="t" r="r" b="b"/>
            <a:pathLst>
              <a:path w="1207043" h="243145" fill="norm" stroke="1" extrusionOk="0">
                <a:moveTo>
                  <a:pt x="121573" y="0"/>
                </a:moveTo>
                <a:lnTo>
                  <a:pt x="1085470" y="0"/>
                </a:lnTo>
                <a:cubicBezTo>
                  <a:pt x="1152613" y="0"/>
                  <a:pt x="1207043" y="54430"/>
                  <a:pt x="1207043" y="121573"/>
                </a:cubicBezTo>
                <a:lnTo>
                  <a:pt x="1207043" y="121573"/>
                </a:lnTo>
                <a:cubicBezTo>
                  <a:pt x="1207043" y="188715"/>
                  <a:pt x="1152613" y="243145"/>
                  <a:pt x="1085470" y="243145"/>
                </a:cubicBezTo>
                <a:lnTo>
                  <a:pt x="121573" y="243145"/>
                </a:lnTo>
                <a:cubicBezTo>
                  <a:pt x="54430" y="243145"/>
                  <a:pt x="0" y="188715"/>
                  <a:pt x="0" y="121573"/>
                </a:cubicBezTo>
                <a:lnTo>
                  <a:pt x="0" y="121573"/>
                </a:lnTo>
                <a:cubicBezTo>
                  <a:pt x="0" y="54430"/>
                  <a:pt x="54430" y="0"/>
                  <a:pt x="121573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/>
        </p:spPr>
      </p:sp>
      <p:sp>
        <p:nvSpPr>
          <p:cNvPr id="73" name="Text 71"/>
          <p:cNvSpPr/>
          <p:nvPr/>
        </p:nvSpPr>
        <p:spPr bwMode="auto">
          <a:xfrm>
            <a:off x="6367096" y="6434667"/>
            <a:ext cx="1267829" cy="243145"/>
          </a:xfrm>
          <a:prstGeom prst="rect">
            <a:avLst/>
          </a:prstGeom>
          <a:noFill/>
          <a:ln/>
        </p:spPr>
        <p:txBody>
          <a:bodyPr wrap="square" lIns="104205" tIns="34735" rIns="104205" bIns="34735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5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Component based</a:t>
            </a:r>
            <a:endParaRPr lang="en-US" sz="1600"/>
          </a:p>
        </p:txBody>
      </p:sp>
      <p:sp>
        <p:nvSpPr>
          <p:cNvPr id="74" name="Shape 72"/>
          <p:cNvSpPr/>
          <p:nvPr/>
        </p:nvSpPr>
        <p:spPr bwMode="auto">
          <a:xfrm>
            <a:off x="7643202" y="6434667"/>
            <a:ext cx="807590" cy="243145"/>
          </a:xfrm>
          <a:custGeom>
            <a:avLst/>
            <a:gdLst/>
            <a:ahLst/>
            <a:cxnLst/>
            <a:rect l="l" t="t" r="r" b="b"/>
            <a:pathLst>
              <a:path w="807590" h="243145" fill="norm" stroke="1" extrusionOk="0">
                <a:moveTo>
                  <a:pt x="121573" y="0"/>
                </a:moveTo>
                <a:lnTo>
                  <a:pt x="686017" y="0"/>
                </a:lnTo>
                <a:cubicBezTo>
                  <a:pt x="753160" y="0"/>
                  <a:pt x="807590" y="54430"/>
                  <a:pt x="807590" y="121573"/>
                </a:cubicBezTo>
                <a:lnTo>
                  <a:pt x="807590" y="121573"/>
                </a:lnTo>
                <a:cubicBezTo>
                  <a:pt x="807590" y="188715"/>
                  <a:pt x="753160" y="243145"/>
                  <a:pt x="686017" y="243145"/>
                </a:cubicBezTo>
                <a:lnTo>
                  <a:pt x="121573" y="243145"/>
                </a:lnTo>
                <a:cubicBezTo>
                  <a:pt x="54430" y="243145"/>
                  <a:pt x="0" y="188715"/>
                  <a:pt x="0" y="121573"/>
                </a:cubicBezTo>
                <a:lnTo>
                  <a:pt x="0" y="121573"/>
                </a:lnTo>
                <a:cubicBezTo>
                  <a:pt x="0" y="54430"/>
                  <a:pt x="54430" y="0"/>
                  <a:pt x="121573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/>
        </p:spPr>
      </p:sp>
      <p:sp>
        <p:nvSpPr>
          <p:cNvPr id="75" name="Text 73"/>
          <p:cNvSpPr/>
          <p:nvPr/>
        </p:nvSpPr>
        <p:spPr bwMode="auto">
          <a:xfrm>
            <a:off x="7643202" y="6434667"/>
            <a:ext cx="868376" cy="243145"/>
          </a:xfrm>
          <a:prstGeom prst="rect">
            <a:avLst/>
          </a:prstGeom>
          <a:noFill/>
          <a:ln/>
        </p:spPr>
        <p:txBody>
          <a:bodyPr wrap="square" lIns="104205" tIns="34735" rIns="104205" bIns="34735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5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Reactive UI</a:t>
            </a:r>
            <a:endParaRPr lang="en-US" sz="1600"/>
          </a:p>
        </p:txBody>
      </p:sp>
      <p:sp>
        <p:nvSpPr>
          <p:cNvPr id="76" name="Shape 74"/>
          <p:cNvSpPr/>
          <p:nvPr/>
        </p:nvSpPr>
        <p:spPr bwMode="auto">
          <a:xfrm>
            <a:off x="8516056" y="6434667"/>
            <a:ext cx="981265" cy="243145"/>
          </a:xfrm>
          <a:custGeom>
            <a:avLst/>
            <a:gdLst/>
            <a:ahLst/>
            <a:cxnLst/>
            <a:rect l="l" t="t" r="r" b="b"/>
            <a:pathLst>
              <a:path w="981265" h="243145" fill="norm" stroke="1" extrusionOk="0">
                <a:moveTo>
                  <a:pt x="121573" y="0"/>
                </a:moveTo>
                <a:lnTo>
                  <a:pt x="859692" y="0"/>
                </a:lnTo>
                <a:cubicBezTo>
                  <a:pt x="926835" y="0"/>
                  <a:pt x="981265" y="54430"/>
                  <a:pt x="981265" y="121573"/>
                </a:cubicBezTo>
                <a:lnTo>
                  <a:pt x="981265" y="121573"/>
                </a:lnTo>
                <a:cubicBezTo>
                  <a:pt x="981265" y="188715"/>
                  <a:pt x="926835" y="243145"/>
                  <a:pt x="859692" y="243145"/>
                </a:cubicBezTo>
                <a:lnTo>
                  <a:pt x="121573" y="243145"/>
                </a:lnTo>
                <a:cubicBezTo>
                  <a:pt x="54430" y="243145"/>
                  <a:pt x="0" y="188715"/>
                  <a:pt x="0" y="121573"/>
                </a:cubicBezTo>
                <a:lnTo>
                  <a:pt x="0" y="121573"/>
                </a:lnTo>
                <a:cubicBezTo>
                  <a:pt x="0" y="54430"/>
                  <a:pt x="54430" y="0"/>
                  <a:pt x="121573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/>
        </p:spPr>
      </p:sp>
      <p:sp>
        <p:nvSpPr>
          <p:cNvPr id="77" name="Text 75"/>
          <p:cNvSpPr/>
          <p:nvPr/>
        </p:nvSpPr>
        <p:spPr bwMode="auto">
          <a:xfrm flipH="0" flipV="0">
            <a:off x="8516055" y="6434667"/>
            <a:ext cx="1421185" cy="243143"/>
          </a:xfrm>
          <a:prstGeom prst="rect">
            <a:avLst/>
          </a:prstGeom>
          <a:noFill/>
          <a:ln/>
        </p:spPr>
        <p:txBody>
          <a:bodyPr wrap="square" lIns="104204" tIns="34734" rIns="104204" bIns="34734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5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Fast Rendering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12">
    <p:bg>
      <p:bgPr shadeToTitle="0">
        <a:solidFill>
          <a:srgbClr val="1A0F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2070a20ba211d7c02a5f1326c08e04cc00b23aa6.jpg"/>
          <p:cNvPicPr>
            <a:picLocks noChangeAspect="1"/>
          </p:cNvPicPr>
          <p:nvPr/>
        </p:nvPicPr>
        <p:blipFill>
          <a:blip r:embed="rId3">
            <a:alphaModFix amt="20000"/>
          </a:blip>
          <a:srcRect l="111" t="0" r="111" b="0"/>
          <a:stretch/>
        </p:blipFill>
        <p:spPr bwMode="auto"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 bwMode="auto"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fill="norm" stroke="1" extrusionOk="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0F2E">
                  <a:alpha val="95000"/>
                </a:srgbClr>
              </a:gs>
              <a:gs pos="50000">
                <a:srgbClr val="4C1D95">
                  <a:alpha val="85000"/>
                </a:srgbClr>
              </a:gs>
              <a:gs pos="100000">
                <a:srgbClr val="1A0F2E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 bwMode="auto">
          <a:xfrm>
            <a:off x="317500" y="33337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 fill="norm" stroke="1" extrusionOk="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</p:spPr>
      </p:sp>
      <p:sp>
        <p:nvSpPr>
          <p:cNvPr id="5" name="Shape 2"/>
          <p:cNvSpPr/>
          <p:nvPr/>
        </p:nvSpPr>
        <p:spPr bwMode="auto">
          <a:xfrm>
            <a:off x="456406" y="460375"/>
            <a:ext cx="166687" cy="190500"/>
          </a:xfrm>
          <a:custGeom>
            <a:avLst/>
            <a:gdLst/>
            <a:ahLst/>
            <a:cxnLst/>
            <a:rect l="l" t="t" r="r" b="b"/>
            <a:pathLst>
              <a:path w="166688" h="190500" fill="norm" stroke="1" extrusionOk="0">
                <a:moveTo>
                  <a:pt x="11906" y="0"/>
                </a:moveTo>
                <a:cubicBezTo>
                  <a:pt x="18492" y="0"/>
                  <a:pt x="23812" y="5321"/>
                  <a:pt x="23812" y="11906"/>
                </a:cubicBezTo>
                <a:lnTo>
                  <a:pt x="23812" y="17859"/>
                </a:lnTo>
                <a:lnTo>
                  <a:pt x="49485" y="11460"/>
                </a:lnTo>
                <a:cubicBezTo>
                  <a:pt x="63661" y="7925"/>
                  <a:pt x="78618" y="9562"/>
                  <a:pt x="91715" y="16111"/>
                </a:cubicBezTo>
                <a:cubicBezTo>
                  <a:pt x="108942" y="24743"/>
                  <a:pt x="129220" y="24743"/>
                  <a:pt x="146447" y="16111"/>
                </a:cubicBezTo>
                <a:lnTo>
                  <a:pt x="150019" y="14325"/>
                </a:lnTo>
                <a:cubicBezTo>
                  <a:pt x="157683" y="10455"/>
                  <a:pt x="166688" y="16036"/>
                  <a:pt x="166688" y="24594"/>
                </a:cubicBezTo>
                <a:lnTo>
                  <a:pt x="166688" y="128662"/>
                </a:lnTo>
                <a:cubicBezTo>
                  <a:pt x="166688" y="133610"/>
                  <a:pt x="163599" y="138075"/>
                  <a:pt x="158948" y="139824"/>
                </a:cubicBezTo>
                <a:lnTo>
                  <a:pt x="146038" y="144661"/>
                </a:lnTo>
                <a:cubicBezTo>
                  <a:pt x="128848" y="151098"/>
                  <a:pt x="109724" y="150093"/>
                  <a:pt x="93315" y="141908"/>
                </a:cubicBezTo>
                <a:cubicBezTo>
                  <a:pt x="79214" y="134838"/>
                  <a:pt x="63029" y="133090"/>
                  <a:pt x="47737" y="136922"/>
                </a:cubicBezTo>
                <a:lnTo>
                  <a:pt x="23812" y="142875"/>
                </a:lnTo>
                <a:lnTo>
                  <a:pt x="23812" y="178594"/>
                </a:lnTo>
                <a:cubicBezTo>
                  <a:pt x="23812" y="185179"/>
                  <a:pt x="18492" y="190500"/>
                  <a:pt x="11906" y="190500"/>
                </a:cubicBezTo>
                <a:cubicBezTo>
                  <a:pt x="5321" y="190500"/>
                  <a:pt x="0" y="185179"/>
                  <a:pt x="0" y="178594"/>
                </a:cubicBezTo>
                <a:lnTo>
                  <a:pt x="0" y="11906"/>
                </a:lnTo>
                <a:cubicBezTo>
                  <a:pt x="0" y="5321"/>
                  <a:pt x="5321" y="0"/>
                  <a:pt x="11906" y="0"/>
                </a:cubicBezTo>
                <a:close/>
                <a:moveTo>
                  <a:pt x="23812" y="69614"/>
                </a:moveTo>
                <a:lnTo>
                  <a:pt x="47625" y="64443"/>
                </a:lnTo>
                <a:lnTo>
                  <a:pt x="47625" y="88813"/>
                </a:lnTo>
                <a:lnTo>
                  <a:pt x="23812" y="93985"/>
                </a:lnTo>
                <a:lnTo>
                  <a:pt x="23812" y="118356"/>
                </a:lnTo>
                <a:lnTo>
                  <a:pt x="41970" y="113816"/>
                </a:lnTo>
                <a:cubicBezTo>
                  <a:pt x="43867" y="113333"/>
                  <a:pt x="45727" y="112923"/>
                  <a:pt x="47625" y="112588"/>
                </a:cubicBezTo>
                <a:lnTo>
                  <a:pt x="47625" y="88813"/>
                </a:lnTo>
                <a:lnTo>
                  <a:pt x="62099" y="85688"/>
                </a:lnTo>
                <a:cubicBezTo>
                  <a:pt x="65187" y="85018"/>
                  <a:pt x="68312" y="84758"/>
                  <a:pt x="71438" y="84906"/>
                </a:cubicBezTo>
                <a:lnTo>
                  <a:pt x="71438" y="61094"/>
                </a:lnTo>
                <a:cubicBezTo>
                  <a:pt x="76498" y="61243"/>
                  <a:pt x="81558" y="62061"/>
                  <a:pt x="86469" y="63475"/>
                </a:cubicBezTo>
                <a:lnTo>
                  <a:pt x="95250" y="66042"/>
                </a:lnTo>
                <a:lnTo>
                  <a:pt x="95250" y="90860"/>
                </a:lnTo>
                <a:lnTo>
                  <a:pt x="79735" y="86283"/>
                </a:lnTo>
                <a:cubicBezTo>
                  <a:pt x="77019" y="85502"/>
                  <a:pt x="74228" y="85018"/>
                  <a:pt x="71438" y="84869"/>
                </a:cubicBezTo>
                <a:lnTo>
                  <a:pt x="71438" y="111435"/>
                </a:lnTo>
                <a:cubicBezTo>
                  <a:pt x="79549" y="112142"/>
                  <a:pt x="87548" y="113928"/>
                  <a:pt x="95250" y="116793"/>
                </a:cubicBezTo>
                <a:lnTo>
                  <a:pt x="95250" y="90822"/>
                </a:lnTo>
                <a:lnTo>
                  <a:pt x="103696" y="93315"/>
                </a:lnTo>
                <a:cubicBezTo>
                  <a:pt x="108719" y="94804"/>
                  <a:pt x="113854" y="95696"/>
                  <a:pt x="119063" y="96069"/>
                </a:cubicBezTo>
                <a:lnTo>
                  <a:pt x="119063" y="72182"/>
                </a:lnTo>
                <a:cubicBezTo>
                  <a:pt x="116160" y="71884"/>
                  <a:pt x="113258" y="71326"/>
                  <a:pt x="110430" y="70507"/>
                </a:cubicBezTo>
                <a:lnTo>
                  <a:pt x="95250" y="66042"/>
                </a:lnTo>
                <a:lnTo>
                  <a:pt x="95250" y="42974"/>
                </a:lnTo>
                <a:cubicBezTo>
                  <a:pt x="90413" y="41560"/>
                  <a:pt x="85651" y="39700"/>
                  <a:pt x="81037" y="37393"/>
                </a:cubicBezTo>
                <a:cubicBezTo>
                  <a:pt x="77986" y="35868"/>
                  <a:pt x="74749" y="34789"/>
                  <a:pt x="71438" y="34119"/>
                </a:cubicBezTo>
                <a:lnTo>
                  <a:pt x="71438" y="61057"/>
                </a:lnTo>
                <a:cubicBezTo>
                  <a:pt x="66601" y="60908"/>
                  <a:pt x="61764" y="61354"/>
                  <a:pt x="57038" y="62396"/>
                </a:cubicBezTo>
                <a:lnTo>
                  <a:pt x="47625" y="64443"/>
                </a:lnTo>
                <a:lnTo>
                  <a:pt x="47625" y="36463"/>
                </a:lnTo>
                <a:lnTo>
                  <a:pt x="23812" y="42416"/>
                </a:lnTo>
                <a:lnTo>
                  <a:pt x="23812" y="69614"/>
                </a:lnTo>
                <a:close/>
                <a:moveTo>
                  <a:pt x="119063" y="124904"/>
                </a:moveTo>
                <a:cubicBezTo>
                  <a:pt x="125313" y="125462"/>
                  <a:pt x="131676" y="124644"/>
                  <a:pt x="137666" y="122374"/>
                </a:cubicBezTo>
                <a:lnTo>
                  <a:pt x="142875" y="120439"/>
                </a:lnTo>
                <a:lnTo>
                  <a:pt x="142875" y="93762"/>
                </a:lnTo>
                <a:lnTo>
                  <a:pt x="139936" y="94431"/>
                </a:lnTo>
                <a:cubicBezTo>
                  <a:pt x="133090" y="96031"/>
                  <a:pt x="126057" y="96552"/>
                  <a:pt x="119063" y="96106"/>
                </a:cubicBezTo>
                <a:lnTo>
                  <a:pt x="119063" y="124904"/>
                </a:lnTo>
                <a:close/>
                <a:moveTo>
                  <a:pt x="142875" y="69317"/>
                </a:moveTo>
                <a:lnTo>
                  <a:pt x="142875" y="42974"/>
                </a:lnTo>
                <a:cubicBezTo>
                  <a:pt x="135099" y="45244"/>
                  <a:pt x="127099" y="46360"/>
                  <a:pt x="119063" y="46360"/>
                </a:cubicBezTo>
                <a:lnTo>
                  <a:pt x="119063" y="72182"/>
                </a:lnTo>
                <a:cubicBezTo>
                  <a:pt x="124234" y="72703"/>
                  <a:pt x="129480" y="72368"/>
                  <a:pt x="134578" y="71214"/>
                </a:cubicBezTo>
                <a:lnTo>
                  <a:pt x="142875" y="6927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 bwMode="auto">
          <a:xfrm flipH="0" flipV="0">
            <a:off x="888999" y="317499"/>
            <a:ext cx="6846094" cy="380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  <a:defRPr/>
            </a:pPr>
            <a:r>
              <a:rPr lang="en-US" sz="300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Conclusion &amp; Learning Outcomes</a:t>
            </a:r>
            <a:endParaRPr lang="en-US" sz="1600"/>
          </a:p>
        </p:txBody>
      </p:sp>
      <p:sp>
        <p:nvSpPr>
          <p:cNvPr id="7" name="Shape 4"/>
          <p:cNvSpPr/>
          <p:nvPr/>
        </p:nvSpPr>
        <p:spPr bwMode="auto">
          <a:xfrm>
            <a:off x="889000" y="762000"/>
            <a:ext cx="1016000" cy="31750"/>
          </a:xfrm>
          <a:custGeom>
            <a:avLst/>
            <a:gdLst/>
            <a:ahLst/>
            <a:cxnLst/>
            <a:rect l="l" t="t" r="r" b="b"/>
            <a:pathLst>
              <a:path w="1016000" h="31750" fill="norm" stroke="1" extrusionOk="0">
                <a:moveTo>
                  <a:pt x="15875" y="0"/>
                </a:moveTo>
                <a:lnTo>
                  <a:pt x="1000125" y="0"/>
                </a:lnTo>
                <a:cubicBezTo>
                  <a:pt x="1008887" y="0"/>
                  <a:pt x="1016000" y="7113"/>
                  <a:pt x="1016000" y="15875"/>
                </a:cubicBezTo>
                <a:lnTo>
                  <a:pt x="1016000" y="15875"/>
                </a:lnTo>
                <a:cubicBezTo>
                  <a:pt x="1016000" y="24637"/>
                  <a:pt x="1008887" y="31750"/>
                  <a:pt x="1000125" y="31750"/>
                </a:cubicBezTo>
                <a:lnTo>
                  <a:pt x="15875" y="31750"/>
                </a:lnTo>
                <a:cubicBezTo>
                  <a:pt x="7113" y="31750"/>
                  <a:pt x="0" y="24637"/>
                  <a:pt x="0" y="15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0" scaled="1"/>
          </a:gradFill>
          <a:ln/>
        </p:spPr>
      </p:sp>
      <p:sp>
        <p:nvSpPr>
          <p:cNvPr id="8" name="Shape 5"/>
          <p:cNvSpPr/>
          <p:nvPr/>
        </p:nvSpPr>
        <p:spPr bwMode="auto">
          <a:xfrm>
            <a:off x="321469" y="956469"/>
            <a:ext cx="5675313" cy="2801938"/>
          </a:xfrm>
          <a:custGeom>
            <a:avLst/>
            <a:gdLst/>
            <a:ahLst/>
            <a:cxnLst/>
            <a:rect l="l" t="t" r="r" b="b"/>
            <a:pathLst>
              <a:path w="5675313" h="2801938" fill="norm" stroke="1" extrusionOk="0">
                <a:moveTo>
                  <a:pt x="127012" y="0"/>
                </a:moveTo>
                <a:lnTo>
                  <a:pt x="5548301" y="0"/>
                </a:lnTo>
                <a:cubicBezTo>
                  <a:pt x="5618447" y="0"/>
                  <a:pt x="5675313" y="56865"/>
                  <a:pt x="5675313" y="127012"/>
                </a:cubicBezTo>
                <a:lnTo>
                  <a:pt x="5675313" y="2674926"/>
                </a:lnTo>
                <a:cubicBezTo>
                  <a:pt x="5675313" y="2745072"/>
                  <a:pt x="5618447" y="2801938"/>
                  <a:pt x="5548301" y="2801938"/>
                </a:cubicBezTo>
                <a:lnTo>
                  <a:pt x="127012" y="2801938"/>
                </a:lnTo>
                <a:cubicBezTo>
                  <a:pt x="56865" y="2801938"/>
                  <a:pt x="0" y="2745072"/>
                  <a:pt x="0" y="2674926"/>
                </a:cubicBezTo>
                <a:lnTo>
                  <a:pt x="0" y="127012"/>
                </a:lnTo>
                <a:cubicBezTo>
                  <a:pt x="0" y="56912"/>
                  <a:pt x="56912" y="0"/>
                  <a:pt x="127012" y="0"/>
                </a:cubicBezTo>
                <a:close/>
              </a:path>
            </a:pathLst>
          </a:custGeom>
          <a:solidFill>
            <a:srgbClr val="4C1D95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 bwMode="auto">
          <a:xfrm>
            <a:off x="515938" y="11509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fill="norm" stroke="1" extrusionOk="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10" name="Shape 7"/>
          <p:cNvSpPr/>
          <p:nvPr/>
        </p:nvSpPr>
        <p:spPr bwMode="auto">
          <a:xfrm>
            <a:off x="627063" y="12620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 fill="norm" stroke="1" extrusionOk="0">
                <a:moveTo>
                  <a:pt x="44741" y="0"/>
                </a:moveTo>
                <a:lnTo>
                  <a:pt x="114195" y="0"/>
                </a:lnTo>
                <a:cubicBezTo>
                  <a:pt x="122411" y="0"/>
                  <a:pt x="129108" y="6759"/>
                  <a:pt x="128798" y="14945"/>
                </a:cubicBezTo>
                <a:cubicBezTo>
                  <a:pt x="128736" y="16588"/>
                  <a:pt x="128674" y="18231"/>
                  <a:pt x="128581" y="19844"/>
                </a:cubicBezTo>
                <a:lnTo>
                  <a:pt x="143960" y="19844"/>
                </a:lnTo>
                <a:cubicBezTo>
                  <a:pt x="152053" y="19844"/>
                  <a:pt x="159184" y="26541"/>
                  <a:pt x="158564" y="35285"/>
                </a:cubicBezTo>
                <a:cubicBezTo>
                  <a:pt x="156239" y="67438"/>
                  <a:pt x="139805" y="85111"/>
                  <a:pt x="121977" y="94351"/>
                </a:cubicBezTo>
                <a:cubicBezTo>
                  <a:pt x="117078" y="96893"/>
                  <a:pt x="112086" y="98785"/>
                  <a:pt x="107342" y="100180"/>
                </a:cubicBezTo>
                <a:cubicBezTo>
                  <a:pt x="101079" y="109048"/>
                  <a:pt x="94568" y="113729"/>
                  <a:pt x="89390" y="116241"/>
                </a:cubicBezTo>
                <a:lnTo>
                  <a:pt x="89390" y="138906"/>
                </a:lnTo>
                <a:lnTo>
                  <a:pt x="109234" y="138906"/>
                </a:lnTo>
                <a:cubicBezTo>
                  <a:pt x="114722" y="138906"/>
                  <a:pt x="119156" y="143340"/>
                  <a:pt x="119156" y="148828"/>
                </a:cubicBezTo>
                <a:cubicBezTo>
                  <a:pt x="119156" y="154316"/>
                  <a:pt x="114722" y="158750"/>
                  <a:pt x="109234" y="158750"/>
                </a:cubicBezTo>
                <a:lnTo>
                  <a:pt x="49702" y="158750"/>
                </a:lnTo>
                <a:cubicBezTo>
                  <a:pt x="44214" y="158750"/>
                  <a:pt x="39781" y="154316"/>
                  <a:pt x="39781" y="148828"/>
                </a:cubicBezTo>
                <a:cubicBezTo>
                  <a:pt x="39781" y="143340"/>
                  <a:pt x="44214" y="138906"/>
                  <a:pt x="49702" y="138906"/>
                </a:cubicBezTo>
                <a:lnTo>
                  <a:pt x="69546" y="138906"/>
                </a:lnTo>
                <a:lnTo>
                  <a:pt x="69546" y="116241"/>
                </a:lnTo>
                <a:cubicBezTo>
                  <a:pt x="64585" y="113854"/>
                  <a:pt x="58415" y="109420"/>
                  <a:pt x="52400" y="101265"/>
                </a:cubicBezTo>
                <a:cubicBezTo>
                  <a:pt x="46695" y="99777"/>
                  <a:pt x="40494" y="97513"/>
                  <a:pt x="34448" y="94103"/>
                </a:cubicBezTo>
                <a:cubicBezTo>
                  <a:pt x="17673" y="84708"/>
                  <a:pt x="2542" y="67004"/>
                  <a:pt x="372" y="35223"/>
                </a:cubicBezTo>
                <a:cubicBezTo>
                  <a:pt x="-217" y="26510"/>
                  <a:pt x="6883" y="19813"/>
                  <a:pt x="14976" y="19813"/>
                </a:cubicBezTo>
                <a:lnTo>
                  <a:pt x="30355" y="19813"/>
                </a:lnTo>
                <a:cubicBezTo>
                  <a:pt x="30262" y="18200"/>
                  <a:pt x="30200" y="16588"/>
                  <a:pt x="30138" y="14914"/>
                </a:cubicBezTo>
                <a:cubicBezTo>
                  <a:pt x="29828" y="6697"/>
                  <a:pt x="36525" y="-31"/>
                  <a:pt x="44741" y="-31"/>
                </a:cubicBezTo>
                <a:close/>
                <a:moveTo>
                  <a:pt x="31471" y="34727"/>
                </a:moveTo>
                <a:lnTo>
                  <a:pt x="15224" y="34727"/>
                </a:lnTo>
                <a:cubicBezTo>
                  <a:pt x="17146" y="60989"/>
                  <a:pt x="29208" y="74135"/>
                  <a:pt x="41641" y="81111"/>
                </a:cubicBezTo>
                <a:cubicBezTo>
                  <a:pt x="37176" y="69546"/>
                  <a:pt x="33486" y="54446"/>
                  <a:pt x="31471" y="34727"/>
                </a:cubicBezTo>
                <a:close/>
                <a:moveTo>
                  <a:pt x="117822" y="79623"/>
                </a:moveTo>
                <a:cubicBezTo>
                  <a:pt x="130380" y="72244"/>
                  <a:pt x="141728" y="59128"/>
                  <a:pt x="143650" y="34727"/>
                </a:cubicBezTo>
                <a:lnTo>
                  <a:pt x="127434" y="34727"/>
                </a:lnTo>
                <a:cubicBezTo>
                  <a:pt x="125512" y="53609"/>
                  <a:pt x="122039" y="68275"/>
                  <a:pt x="117822" y="79623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1" name="Text 8"/>
          <p:cNvSpPr/>
          <p:nvPr/>
        </p:nvSpPr>
        <p:spPr bwMode="auto">
          <a:xfrm flipH="0" flipV="0">
            <a:off x="992187" y="1214437"/>
            <a:ext cx="2638846" cy="25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50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Project Success</a:t>
            </a:r>
            <a:endParaRPr lang="en-US" sz="1600"/>
          </a:p>
        </p:txBody>
      </p:sp>
      <p:sp>
        <p:nvSpPr>
          <p:cNvPr id="12" name="Text 9"/>
          <p:cNvSpPr/>
          <p:nvPr/>
        </p:nvSpPr>
        <p:spPr bwMode="auto">
          <a:xfrm>
            <a:off x="515938" y="1658938"/>
            <a:ext cx="53498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SkyPipe </a:t>
            </a:r>
            <a:r>
              <a:rPr lang="en-US" sz="100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successfully delivers</a:t>
            </a: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a practical distributed data processing pipeline that is </a:t>
            </a:r>
            <a:r>
              <a:rPr lang="en-US" sz="100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flexible, secure and easy to use</a:t>
            </a: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.</a:t>
            </a:r>
            <a:endParaRPr lang="en-US" sz="1600"/>
          </a:p>
        </p:txBody>
      </p:sp>
      <p:sp>
        <p:nvSpPr>
          <p:cNvPr id="13" name="Shape 10"/>
          <p:cNvSpPr/>
          <p:nvPr/>
        </p:nvSpPr>
        <p:spPr bwMode="auto">
          <a:xfrm>
            <a:off x="515938" y="2198688"/>
            <a:ext cx="5286375" cy="1365250"/>
          </a:xfrm>
          <a:custGeom>
            <a:avLst/>
            <a:gdLst/>
            <a:ahLst/>
            <a:cxnLst/>
            <a:rect l="l" t="t" r="r" b="b"/>
            <a:pathLst>
              <a:path w="5286375" h="1365250" fill="norm" stroke="1" extrusionOk="0">
                <a:moveTo>
                  <a:pt x="95253" y="0"/>
                </a:moveTo>
                <a:lnTo>
                  <a:pt x="5191122" y="0"/>
                </a:lnTo>
                <a:cubicBezTo>
                  <a:pt x="5243729" y="0"/>
                  <a:pt x="5286375" y="42646"/>
                  <a:pt x="5286375" y="95253"/>
                </a:cubicBezTo>
                <a:lnTo>
                  <a:pt x="5286375" y="1269997"/>
                </a:lnTo>
                <a:cubicBezTo>
                  <a:pt x="5286375" y="1322604"/>
                  <a:pt x="5243729" y="1365250"/>
                  <a:pt x="5191122" y="1365250"/>
                </a:cubicBezTo>
                <a:lnTo>
                  <a:pt x="95253" y="1365250"/>
                </a:lnTo>
                <a:cubicBezTo>
                  <a:pt x="42646" y="1365250"/>
                  <a:pt x="0" y="1322604"/>
                  <a:pt x="0" y="1269997"/>
                </a:cubicBezTo>
                <a:lnTo>
                  <a:pt x="0" y="95253"/>
                </a:lnTo>
                <a:cubicBezTo>
                  <a:pt x="0" y="42646"/>
                  <a:pt x="42646" y="0"/>
                  <a:pt x="95253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14" name="Text 11"/>
          <p:cNvSpPr/>
          <p:nvPr/>
        </p:nvSpPr>
        <p:spPr bwMode="auto">
          <a:xfrm>
            <a:off x="642938" y="2325688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Key Achievements:</a:t>
            </a:r>
            <a:endParaRPr lang="en-US" sz="1600"/>
          </a:p>
        </p:txBody>
      </p:sp>
      <p:sp>
        <p:nvSpPr>
          <p:cNvPr id="15" name="Shape 12"/>
          <p:cNvSpPr/>
          <p:nvPr/>
        </p:nvSpPr>
        <p:spPr bwMode="auto">
          <a:xfrm>
            <a:off x="658813" y="2643188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 fill="norm" stroke="1" extrusionOk="0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16" name="Text 13"/>
          <p:cNvSpPr/>
          <p:nvPr/>
        </p:nvSpPr>
        <p:spPr bwMode="auto">
          <a:xfrm flipH="0" flipV="0">
            <a:off x="845343" y="2611437"/>
            <a:ext cx="3935259" cy="158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Handles full journey from file upload to warehouse storage</a:t>
            </a:r>
            <a:endParaRPr lang="en-US" sz="1600"/>
          </a:p>
        </p:txBody>
      </p:sp>
      <p:sp>
        <p:nvSpPr>
          <p:cNvPr id="17" name="Shape 14"/>
          <p:cNvSpPr/>
          <p:nvPr/>
        </p:nvSpPr>
        <p:spPr bwMode="auto">
          <a:xfrm>
            <a:off x="658813" y="2865438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 fill="norm" stroke="1" extrusionOk="0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18" name="Text 15"/>
          <p:cNvSpPr/>
          <p:nvPr/>
        </p:nvSpPr>
        <p:spPr bwMode="auto">
          <a:xfrm flipH="0" flipV="0">
            <a:off x="845343" y="2833687"/>
            <a:ext cx="2884224" cy="158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Remains transparent at every processing step</a:t>
            </a:r>
            <a:endParaRPr lang="en-US" sz="1600"/>
          </a:p>
        </p:txBody>
      </p:sp>
      <p:sp>
        <p:nvSpPr>
          <p:cNvPr id="19" name="Shape 16"/>
          <p:cNvSpPr/>
          <p:nvPr/>
        </p:nvSpPr>
        <p:spPr bwMode="auto">
          <a:xfrm>
            <a:off x="658813" y="3087688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 fill="norm" stroke="1" extrusionOk="0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20" name="Text 17"/>
          <p:cNvSpPr/>
          <p:nvPr/>
        </p:nvSpPr>
        <p:spPr bwMode="auto">
          <a:xfrm flipH="0" flipV="0">
            <a:off x="845343" y="3055937"/>
            <a:ext cx="3130561" cy="158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Production ready with security and fault tolerance</a:t>
            </a:r>
            <a:endParaRPr lang="en-US" sz="1600"/>
          </a:p>
        </p:txBody>
      </p:sp>
      <p:sp>
        <p:nvSpPr>
          <p:cNvPr id="21" name="Shape 18"/>
          <p:cNvSpPr/>
          <p:nvPr/>
        </p:nvSpPr>
        <p:spPr bwMode="auto">
          <a:xfrm>
            <a:off x="658813" y="3309937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 fill="norm" stroke="1" extrusionOk="0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22" name="Text 19"/>
          <p:cNvSpPr/>
          <p:nvPr/>
        </p:nvSpPr>
        <p:spPr bwMode="auto">
          <a:xfrm flipH="0" flipV="0">
            <a:off x="845343" y="3278187"/>
            <a:ext cx="2605043" cy="158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Scalable architecture for growing data needs</a:t>
            </a:r>
            <a:endParaRPr lang="en-US" sz="1600"/>
          </a:p>
        </p:txBody>
      </p:sp>
      <p:sp>
        <p:nvSpPr>
          <p:cNvPr id="23" name="Shape 20"/>
          <p:cNvSpPr/>
          <p:nvPr/>
        </p:nvSpPr>
        <p:spPr bwMode="auto">
          <a:xfrm>
            <a:off x="321469" y="3925094"/>
            <a:ext cx="5675313" cy="2484438"/>
          </a:xfrm>
          <a:custGeom>
            <a:avLst/>
            <a:gdLst/>
            <a:ahLst/>
            <a:cxnLst/>
            <a:rect l="l" t="t" r="r" b="b"/>
            <a:pathLst>
              <a:path w="5675313" h="2484438" fill="norm" stroke="1" extrusionOk="0">
                <a:moveTo>
                  <a:pt x="127004" y="0"/>
                </a:moveTo>
                <a:lnTo>
                  <a:pt x="5548308" y="0"/>
                </a:lnTo>
                <a:cubicBezTo>
                  <a:pt x="5618451" y="0"/>
                  <a:pt x="5675313" y="56862"/>
                  <a:pt x="5675313" y="127004"/>
                </a:cubicBezTo>
                <a:lnTo>
                  <a:pt x="5675313" y="2357433"/>
                </a:lnTo>
                <a:cubicBezTo>
                  <a:pt x="5675313" y="2427576"/>
                  <a:pt x="5618451" y="2484438"/>
                  <a:pt x="5548308" y="2484437"/>
                </a:cubicBezTo>
                <a:lnTo>
                  <a:pt x="127004" y="2484438"/>
                </a:lnTo>
                <a:cubicBezTo>
                  <a:pt x="56862" y="2484437"/>
                  <a:pt x="0" y="2427576"/>
                  <a:pt x="0" y="2357433"/>
                </a:cubicBezTo>
                <a:lnTo>
                  <a:pt x="0" y="127004"/>
                </a:lnTo>
                <a:cubicBezTo>
                  <a:pt x="0" y="56909"/>
                  <a:pt x="56909" y="0"/>
                  <a:pt x="127004" y="0"/>
                </a:cubicBezTo>
                <a:close/>
              </a:path>
            </a:pathLst>
          </a:custGeom>
          <a:solidFill>
            <a:srgbClr val="4C1D95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 bwMode="auto">
          <a:xfrm>
            <a:off x="515938" y="411956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fill="norm" stroke="1" extrusionOk="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/>
        </p:spPr>
      </p:sp>
      <p:sp>
        <p:nvSpPr>
          <p:cNvPr id="25" name="Shape 22"/>
          <p:cNvSpPr/>
          <p:nvPr/>
        </p:nvSpPr>
        <p:spPr bwMode="auto">
          <a:xfrm>
            <a:off x="627063" y="423068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 fill="norm" stroke="1" extrusionOk="0">
                <a:moveTo>
                  <a:pt x="69453" y="0"/>
                </a:moveTo>
                <a:cubicBezTo>
                  <a:pt x="80398" y="0"/>
                  <a:pt x="89297" y="6666"/>
                  <a:pt x="89297" y="14883"/>
                </a:cubicBezTo>
                <a:cubicBezTo>
                  <a:pt x="89297" y="18107"/>
                  <a:pt x="87933" y="21084"/>
                  <a:pt x="85576" y="23533"/>
                </a:cubicBezTo>
                <a:cubicBezTo>
                  <a:pt x="83530" y="25673"/>
                  <a:pt x="81855" y="28277"/>
                  <a:pt x="81855" y="31254"/>
                </a:cubicBezTo>
                <a:cubicBezTo>
                  <a:pt x="81855" y="35905"/>
                  <a:pt x="85638" y="39688"/>
                  <a:pt x="90289" y="39688"/>
                </a:cubicBezTo>
                <a:lnTo>
                  <a:pt x="104180" y="39688"/>
                </a:lnTo>
                <a:cubicBezTo>
                  <a:pt x="112396" y="39688"/>
                  <a:pt x="119062" y="46354"/>
                  <a:pt x="119062" y="54570"/>
                </a:cubicBezTo>
                <a:lnTo>
                  <a:pt x="119062" y="68461"/>
                </a:lnTo>
                <a:cubicBezTo>
                  <a:pt x="119062" y="73112"/>
                  <a:pt x="122845" y="76895"/>
                  <a:pt x="127496" y="76895"/>
                </a:cubicBezTo>
                <a:cubicBezTo>
                  <a:pt x="130442" y="76895"/>
                  <a:pt x="133077" y="75220"/>
                  <a:pt x="135217" y="73174"/>
                </a:cubicBezTo>
                <a:cubicBezTo>
                  <a:pt x="137666" y="70848"/>
                  <a:pt x="140643" y="69453"/>
                  <a:pt x="143867" y="69453"/>
                </a:cubicBezTo>
                <a:cubicBezTo>
                  <a:pt x="152084" y="69453"/>
                  <a:pt x="158750" y="78352"/>
                  <a:pt x="158750" y="89297"/>
                </a:cubicBezTo>
                <a:cubicBezTo>
                  <a:pt x="158750" y="100242"/>
                  <a:pt x="152084" y="109141"/>
                  <a:pt x="143867" y="109141"/>
                </a:cubicBezTo>
                <a:cubicBezTo>
                  <a:pt x="140643" y="109141"/>
                  <a:pt x="137635" y="107776"/>
                  <a:pt x="135217" y="105420"/>
                </a:cubicBezTo>
                <a:cubicBezTo>
                  <a:pt x="133077" y="103374"/>
                  <a:pt x="130473" y="101699"/>
                  <a:pt x="127496" y="101699"/>
                </a:cubicBezTo>
                <a:cubicBezTo>
                  <a:pt x="122845" y="101699"/>
                  <a:pt x="119062" y="105482"/>
                  <a:pt x="119062" y="110133"/>
                </a:cubicBezTo>
                <a:lnTo>
                  <a:pt x="119062" y="143867"/>
                </a:lnTo>
                <a:cubicBezTo>
                  <a:pt x="119062" y="152084"/>
                  <a:pt x="112396" y="158750"/>
                  <a:pt x="104180" y="158750"/>
                </a:cubicBezTo>
                <a:lnTo>
                  <a:pt x="86568" y="158750"/>
                </a:lnTo>
                <a:cubicBezTo>
                  <a:pt x="82600" y="158750"/>
                  <a:pt x="79375" y="155525"/>
                  <a:pt x="79375" y="151557"/>
                </a:cubicBezTo>
                <a:cubicBezTo>
                  <a:pt x="79375" y="148704"/>
                  <a:pt x="81173" y="146193"/>
                  <a:pt x="83468" y="144487"/>
                </a:cubicBezTo>
                <a:cubicBezTo>
                  <a:pt x="87064" y="141790"/>
                  <a:pt x="89297" y="138069"/>
                  <a:pt x="89297" y="133945"/>
                </a:cubicBezTo>
                <a:cubicBezTo>
                  <a:pt x="89297" y="125729"/>
                  <a:pt x="80398" y="119062"/>
                  <a:pt x="69453" y="119062"/>
                </a:cubicBezTo>
                <a:cubicBezTo>
                  <a:pt x="58508" y="119062"/>
                  <a:pt x="49609" y="125729"/>
                  <a:pt x="49609" y="133945"/>
                </a:cubicBezTo>
                <a:cubicBezTo>
                  <a:pt x="49609" y="138069"/>
                  <a:pt x="51842" y="141790"/>
                  <a:pt x="55438" y="144487"/>
                </a:cubicBezTo>
                <a:cubicBezTo>
                  <a:pt x="57733" y="146193"/>
                  <a:pt x="59531" y="148673"/>
                  <a:pt x="59531" y="151557"/>
                </a:cubicBezTo>
                <a:cubicBezTo>
                  <a:pt x="59531" y="155525"/>
                  <a:pt x="56307" y="158750"/>
                  <a:pt x="52338" y="158750"/>
                </a:cubicBezTo>
                <a:lnTo>
                  <a:pt x="14883" y="158750"/>
                </a:lnTo>
                <a:cubicBezTo>
                  <a:pt x="6666" y="158750"/>
                  <a:pt x="0" y="152084"/>
                  <a:pt x="0" y="143867"/>
                </a:cubicBezTo>
                <a:lnTo>
                  <a:pt x="0" y="106412"/>
                </a:lnTo>
                <a:cubicBezTo>
                  <a:pt x="0" y="102443"/>
                  <a:pt x="3225" y="99219"/>
                  <a:pt x="7193" y="99219"/>
                </a:cubicBezTo>
                <a:cubicBezTo>
                  <a:pt x="10046" y="99219"/>
                  <a:pt x="12557" y="101017"/>
                  <a:pt x="14263" y="103312"/>
                </a:cubicBezTo>
                <a:cubicBezTo>
                  <a:pt x="16960" y="106908"/>
                  <a:pt x="20681" y="109141"/>
                  <a:pt x="24805" y="109141"/>
                </a:cubicBezTo>
                <a:cubicBezTo>
                  <a:pt x="33021" y="109141"/>
                  <a:pt x="39688" y="100242"/>
                  <a:pt x="39688" y="89297"/>
                </a:cubicBezTo>
                <a:cubicBezTo>
                  <a:pt x="39688" y="78352"/>
                  <a:pt x="33021" y="69453"/>
                  <a:pt x="24805" y="69453"/>
                </a:cubicBezTo>
                <a:cubicBezTo>
                  <a:pt x="20681" y="69453"/>
                  <a:pt x="16960" y="71686"/>
                  <a:pt x="14263" y="75282"/>
                </a:cubicBezTo>
                <a:cubicBezTo>
                  <a:pt x="12557" y="77577"/>
                  <a:pt x="10077" y="79375"/>
                  <a:pt x="7193" y="79375"/>
                </a:cubicBezTo>
                <a:cubicBezTo>
                  <a:pt x="3225" y="79375"/>
                  <a:pt x="0" y="76150"/>
                  <a:pt x="0" y="72182"/>
                </a:cubicBezTo>
                <a:lnTo>
                  <a:pt x="0" y="54570"/>
                </a:lnTo>
                <a:cubicBezTo>
                  <a:pt x="0" y="46354"/>
                  <a:pt x="6666" y="39688"/>
                  <a:pt x="14883" y="39688"/>
                </a:cubicBezTo>
                <a:lnTo>
                  <a:pt x="48617" y="39688"/>
                </a:lnTo>
                <a:cubicBezTo>
                  <a:pt x="53268" y="39688"/>
                  <a:pt x="57051" y="35905"/>
                  <a:pt x="57051" y="31254"/>
                </a:cubicBezTo>
                <a:cubicBezTo>
                  <a:pt x="57051" y="28308"/>
                  <a:pt x="55376" y="25673"/>
                  <a:pt x="53330" y="23533"/>
                </a:cubicBezTo>
                <a:cubicBezTo>
                  <a:pt x="51005" y="21084"/>
                  <a:pt x="49609" y="18107"/>
                  <a:pt x="49609" y="14883"/>
                </a:cubicBezTo>
                <a:cubicBezTo>
                  <a:pt x="49609" y="6666"/>
                  <a:pt x="58508" y="0"/>
                  <a:pt x="69453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26" name="Text 23"/>
          <p:cNvSpPr/>
          <p:nvPr/>
        </p:nvSpPr>
        <p:spPr bwMode="auto">
          <a:xfrm flipH="0" flipV="0">
            <a:off x="992187" y="4183062"/>
            <a:ext cx="2458199" cy="25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50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Challenges Solved</a:t>
            </a:r>
            <a:endParaRPr lang="en-US" sz="1600"/>
          </a:p>
        </p:txBody>
      </p:sp>
      <p:sp>
        <p:nvSpPr>
          <p:cNvPr id="27" name="Shape 24"/>
          <p:cNvSpPr/>
          <p:nvPr/>
        </p:nvSpPr>
        <p:spPr bwMode="auto">
          <a:xfrm>
            <a:off x="515938" y="4627563"/>
            <a:ext cx="5286375" cy="666750"/>
          </a:xfrm>
          <a:custGeom>
            <a:avLst/>
            <a:gdLst/>
            <a:ahLst/>
            <a:cxnLst/>
            <a:rect l="l" t="t" r="r" b="b"/>
            <a:pathLst>
              <a:path w="5286375" h="666750" fill="norm" stroke="1" extrusionOk="0">
                <a:moveTo>
                  <a:pt x="63501" y="0"/>
                </a:moveTo>
                <a:lnTo>
                  <a:pt x="5222874" y="0"/>
                </a:lnTo>
                <a:cubicBezTo>
                  <a:pt x="5257945" y="0"/>
                  <a:pt x="5286375" y="28430"/>
                  <a:pt x="5286375" y="63501"/>
                </a:cubicBezTo>
                <a:lnTo>
                  <a:pt x="5286375" y="603249"/>
                </a:lnTo>
                <a:cubicBezTo>
                  <a:pt x="5286375" y="638320"/>
                  <a:pt x="5257945" y="666750"/>
                  <a:pt x="5222874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28" name="Shape 25"/>
          <p:cNvSpPr/>
          <p:nvPr/>
        </p:nvSpPr>
        <p:spPr bwMode="auto">
          <a:xfrm>
            <a:off x="658813" y="478631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29" name="Text 26"/>
          <p:cNvSpPr/>
          <p:nvPr/>
        </p:nvSpPr>
        <p:spPr bwMode="auto">
          <a:xfrm>
            <a:off x="801688" y="4754563"/>
            <a:ext cx="493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Long Processing Times</a:t>
            </a:r>
            <a:endParaRPr lang="en-US" sz="1600"/>
          </a:p>
        </p:txBody>
      </p:sp>
      <p:sp>
        <p:nvSpPr>
          <p:cNvPr id="30" name="Text 27"/>
          <p:cNvSpPr/>
          <p:nvPr/>
        </p:nvSpPr>
        <p:spPr bwMode="auto">
          <a:xfrm>
            <a:off x="642938" y="5008562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Solved by using background processing and real time progress updates to prevent website freezing</a:t>
            </a:r>
            <a:endParaRPr lang="en-US" sz="1600"/>
          </a:p>
        </p:txBody>
      </p:sp>
      <p:sp>
        <p:nvSpPr>
          <p:cNvPr id="31" name="Shape 28"/>
          <p:cNvSpPr/>
          <p:nvPr/>
        </p:nvSpPr>
        <p:spPr bwMode="auto">
          <a:xfrm>
            <a:off x="515938" y="5389563"/>
            <a:ext cx="5286375" cy="825500"/>
          </a:xfrm>
          <a:custGeom>
            <a:avLst/>
            <a:gdLst/>
            <a:ahLst/>
            <a:cxnLst/>
            <a:rect l="l" t="t" r="r" b="b"/>
            <a:pathLst>
              <a:path w="5286375" h="825500" fill="norm" stroke="1" extrusionOk="0">
                <a:moveTo>
                  <a:pt x="63497" y="0"/>
                </a:moveTo>
                <a:lnTo>
                  <a:pt x="5222878" y="0"/>
                </a:lnTo>
                <a:cubicBezTo>
                  <a:pt x="5257946" y="0"/>
                  <a:pt x="5286375" y="28429"/>
                  <a:pt x="5286375" y="63497"/>
                </a:cubicBezTo>
                <a:lnTo>
                  <a:pt x="5286375" y="762003"/>
                </a:lnTo>
                <a:cubicBezTo>
                  <a:pt x="5286375" y="797071"/>
                  <a:pt x="5257946" y="825500"/>
                  <a:pt x="5222878" y="825500"/>
                </a:cubicBezTo>
                <a:lnTo>
                  <a:pt x="63497" y="825500"/>
                </a:lnTo>
                <a:cubicBezTo>
                  <a:pt x="28429" y="825500"/>
                  <a:pt x="0" y="797071"/>
                  <a:pt x="0" y="7620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32" name="Shape 29"/>
          <p:cNvSpPr/>
          <p:nvPr/>
        </p:nvSpPr>
        <p:spPr bwMode="auto">
          <a:xfrm>
            <a:off x="658813" y="554831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fill="norm" stroke="1" extrusionOk="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3" name="Text 30"/>
          <p:cNvSpPr/>
          <p:nvPr/>
        </p:nvSpPr>
        <p:spPr bwMode="auto">
          <a:xfrm>
            <a:off x="801688" y="5516563"/>
            <a:ext cx="493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Warehouse Layer Creation</a:t>
            </a:r>
            <a:endParaRPr lang="en-US" sz="1600"/>
          </a:p>
        </p:txBody>
      </p:sp>
      <p:sp>
        <p:nvSpPr>
          <p:cNvPr id="34" name="Text 31"/>
          <p:cNvSpPr/>
          <p:nvPr/>
        </p:nvSpPr>
        <p:spPr bwMode="auto">
          <a:xfrm>
            <a:off x="642938" y="5770563"/>
            <a:ext cx="5087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Ensured correct layer creation for every job through automation, careful error handling and consistent initialization scripts</a:t>
            </a:r>
            <a:endParaRPr lang="en-US" sz="1600"/>
          </a:p>
        </p:txBody>
      </p:sp>
      <p:sp>
        <p:nvSpPr>
          <p:cNvPr id="35" name="Shape 32"/>
          <p:cNvSpPr/>
          <p:nvPr/>
        </p:nvSpPr>
        <p:spPr bwMode="auto">
          <a:xfrm>
            <a:off x="6195219" y="956469"/>
            <a:ext cx="5675313" cy="3357563"/>
          </a:xfrm>
          <a:custGeom>
            <a:avLst/>
            <a:gdLst/>
            <a:ahLst/>
            <a:cxnLst/>
            <a:rect l="l" t="t" r="r" b="b"/>
            <a:pathLst>
              <a:path w="5675313" h="3357563" fill="norm" stroke="1" extrusionOk="0">
                <a:moveTo>
                  <a:pt x="127017" y="0"/>
                </a:moveTo>
                <a:lnTo>
                  <a:pt x="5548296" y="0"/>
                </a:lnTo>
                <a:cubicBezTo>
                  <a:pt x="5618445" y="0"/>
                  <a:pt x="5675313" y="56867"/>
                  <a:pt x="5675313" y="127017"/>
                </a:cubicBezTo>
                <a:lnTo>
                  <a:pt x="5675313" y="3230546"/>
                </a:lnTo>
                <a:cubicBezTo>
                  <a:pt x="5675313" y="3300695"/>
                  <a:pt x="5618445" y="3357563"/>
                  <a:pt x="5548296" y="3357563"/>
                </a:cubicBezTo>
                <a:lnTo>
                  <a:pt x="127017" y="3357563"/>
                </a:lnTo>
                <a:cubicBezTo>
                  <a:pt x="56867" y="3357563"/>
                  <a:pt x="0" y="3300695"/>
                  <a:pt x="0" y="3230546"/>
                </a:cubicBezTo>
                <a:lnTo>
                  <a:pt x="0" y="127017"/>
                </a:lnTo>
                <a:cubicBezTo>
                  <a:pt x="0" y="56914"/>
                  <a:pt x="56914" y="0"/>
                  <a:pt x="127017" y="0"/>
                </a:cubicBezTo>
                <a:close/>
              </a:path>
            </a:pathLst>
          </a:custGeom>
          <a:solidFill>
            <a:srgbClr val="4C1D95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 bwMode="auto">
          <a:xfrm>
            <a:off x="6389688" y="11509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fill="norm" stroke="1" extrusionOk="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37" name="Shape 34"/>
          <p:cNvSpPr/>
          <p:nvPr/>
        </p:nvSpPr>
        <p:spPr bwMode="auto">
          <a:xfrm>
            <a:off x="6490891" y="126206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 fill="norm" stroke="1" extrusionOk="0">
                <a:moveTo>
                  <a:pt x="14883" y="60709"/>
                </a:moveTo>
                <a:lnTo>
                  <a:pt x="79747" y="87406"/>
                </a:lnTo>
                <a:cubicBezTo>
                  <a:pt x="82786" y="88646"/>
                  <a:pt x="86010" y="89297"/>
                  <a:pt x="89297" y="89297"/>
                </a:cubicBezTo>
                <a:cubicBezTo>
                  <a:pt x="92583" y="89297"/>
                  <a:pt x="95808" y="88646"/>
                  <a:pt x="98847" y="87406"/>
                </a:cubicBezTo>
                <a:lnTo>
                  <a:pt x="174005" y="56462"/>
                </a:lnTo>
                <a:cubicBezTo>
                  <a:pt x="176795" y="55314"/>
                  <a:pt x="178594" y="52617"/>
                  <a:pt x="178594" y="49609"/>
                </a:cubicBezTo>
                <a:cubicBezTo>
                  <a:pt x="178594" y="46602"/>
                  <a:pt x="176795" y="43904"/>
                  <a:pt x="174005" y="42757"/>
                </a:cubicBezTo>
                <a:lnTo>
                  <a:pt x="98847" y="11813"/>
                </a:lnTo>
                <a:cubicBezTo>
                  <a:pt x="95808" y="10573"/>
                  <a:pt x="92583" y="9922"/>
                  <a:pt x="89297" y="9922"/>
                </a:cubicBezTo>
                <a:cubicBezTo>
                  <a:pt x="86010" y="9922"/>
                  <a:pt x="82786" y="10573"/>
                  <a:pt x="79747" y="11813"/>
                </a:cubicBezTo>
                <a:lnTo>
                  <a:pt x="4589" y="42757"/>
                </a:lnTo>
                <a:cubicBezTo>
                  <a:pt x="1798" y="43904"/>
                  <a:pt x="0" y="46602"/>
                  <a:pt x="0" y="49609"/>
                </a:cubicBezTo>
                <a:lnTo>
                  <a:pt x="0" y="141387"/>
                </a:lnTo>
                <a:cubicBezTo>
                  <a:pt x="0" y="145510"/>
                  <a:pt x="3318" y="148828"/>
                  <a:pt x="7441" y="148828"/>
                </a:cubicBezTo>
                <a:cubicBezTo>
                  <a:pt x="11565" y="148828"/>
                  <a:pt x="14883" y="145510"/>
                  <a:pt x="14883" y="141387"/>
                </a:cubicBezTo>
                <a:lnTo>
                  <a:pt x="14883" y="60709"/>
                </a:lnTo>
                <a:close/>
                <a:moveTo>
                  <a:pt x="29766" y="82941"/>
                </a:moveTo>
                <a:lnTo>
                  <a:pt x="29766" y="119062"/>
                </a:lnTo>
                <a:cubicBezTo>
                  <a:pt x="29766" y="135496"/>
                  <a:pt x="56431" y="148828"/>
                  <a:pt x="89297" y="148828"/>
                </a:cubicBezTo>
                <a:cubicBezTo>
                  <a:pt x="122163" y="148828"/>
                  <a:pt x="148828" y="135496"/>
                  <a:pt x="148828" y="119062"/>
                </a:cubicBezTo>
                <a:lnTo>
                  <a:pt x="148828" y="82910"/>
                </a:lnTo>
                <a:lnTo>
                  <a:pt x="104521" y="101172"/>
                </a:lnTo>
                <a:cubicBezTo>
                  <a:pt x="99684" y="103156"/>
                  <a:pt x="94537" y="104180"/>
                  <a:pt x="89297" y="104180"/>
                </a:cubicBezTo>
                <a:cubicBezTo>
                  <a:pt x="84057" y="104180"/>
                  <a:pt x="78910" y="103156"/>
                  <a:pt x="74073" y="101172"/>
                </a:cubicBezTo>
                <a:lnTo>
                  <a:pt x="29766" y="82910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38" name="Text 35"/>
          <p:cNvSpPr/>
          <p:nvPr/>
        </p:nvSpPr>
        <p:spPr bwMode="auto">
          <a:xfrm flipH="0" flipV="0">
            <a:off x="6865937" y="1214437"/>
            <a:ext cx="2545786" cy="25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50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Learning Outcomes</a:t>
            </a:r>
            <a:endParaRPr lang="en-US" sz="1600"/>
          </a:p>
        </p:txBody>
      </p:sp>
      <p:sp>
        <p:nvSpPr>
          <p:cNvPr id="39" name="Text 36"/>
          <p:cNvSpPr/>
          <p:nvPr/>
        </p:nvSpPr>
        <p:spPr bwMode="auto">
          <a:xfrm>
            <a:off x="6389688" y="1658938"/>
            <a:ext cx="534987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The project </a:t>
            </a:r>
            <a:r>
              <a:rPr lang="en-US" sz="100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strengthened understanding</a:t>
            </a: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of key distributed systems concepts:</a:t>
            </a:r>
            <a:endParaRPr lang="en-US" sz="1600"/>
          </a:p>
        </p:txBody>
      </p:sp>
      <p:sp>
        <p:nvSpPr>
          <p:cNvPr id="40" name="Shape 37"/>
          <p:cNvSpPr/>
          <p:nvPr/>
        </p:nvSpPr>
        <p:spPr bwMode="auto">
          <a:xfrm>
            <a:off x="6389688" y="1992313"/>
            <a:ext cx="2595562" cy="1016000"/>
          </a:xfrm>
          <a:custGeom>
            <a:avLst/>
            <a:gdLst/>
            <a:ahLst/>
            <a:cxnLst/>
            <a:rect l="l" t="t" r="r" b="b"/>
            <a:pathLst>
              <a:path w="2595563" h="1016000" fill="norm" stroke="1" extrusionOk="0">
                <a:moveTo>
                  <a:pt x="95250" y="0"/>
                </a:moveTo>
                <a:lnTo>
                  <a:pt x="2500313" y="0"/>
                </a:lnTo>
                <a:cubicBezTo>
                  <a:pt x="2552882" y="0"/>
                  <a:pt x="2595563" y="42680"/>
                  <a:pt x="2595563" y="95250"/>
                </a:cubicBezTo>
                <a:lnTo>
                  <a:pt x="2595563" y="920750"/>
                </a:lnTo>
                <a:cubicBezTo>
                  <a:pt x="2595563" y="973320"/>
                  <a:pt x="2552882" y="1016000"/>
                  <a:pt x="2500313" y="1016000"/>
                </a:cubicBezTo>
                <a:lnTo>
                  <a:pt x="95250" y="1016000"/>
                </a:lnTo>
                <a:cubicBezTo>
                  <a:pt x="42680" y="1016000"/>
                  <a:pt x="0" y="973320"/>
                  <a:pt x="0" y="920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41" name="Shape 38"/>
          <p:cNvSpPr/>
          <p:nvPr/>
        </p:nvSpPr>
        <p:spPr bwMode="auto">
          <a:xfrm>
            <a:off x="7496969" y="21193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fill="norm" stroke="1" extrusionOk="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42" name="Shape 39"/>
          <p:cNvSpPr/>
          <p:nvPr/>
        </p:nvSpPr>
        <p:spPr bwMode="auto">
          <a:xfrm>
            <a:off x="7618016" y="2230438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 fill="norm" stroke="1" extrusionOk="0">
                <a:moveTo>
                  <a:pt x="138906" y="63810"/>
                </a:moveTo>
                <a:cubicBezTo>
                  <a:pt x="134317" y="66849"/>
                  <a:pt x="129046" y="69298"/>
                  <a:pt x="123558" y="71251"/>
                </a:cubicBezTo>
                <a:cubicBezTo>
                  <a:pt x="108986" y="76460"/>
                  <a:pt x="89855" y="79375"/>
                  <a:pt x="69453" y="79375"/>
                </a:cubicBezTo>
                <a:cubicBezTo>
                  <a:pt x="49051" y="79375"/>
                  <a:pt x="29890" y="76429"/>
                  <a:pt x="15348" y="71251"/>
                </a:cubicBezTo>
                <a:cubicBezTo>
                  <a:pt x="9891" y="69298"/>
                  <a:pt x="4589" y="66849"/>
                  <a:pt x="0" y="63810"/>
                </a:cubicBezTo>
                <a:lnTo>
                  <a:pt x="0" y="89297"/>
                </a:lnTo>
                <a:cubicBezTo>
                  <a:pt x="0" y="103001"/>
                  <a:pt x="31099" y="114102"/>
                  <a:pt x="69453" y="114102"/>
                </a:cubicBezTo>
                <a:cubicBezTo>
                  <a:pt x="107807" y="114102"/>
                  <a:pt x="138906" y="103001"/>
                  <a:pt x="138906" y="89297"/>
                </a:cubicBezTo>
                <a:lnTo>
                  <a:pt x="138906" y="63810"/>
                </a:lnTo>
                <a:close/>
                <a:moveTo>
                  <a:pt x="138906" y="39688"/>
                </a:moveTo>
                <a:lnTo>
                  <a:pt x="138906" y="24805"/>
                </a:lnTo>
                <a:cubicBezTo>
                  <a:pt x="138906" y="11100"/>
                  <a:pt x="107807" y="0"/>
                  <a:pt x="69453" y="0"/>
                </a:cubicBezTo>
                <a:cubicBezTo>
                  <a:pt x="31099" y="0"/>
                  <a:pt x="0" y="11100"/>
                  <a:pt x="0" y="24805"/>
                </a:cubicBezTo>
                <a:lnTo>
                  <a:pt x="0" y="39688"/>
                </a:lnTo>
                <a:cubicBezTo>
                  <a:pt x="0" y="53392"/>
                  <a:pt x="31099" y="64492"/>
                  <a:pt x="69453" y="64492"/>
                </a:cubicBezTo>
                <a:cubicBezTo>
                  <a:pt x="107807" y="64492"/>
                  <a:pt x="138906" y="53392"/>
                  <a:pt x="138906" y="39688"/>
                </a:cubicBezTo>
                <a:close/>
                <a:moveTo>
                  <a:pt x="123558" y="120861"/>
                </a:moveTo>
                <a:cubicBezTo>
                  <a:pt x="109017" y="126039"/>
                  <a:pt x="89886" y="128984"/>
                  <a:pt x="69453" y="128984"/>
                </a:cubicBezTo>
                <a:cubicBezTo>
                  <a:pt x="49020" y="128984"/>
                  <a:pt x="29890" y="126039"/>
                  <a:pt x="15348" y="120861"/>
                </a:cubicBezTo>
                <a:cubicBezTo>
                  <a:pt x="9891" y="118907"/>
                  <a:pt x="4589" y="116458"/>
                  <a:pt x="0" y="113419"/>
                </a:cubicBezTo>
                <a:lnTo>
                  <a:pt x="0" y="133945"/>
                </a:lnTo>
                <a:cubicBezTo>
                  <a:pt x="0" y="147650"/>
                  <a:pt x="31099" y="158750"/>
                  <a:pt x="69453" y="158750"/>
                </a:cubicBezTo>
                <a:cubicBezTo>
                  <a:pt x="107807" y="158750"/>
                  <a:pt x="138906" y="147650"/>
                  <a:pt x="138906" y="133945"/>
                </a:cubicBezTo>
                <a:lnTo>
                  <a:pt x="138906" y="113419"/>
                </a:lnTo>
                <a:cubicBezTo>
                  <a:pt x="134317" y="116458"/>
                  <a:pt x="129046" y="118907"/>
                  <a:pt x="123558" y="120861"/>
                </a:cubicBez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43" name="Text 40"/>
          <p:cNvSpPr/>
          <p:nvPr/>
        </p:nvSpPr>
        <p:spPr bwMode="auto">
          <a:xfrm>
            <a:off x="6488906" y="2563813"/>
            <a:ext cx="2397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9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Distributed Storage</a:t>
            </a:r>
            <a:endParaRPr lang="en-US" sz="1600"/>
          </a:p>
        </p:txBody>
      </p:sp>
      <p:sp>
        <p:nvSpPr>
          <p:cNvPr id="44" name="Text 41"/>
          <p:cNvSpPr/>
          <p:nvPr/>
        </p:nvSpPr>
        <p:spPr bwMode="auto">
          <a:xfrm>
            <a:off x="6492875" y="2754313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75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Object storage principles</a:t>
            </a:r>
            <a:endParaRPr lang="en-US" sz="1600"/>
          </a:p>
        </p:txBody>
      </p:sp>
      <p:sp>
        <p:nvSpPr>
          <p:cNvPr id="45" name="Shape 42"/>
          <p:cNvSpPr/>
          <p:nvPr/>
        </p:nvSpPr>
        <p:spPr bwMode="auto">
          <a:xfrm>
            <a:off x="9080500" y="1992313"/>
            <a:ext cx="2595562" cy="1016000"/>
          </a:xfrm>
          <a:custGeom>
            <a:avLst/>
            <a:gdLst/>
            <a:ahLst/>
            <a:cxnLst/>
            <a:rect l="l" t="t" r="r" b="b"/>
            <a:pathLst>
              <a:path w="2595563" h="1016000" fill="norm" stroke="1" extrusionOk="0">
                <a:moveTo>
                  <a:pt x="95250" y="0"/>
                </a:moveTo>
                <a:lnTo>
                  <a:pt x="2500313" y="0"/>
                </a:lnTo>
                <a:cubicBezTo>
                  <a:pt x="2552882" y="0"/>
                  <a:pt x="2595563" y="42680"/>
                  <a:pt x="2595563" y="95250"/>
                </a:cubicBezTo>
                <a:lnTo>
                  <a:pt x="2595563" y="920750"/>
                </a:lnTo>
                <a:cubicBezTo>
                  <a:pt x="2595563" y="973320"/>
                  <a:pt x="2552882" y="1016000"/>
                  <a:pt x="2500313" y="1016000"/>
                </a:cubicBezTo>
                <a:lnTo>
                  <a:pt x="95250" y="1016000"/>
                </a:lnTo>
                <a:cubicBezTo>
                  <a:pt x="42680" y="1016000"/>
                  <a:pt x="0" y="973320"/>
                  <a:pt x="0" y="920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46" name="Shape 43"/>
          <p:cNvSpPr/>
          <p:nvPr/>
        </p:nvSpPr>
        <p:spPr bwMode="auto">
          <a:xfrm>
            <a:off x="10187781" y="21193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fill="norm" stroke="1" extrusionOk="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/>
        </p:spPr>
      </p:sp>
      <p:sp>
        <p:nvSpPr>
          <p:cNvPr id="47" name="Shape 44"/>
          <p:cNvSpPr/>
          <p:nvPr/>
        </p:nvSpPr>
        <p:spPr bwMode="auto">
          <a:xfrm>
            <a:off x="10308828" y="2230438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 fill="norm" stroke="1" extrusionOk="0">
                <a:moveTo>
                  <a:pt x="105048" y="-3070"/>
                </a:moveTo>
                <a:cubicBezTo>
                  <a:pt x="108738" y="-403"/>
                  <a:pt x="110102" y="4434"/>
                  <a:pt x="108427" y="8651"/>
                </a:cubicBezTo>
                <a:lnTo>
                  <a:pt x="84119" y="69453"/>
                </a:lnTo>
                <a:lnTo>
                  <a:pt x="128984" y="69453"/>
                </a:lnTo>
                <a:cubicBezTo>
                  <a:pt x="133170" y="69453"/>
                  <a:pt x="136891" y="72058"/>
                  <a:pt x="138317" y="75995"/>
                </a:cubicBezTo>
                <a:cubicBezTo>
                  <a:pt x="139743" y="79933"/>
                  <a:pt x="138534" y="84336"/>
                  <a:pt x="135341" y="87002"/>
                </a:cubicBezTo>
                <a:lnTo>
                  <a:pt x="46044" y="161417"/>
                </a:lnTo>
                <a:cubicBezTo>
                  <a:pt x="42540" y="164331"/>
                  <a:pt x="37548" y="164486"/>
                  <a:pt x="33858" y="161820"/>
                </a:cubicBezTo>
                <a:cubicBezTo>
                  <a:pt x="30169" y="159153"/>
                  <a:pt x="28804" y="154316"/>
                  <a:pt x="30479" y="150099"/>
                </a:cubicBezTo>
                <a:lnTo>
                  <a:pt x="54787" y="89297"/>
                </a:lnTo>
                <a:lnTo>
                  <a:pt x="9922" y="89297"/>
                </a:lnTo>
                <a:cubicBezTo>
                  <a:pt x="5736" y="89297"/>
                  <a:pt x="2015" y="86692"/>
                  <a:pt x="589" y="82755"/>
                </a:cubicBezTo>
                <a:cubicBezTo>
                  <a:pt x="-837" y="78817"/>
                  <a:pt x="372" y="74414"/>
                  <a:pt x="3566" y="71748"/>
                </a:cubicBezTo>
                <a:lnTo>
                  <a:pt x="92863" y="-2667"/>
                </a:lnTo>
                <a:cubicBezTo>
                  <a:pt x="96366" y="-5581"/>
                  <a:pt x="101358" y="-5736"/>
                  <a:pt x="105048" y="-307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48" name="Text 45"/>
          <p:cNvSpPr/>
          <p:nvPr/>
        </p:nvSpPr>
        <p:spPr bwMode="auto">
          <a:xfrm>
            <a:off x="9179719" y="2563813"/>
            <a:ext cx="2397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9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Parallel Processing</a:t>
            </a:r>
            <a:endParaRPr lang="en-US" sz="1600"/>
          </a:p>
        </p:txBody>
      </p:sp>
      <p:sp>
        <p:nvSpPr>
          <p:cNvPr id="49" name="Text 46"/>
          <p:cNvSpPr/>
          <p:nvPr/>
        </p:nvSpPr>
        <p:spPr bwMode="auto">
          <a:xfrm>
            <a:off x="9183688" y="2754313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75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Spark &amp; partitioning</a:t>
            </a:r>
            <a:endParaRPr lang="en-US" sz="1600"/>
          </a:p>
        </p:txBody>
      </p:sp>
      <p:sp>
        <p:nvSpPr>
          <p:cNvPr id="50" name="Shape 47"/>
          <p:cNvSpPr/>
          <p:nvPr/>
        </p:nvSpPr>
        <p:spPr bwMode="auto">
          <a:xfrm>
            <a:off x="6389688" y="3103563"/>
            <a:ext cx="2595562" cy="1016000"/>
          </a:xfrm>
          <a:custGeom>
            <a:avLst/>
            <a:gdLst/>
            <a:ahLst/>
            <a:cxnLst/>
            <a:rect l="l" t="t" r="r" b="b"/>
            <a:pathLst>
              <a:path w="2595563" h="1016000" fill="norm" stroke="1" extrusionOk="0">
                <a:moveTo>
                  <a:pt x="95250" y="0"/>
                </a:moveTo>
                <a:lnTo>
                  <a:pt x="2500313" y="0"/>
                </a:lnTo>
                <a:cubicBezTo>
                  <a:pt x="2552882" y="0"/>
                  <a:pt x="2595563" y="42680"/>
                  <a:pt x="2595563" y="95250"/>
                </a:cubicBezTo>
                <a:lnTo>
                  <a:pt x="2595563" y="920750"/>
                </a:lnTo>
                <a:cubicBezTo>
                  <a:pt x="2595563" y="973320"/>
                  <a:pt x="2552882" y="1016000"/>
                  <a:pt x="2500313" y="1016000"/>
                </a:cubicBezTo>
                <a:lnTo>
                  <a:pt x="95250" y="1016000"/>
                </a:lnTo>
                <a:cubicBezTo>
                  <a:pt x="42680" y="1016000"/>
                  <a:pt x="0" y="973320"/>
                  <a:pt x="0" y="920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51" name="Shape 48"/>
          <p:cNvSpPr/>
          <p:nvPr/>
        </p:nvSpPr>
        <p:spPr bwMode="auto">
          <a:xfrm>
            <a:off x="7496969" y="32305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fill="norm" stroke="1" extrusionOk="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52" name="Shape 49"/>
          <p:cNvSpPr/>
          <p:nvPr/>
        </p:nvSpPr>
        <p:spPr bwMode="auto">
          <a:xfrm>
            <a:off x="7608094" y="334168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 fill="norm" stroke="1" extrusionOk="0">
                <a:moveTo>
                  <a:pt x="59531" y="19844"/>
                </a:moveTo>
                <a:cubicBezTo>
                  <a:pt x="59531" y="14356"/>
                  <a:pt x="63965" y="9922"/>
                  <a:pt x="69453" y="9922"/>
                </a:cubicBezTo>
                <a:lnTo>
                  <a:pt x="89297" y="9922"/>
                </a:lnTo>
                <a:cubicBezTo>
                  <a:pt x="94785" y="9922"/>
                  <a:pt x="99219" y="14356"/>
                  <a:pt x="99219" y="19844"/>
                </a:cubicBezTo>
                <a:lnTo>
                  <a:pt x="99219" y="39688"/>
                </a:lnTo>
                <a:cubicBezTo>
                  <a:pt x="99219" y="45176"/>
                  <a:pt x="94785" y="49609"/>
                  <a:pt x="89297" y="49609"/>
                </a:cubicBezTo>
                <a:lnTo>
                  <a:pt x="86816" y="49609"/>
                </a:lnTo>
                <a:lnTo>
                  <a:pt x="86816" y="69453"/>
                </a:lnTo>
                <a:lnTo>
                  <a:pt x="124023" y="69453"/>
                </a:lnTo>
                <a:cubicBezTo>
                  <a:pt x="136364" y="69453"/>
                  <a:pt x="146348" y="79437"/>
                  <a:pt x="146348" y="91777"/>
                </a:cubicBezTo>
                <a:lnTo>
                  <a:pt x="146348" y="109141"/>
                </a:lnTo>
                <a:lnTo>
                  <a:pt x="148828" y="109141"/>
                </a:lnTo>
                <a:cubicBezTo>
                  <a:pt x="154316" y="109141"/>
                  <a:pt x="158750" y="113574"/>
                  <a:pt x="158750" y="119062"/>
                </a:cubicBezTo>
                <a:lnTo>
                  <a:pt x="158750" y="138906"/>
                </a:lnTo>
                <a:cubicBezTo>
                  <a:pt x="158750" y="144394"/>
                  <a:pt x="154316" y="148828"/>
                  <a:pt x="148828" y="148828"/>
                </a:cubicBezTo>
                <a:lnTo>
                  <a:pt x="128984" y="148828"/>
                </a:lnTo>
                <a:cubicBezTo>
                  <a:pt x="123496" y="148828"/>
                  <a:pt x="119062" y="144394"/>
                  <a:pt x="119062" y="138906"/>
                </a:cubicBezTo>
                <a:lnTo>
                  <a:pt x="119062" y="119062"/>
                </a:lnTo>
                <a:cubicBezTo>
                  <a:pt x="119062" y="113574"/>
                  <a:pt x="123496" y="109141"/>
                  <a:pt x="128984" y="109141"/>
                </a:cubicBezTo>
                <a:lnTo>
                  <a:pt x="131465" y="109141"/>
                </a:lnTo>
                <a:lnTo>
                  <a:pt x="131465" y="91777"/>
                </a:lnTo>
                <a:cubicBezTo>
                  <a:pt x="131465" y="87654"/>
                  <a:pt x="128147" y="84336"/>
                  <a:pt x="124023" y="84336"/>
                </a:cubicBezTo>
                <a:lnTo>
                  <a:pt x="86816" y="84336"/>
                </a:lnTo>
                <a:lnTo>
                  <a:pt x="86816" y="109141"/>
                </a:lnTo>
                <a:lnTo>
                  <a:pt x="89297" y="109141"/>
                </a:lnTo>
                <a:cubicBezTo>
                  <a:pt x="94785" y="109141"/>
                  <a:pt x="99219" y="113574"/>
                  <a:pt x="99219" y="119062"/>
                </a:cubicBezTo>
                <a:lnTo>
                  <a:pt x="99219" y="138906"/>
                </a:lnTo>
                <a:cubicBezTo>
                  <a:pt x="99219" y="144394"/>
                  <a:pt x="94785" y="148828"/>
                  <a:pt x="89297" y="148828"/>
                </a:cubicBezTo>
                <a:lnTo>
                  <a:pt x="69453" y="148828"/>
                </a:lnTo>
                <a:cubicBezTo>
                  <a:pt x="63965" y="148828"/>
                  <a:pt x="59531" y="144394"/>
                  <a:pt x="59531" y="138906"/>
                </a:cubicBezTo>
                <a:lnTo>
                  <a:pt x="59531" y="119062"/>
                </a:lnTo>
                <a:cubicBezTo>
                  <a:pt x="59531" y="113574"/>
                  <a:pt x="63965" y="109141"/>
                  <a:pt x="69453" y="109141"/>
                </a:cubicBezTo>
                <a:lnTo>
                  <a:pt x="71934" y="109141"/>
                </a:lnTo>
                <a:lnTo>
                  <a:pt x="71934" y="84336"/>
                </a:lnTo>
                <a:lnTo>
                  <a:pt x="34727" y="84336"/>
                </a:lnTo>
                <a:cubicBezTo>
                  <a:pt x="30603" y="84336"/>
                  <a:pt x="27285" y="87654"/>
                  <a:pt x="27285" y="91777"/>
                </a:cubicBezTo>
                <a:lnTo>
                  <a:pt x="27285" y="109141"/>
                </a:lnTo>
                <a:lnTo>
                  <a:pt x="29766" y="109141"/>
                </a:lnTo>
                <a:cubicBezTo>
                  <a:pt x="35254" y="109141"/>
                  <a:pt x="39688" y="113574"/>
                  <a:pt x="39688" y="119062"/>
                </a:cubicBezTo>
                <a:lnTo>
                  <a:pt x="39688" y="138906"/>
                </a:lnTo>
                <a:cubicBezTo>
                  <a:pt x="39688" y="144394"/>
                  <a:pt x="35254" y="148828"/>
                  <a:pt x="29766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119062"/>
                </a:lnTo>
                <a:cubicBezTo>
                  <a:pt x="0" y="113574"/>
                  <a:pt x="4434" y="109141"/>
                  <a:pt x="9922" y="109141"/>
                </a:cubicBezTo>
                <a:lnTo>
                  <a:pt x="12402" y="109141"/>
                </a:lnTo>
                <a:lnTo>
                  <a:pt x="12402" y="91777"/>
                </a:lnTo>
                <a:cubicBezTo>
                  <a:pt x="12402" y="79437"/>
                  <a:pt x="22386" y="69453"/>
                  <a:pt x="34727" y="69453"/>
                </a:cubicBezTo>
                <a:lnTo>
                  <a:pt x="71934" y="69453"/>
                </a:lnTo>
                <a:lnTo>
                  <a:pt x="71934" y="49609"/>
                </a:lnTo>
                <a:lnTo>
                  <a:pt x="69453" y="49609"/>
                </a:lnTo>
                <a:cubicBezTo>
                  <a:pt x="63965" y="49609"/>
                  <a:pt x="59531" y="45176"/>
                  <a:pt x="59531" y="39688"/>
                </a:cubicBezTo>
                <a:lnTo>
                  <a:pt x="59531" y="19844"/>
                </a:lnTo>
                <a:close/>
              </a:path>
            </a:pathLst>
          </a:custGeom>
          <a:solidFill>
            <a:srgbClr val="7C3AED"/>
          </a:solidFill>
          <a:ln/>
        </p:spPr>
      </p:sp>
      <p:sp>
        <p:nvSpPr>
          <p:cNvPr id="53" name="Text 50"/>
          <p:cNvSpPr/>
          <p:nvPr/>
        </p:nvSpPr>
        <p:spPr bwMode="auto">
          <a:xfrm>
            <a:off x="6488906" y="3675063"/>
            <a:ext cx="2397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9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Service Architecture</a:t>
            </a:r>
            <a:endParaRPr lang="en-US" sz="1600"/>
          </a:p>
        </p:txBody>
      </p:sp>
      <p:sp>
        <p:nvSpPr>
          <p:cNvPr id="54" name="Text 51"/>
          <p:cNvSpPr/>
          <p:nvPr/>
        </p:nvSpPr>
        <p:spPr bwMode="auto">
          <a:xfrm>
            <a:off x="6492875" y="3865563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75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Microservices design</a:t>
            </a:r>
            <a:endParaRPr lang="en-US" sz="1600"/>
          </a:p>
        </p:txBody>
      </p:sp>
      <p:sp>
        <p:nvSpPr>
          <p:cNvPr id="55" name="Shape 52"/>
          <p:cNvSpPr/>
          <p:nvPr/>
        </p:nvSpPr>
        <p:spPr bwMode="auto">
          <a:xfrm>
            <a:off x="9080500" y="3103563"/>
            <a:ext cx="2595562" cy="1016000"/>
          </a:xfrm>
          <a:custGeom>
            <a:avLst/>
            <a:gdLst/>
            <a:ahLst/>
            <a:cxnLst/>
            <a:rect l="l" t="t" r="r" b="b"/>
            <a:pathLst>
              <a:path w="2595563" h="1016000" fill="norm" stroke="1" extrusionOk="0">
                <a:moveTo>
                  <a:pt x="95250" y="0"/>
                </a:moveTo>
                <a:lnTo>
                  <a:pt x="2500313" y="0"/>
                </a:lnTo>
                <a:cubicBezTo>
                  <a:pt x="2552882" y="0"/>
                  <a:pt x="2595563" y="42680"/>
                  <a:pt x="2595563" y="95250"/>
                </a:cubicBezTo>
                <a:lnTo>
                  <a:pt x="2595563" y="920750"/>
                </a:lnTo>
                <a:cubicBezTo>
                  <a:pt x="2595563" y="973320"/>
                  <a:pt x="2552882" y="1016000"/>
                  <a:pt x="2500313" y="1016000"/>
                </a:cubicBezTo>
                <a:lnTo>
                  <a:pt x="95250" y="1016000"/>
                </a:lnTo>
                <a:cubicBezTo>
                  <a:pt x="42680" y="1016000"/>
                  <a:pt x="0" y="973320"/>
                  <a:pt x="0" y="920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56" name="Shape 53"/>
          <p:cNvSpPr/>
          <p:nvPr/>
        </p:nvSpPr>
        <p:spPr bwMode="auto">
          <a:xfrm>
            <a:off x="10187781" y="32305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fill="norm" stroke="1" extrusionOk="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/>
        </p:spPr>
      </p:sp>
      <p:sp>
        <p:nvSpPr>
          <p:cNvPr id="57" name="Shape 54"/>
          <p:cNvSpPr/>
          <p:nvPr/>
        </p:nvSpPr>
        <p:spPr bwMode="auto">
          <a:xfrm>
            <a:off x="10288984" y="3341688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 fill="norm" stroke="1" extrusionOk="0">
                <a:moveTo>
                  <a:pt x="0" y="44059"/>
                </a:moveTo>
                <a:lnTo>
                  <a:pt x="0" y="148828"/>
                </a:lnTo>
                <a:cubicBezTo>
                  <a:pt x="0" y="154316"/>
                  <a:pt x="4434" y="158750"/>
                  <a:pt x="9922" y="158750"/>
                </a:cubicBezTo>
                <a:cubicBezTo>
                  <a:pt x="15410" y="158750"/>
                  <a:pt x="19844" y="154316"/>
                  <a:pt x="19844" y="148828"/>
                </a:cubicBezTo>
                <a:lnTo>
                  <a:pt x="19844" y="74414"/>
                </a:lnTo>
                <a:cubicBezTo>
                  <a:pt x="19844" y="68926"/>
                  <a:pt x="24278" y="64492"/>
                  <a:pt x="29766" y="64492"/>
                </a:cubicBezTo>
                <a:lnTo>
                  <a:pt x="148828" y="64492"/>
                </a:lnTo>
                <a:cubicBezTo>
                  <a:pt x="154316" y="64492"/>
                  <a:pt x="158750" y="68926"/>
                  <a:pt x="158750" y="74414"/>
                </a:cubicBezTo>
                <a:lnTo>
                  <a:pt x="158750" y="148828"/>
                </a:lnTo>
                <a:cubicBezTo>
                  <a:pt x="158750" y="154316"/>
                  <a:pt x="163184" y="158750"/>
                  <a:pt x="168672" y="158750"/>
                </a:cubicBezTo>
                <a:cubicBezTo>
                  <a:pt x="174160" y="158750"/>
                  <a:pt x="178594" y="154316"/>
                  <a:pt x="178594" y="148828"/>
                </a:cubicBezTo>
                <a:lnTo>
                  <a:pt x="178594" y="44059"/>
                </a:lnTo>
                <a:cubicBezTo>
                  <a:pt x="178594" y="35533"/>
                  <a:pt x="173137" y="27936"/>
                  <a:pt x="165013" y="25239"/>
                </a:cubicBezTo>
                <a:lnTo>
                  <a:pt x="94010" y="1581"/>
                </a:lnTo>
                <a:cubicBezTo>
                  <a:pt x="90940" y="558"/>
                  <a:pt x="87654" y="558"/>
                  <a:pt x="84584" y="1581"/>
                </a:cubicBezTo>
                <a:lnTo>
                  <a:pt x="13581" y="25239"/>
                </a:lnTo>
                <a:cubicBezTo>
                  <a:pt x="5457" y="27936"/>
                  <a:pt x="0" y="35533"/>
                  <a:pt x="0" y="44059"/>
                </a:cubicBezTo>
                <a:close/>
                <a:moveTo>
                  <a:pt x="143867" y="79375"/>
                </a:moveTo>
                <a:lnTo>
                  <a:pt x="34727" y="79375"/>
                </a:lnTo>
                <a:lnTo>
                  <a:pt x="34727" y="99219"/>
                </a:lnTo>
                <a:lnTo>
                  <a:pt x="143867" y="99219"/>
                </a:lnTo>
                <a:lnTo>
                  <a:pt x="143867" y="79375"/>
                </a:lnTo>
                <a:close/>
                <a:moveTo>
                  <a:pt x="34727" y="128984"/>
                </a:moveTo>
                <a:lnTo>
                  <a:pt x="143867" y="128984"/>
                </a:lnTo>
                <a:lnTo>
                  <a:pt x="143867" y="109141"/>
                </a:lnTo>
                <a:lnTo>
                  <a:pt x="34727" y="109141"/>
                </a:lnTo>
                <a:lnTo>
                  <a:pt x="34727" y="128984"/>
                </a:lnTo>
                <a:close/>
                <a:moveTo>
                  <a:pt x="143867" y="138906"/>
                </a:moveTo>
                <a:lnTo>
                  <a:pt x="34727" y="138906"/>
                </a:lnTo>
                <a:lnTo>
                  <a:pt x="34727" y="158750"/>
                </a:lnTo>
                <a:lnTo>
                  <a:pt x="143867" y="158750"/>
                </a:lnTo>
                <a:lnTo>
                  <a:pt x="143867" y="138906"/>
                </a:ln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58" name="Text 55"/>
          <p:cNvSpPr/>
          <p:nvPr/>
        </p:nvSpPr>
        <p:spPr bwMode="auto">
          <a:xfrm>
            <a:off x="9179719" y="3675063"/>
            <a:ext cx="2397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9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Data Warehousing</a:t>
            </a:r>
            <a:endParaRPr lang="en-US" sz="1600"/>
          </a:p>
        </p:txBody>
      </p:sp>
      <p:sp>
        <p:nvSpPr>
          <p:cNvPr id="59" name="Text 56"/>
          <p:cNvSpPr/>
          <p:nvPr/>
        </p:nvSpPr>
        <p:spPr bwMode="auto">
          <a:xfrm>
            <a:off x="9183688" y="3865563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750">
                <a:solidFill>
                  <a:srgbClr val="99A1AF"/>
                </a:solidFill>
                <a:latin typeface="Quattrocento Sans"/>
                <a:ea typeface="Quattrocento Sans"/>
                <a:cs typeface="Quattrocento Sans"/>
              </a:rPr>
              <a:t>Layered schemas</a:t>
            </a:r>
            <a:endParaRPr lang="en-US" sz="1600"/>
          </a:p>
        </p:txBody>
      </p:sp>
      <p:sp>
        <p:nvSpPr>
          <p:cNvPr id="60" name="Shape 57"/>
          <p:cNvSpPr/>
          <p:nvPr/>
        </p:nvSpPr>
        <p:spPr bwMode="auto">
          <a:xfrm>
            <a:off x="6195219" y="4480719"/>
            <a:ext cx="5675313" cy="2198688"/>
          </a:xfrm>
          <a:custGeom>
            <a:avLst/>
            <a:gdLst/>
            <a:ahLst/>
            <a:cxnLst/>
            <a:rect l="l" t="t" r="r" b="b"/>
            <a:pathLst>
              <a:path w="5675313" h="2198688" fill="norm" stroke="1" extrusionOk="0">
                <a:moveTo>
                  <a:pt x="126996" y="0"/>
                </a:moveTo>
                <a:lnTo>
                  <a:pt x="5548316" y="0"/>
                </a:lnTo>
                <a:cubicBezTo>
                  <a:pt x="5618454" y="0"/>
                  <a:pt x="5675313" y="56858"/>
                  <a:pt x="5675313" y="126996"/>
                </a:cubicBezTo>
                <a:lnTo>
                  <a:pt x="5675313" y="2071691"/>
                </a:lnTo>
                <a:cubicBezTo>
                  <a:pt x="5675313" y="2141829"/>
                  <a:pt x="5618454" y="2198688"/>
                  <a:pt x="5548316" y="2198688"/>
                </a:cubicBezTo>
                <a:lnTo>
                  <a:pt x="126996" y="2198688"/>
                </a:lnTo>
                <a:cubicBezTo>
                  <a:pt x="56858" y="2198688"/>
                  <a:pt x="0" y="2141829"/>
                  <a:pt x="0" y="2071691"/>
                </a:cubicBezTo>
                <a:lnTo>
                  <a:pt x="0" y="126996"/>
                </a:lnTo>
                <a:cubicBezTo>
                  <a:pt x="0" y="56905"/>
                  <a:pt x="56905" y="0"/>
                  <a:pt x="126996" y="0"/>
                </a:cubicBezTo>
                <a:close/>
              </a:path>
            </a:pathLst>
          </a:custGeom>
          <a:gradFill>
            <a:gsLst>
              <a:gs pos="0">
                <a:srgbClr val="7C3AED">
                  <a:alpha val="30000"/>
                </a:srgbClr>
              </a:gs>
              <a:gs pos="100000">
                <a:srgbClr val="EC4899">
                  <a:alpha val="30000"/>
                </a:srgbClr>
              </a:gs>
            </a:gsLst>
            <a:lin ang="2700000" scaled="1"/>
          </a:gra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 bwMode="auto">
          <a:xfrm>
            <a:off x="6389688" y="46751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 fill="norm" stroke="1" extrusionOk="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>
            <a:gsLst>
              <a:gs pos="0">
                <a:srgbClr val="7C3AED"/>
              </a:gs>
              <a:gs pos="100000">
                <a:srgbClr val="EC4899"/>
              </a:gs>
            </a:gsLst>
            <a:lin ang="2700000" scaled="1"/>
          </a:gradFill>
          <a:ln/>
        </p:spPr>
      </p:sp>
      <p:sp>
        <p:nvSpPr>
          <p:cNvPr id="62" name="Shape 59"/>
          <p:cNvSpPr/>
          <p:nvPr/>
        </p:nvSpPr>
        <p:spPr bwMode="auto">
          <a:xfrm>
            <a:off x="6500813" y="47863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 fill="norm" stroke="1" extrusionOk="0">
                <a:moveTo>
                  <a:pt x="39688" y="99219"/>
                </a:moveTo>
                <a:lnTo>
                  <a:pt x="7596" y="99219"/>
                </a:lnTo>
                <a:cubicBezTo>
                  <a:pt x="-124" y="99219"/>
                  <a:pt x="-4868" y="90816"/>
                  <a:pt x="-899" y="84181"/>
                </a:cubicBezTo>
                <a:lnTo>
                  <a:pt x="15503" y="56834"/>
                </a:lnTo>
                <a:cubicBezTo>
                  <a:pt x="18200" y="52338"/>
                  <a:pt x="23037" y="49609"/>
                  <a:pt x="28277" y="49609"/>
                </a:cubicBezTo>
                <a:lnTo>
                  <a:pt x="57733" y="49609"/>
                </a:lnTo>
                <a:cubicBezTo>
                  <a:pt x="81328" y="9643"/>
                  <a:pt x="116520" y="7627"/>
                  <a:pt x="140053" y="11069"/>
                </a:cubicBezTo>
                <a:cubicBezTo>
                  <a:pt x="144022" y="11658"/>
                  <a:pt x="147123" y="14759"/>
                  <a:pt x="147681" y="18697"/>
                </a:cubicBezTo>
                <a:cubicBezTo>
                  <a:pt x="151123" y="42230"/>
                  <a:pt x="149107" y="77422"/>
                  <a:pt x="109141" y="101017"/>
                </a:cubicBezTo>
                <a:lnTo>
                  <a:pt x="109141" y="130473"/>
                </a:lnTo>
                <a:cubicBezTo>
                  <a:pt x="109141" y="135713"/>
                  <a:pt x="106412" y="140550"/>
                  <a:pt x="101916" y="143247"/>
                </a:cubicBezTo>
                <a:lnTo>
                  <a:pt x="74569" y="159649"/>
                </a:lnTo>
                <a:cubicBezTo>
                  <a:pt x="67965" y="163618"/>
                  <a:pt x="59531" y="158843"/>
                  <a:pt x="59531" y="151154"/>
                </a:cubicBezTo>
                <a:lnTo>
                  <a:pt x="59531" y="119062"/>
                </a:lnTo>
                <a:cubicBezTo>
                  <a:pt x="59531" y="108117"/>
                  <a:pt x="50633" y="99219"/>
                  <a:pt x="39688" y="99219"/>
                </a:cubicBezTo>
                <a:lnTo>
                  <a:pt x="39656" y="99219"/>
                </a:lnTo>
                <a:close/>
                <a:moveTo>
                  <a:pt x="124023" y="49609"/>
                </a:moveTo>
                <a:cubicBezTo>
                  <a:pt x="124023" y="41395"/>
                  <a:pt x="117355" y="34727"/>
                  <a:pt x="109141" y="34727"/>
                </a:cubicBezTo>
                <a:cubicBezTo>
                  <a:pt x="100927" y="34727"/>
                  <a:pt x="94258" y="41395"/>
                  <a:pt x="94258" y="49609"/>
                </a:cubicBezTo>
                <a:cubicBezTo>
                  <a:pt x="94258" y="57823"/>
                  <a:pt x="100927" y="64492"/>
                  <a:pt x="109141" y="64492"/>
                </a:cubicBezTo>
                <a:cubicBezTo>
                  <a:pt x="117355" y="64492"/>
                  <a:pt x="124023" y="57823"/>
                  <a:pt x="124023" y="496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3" name="Text 60"/>
          <p:cNvSpPr/>
          <p:nvPr/>
        </p:nvSpPr>
        <p:spPr bwMode="auto">
          <a:xfrm flipH="0" flipV="0">
            <a:off x="6865937" y="4738687"/>
            <a:ext cx="2862956" cy="25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defRPr/>
            </a:pPr>
            <a:r>
              <a:rPr lang="en-US" sz="150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Ready for Real World Use</a:t>
            </a:r>
            <a:endParaRPr lang="en-US" sz="1600"/>
          </a:p>
        </p:txBody>
      </p:sp>
      <p:sp>
        <p:nvSpPr>
          <p:cNvPr id="64" name="Text 61"/>
          <p:cNvSpPr/>
          <p:nvPr/>
        </p:nvSpPr>
        <p:spPr bwMode="auto">
          <a:xfrm>
            <a:off x="6389688" y="5183188"/>
            <a:ext cx="53498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Most importantly, the project showed how </a:t>
            </a:r>
            <a:r>
              <a:rPr lang="en-US" sz="100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good design choices</a:t>
            </a: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 make complex systems both </a:t>
            </a:r>
            <a:r>
              <a:rPr lang="en-US" sz="100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powerful and approachable</a:t>
            </a:r>
            <a:r>
              <a:rPr lang="en-US" sz="1000">
                <a:solidFill>
                  <a:srgbClr val="D1D5DC"/>
                </a:solidFill>
                <a:latin typeface="Quattrocento Sans"/>
                <a:ea typeface="Quattrocento Sans"/>
                <a:cs typeface="Quattrocento Sans"/>
              </a:rPr>
              <a:t>.</a:t>
            </a:r>
            <a:endParaRPr lang="en-US" sz="1600"/>
          </a:p>
        </p:txBody>
      </p:sp>
      <p:sp>
        <p:nvSpPr>
          <p:cNvPr id="65" name="Shape 62"/>
          <p:cNvSpPr/>
          <p:nvPr/>
        </p:nvSpPr>
        <p:spPr bwMode="auto">
          <a:xfrm>
            <a:off x="6389688" y="5722937"/>
            <a:ext cx="5286375" cy="762000"/>
          </a:xfrm>
          <a:custGeom>
            <a:avLst/>
            <a:gdLst/>
            <a:ahLst/>
            <a:cxnLst/>
            <a:rect l="l" t="t" r="r" b="b"/>
            <a:pathLst>
              <a:path w="5286375" h="762000" fill="norm" stroke="1" extrusionOk="0">
                <a:moveTo>
                  <a:pt x="95250" y="0"/>
                </a:moveTo>
                <a:lnTo>
                  <a:pt x="5191125" y="0"/>
                </a:lnTo>
                <a:cubicBezTo>
                  <a:pt x="5243695" y="0"/>
                  <a:pt x="5286375" y="42680"/>
                  <a:pt x="5286375" y="95250"/>
                </a:cubicBezTo>
                <a:lnTo>
                  <a:pt x="5286375" y="666750"/>
                </a:lnTo>
                <a:cubicBezTo>
                  <a:pt x="5286375" y="719320"/>
                  <a:pt x="5243695" y="762000"/>
                  <a:pt x="5191125" y="762000"/>
                </a:cubicBezTo>
                <a:lnTo>
                  <a:pt x="95250" y="762000"/>
                </a:lnTo>
                <a:cubicBezTo>
                  <a:pt x="42680" y="762000"/>
                  <a:pt x="0" y="719320"/>
                  <a:pt x="0" y="666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A0F2E">
              <a:alpha val="50196"/>
            </a:srgbClr>
          </a:solidFill>
          <a:ln/>
        </p:spPr>
      </p:sp>
      <p:sp>
        <p:nvSpPr>
          <p:cNvPr id="66" name="Text 63"/>
          <p:cNvSpPr/>
          <p:nvPr/>
        </p:nvSpPr>
        <p:spPr bwMode="auto">
          <a:xfrm>
            <a:off x="6516688" y="5849938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Future Extensions:</a:t>
            </a:r>
            <a:endParaRPr lang="en-US" sz="1600"/>
          </a:p>
        </p:txBody>
      </p:sp>
      <p:sp>
        <p:nvSpPr>
          <p:cNvPr id="67" name="Shape 64"/>
          <p:cNvSpPr/>
          <p:nvPr/>
        </p:nvSpPr>
        <p:spPr bwMode="auto">
          <a:xfrm>
            <a:off x="6516688" y="6135688"/>
            <a:ext cx="1095375" cy="222250"/>
          </a:xfrm>
          <a:custGeom>
            <a:avLst/>
            <a:gdLst/>
            <a:ahLst/>
            <a:cxnLst/>
            <a:rect l="l" t="t" r="r" b="b"/>
            <a:pathLst>
              <a:path w="1095375" h="222250" fill="norm" stroke="1" extrusionOk="0">
                <a:moveTo>
                  <a:pt x="111125" y="0"/>
                </a:moveTo>
                <a:lnTo>
                  <a:pt x="984250" y="0"/>
                </a:lnTo>
                <a:cubicBezTo>
                  <a:pt x="1045582" y="0"/>
                  <a:pt x="1095375" y="49793"/>
                  <a:pt x="1095375" y="111125"/>
                </a:cubicBezTo>
                <a:lnTo>
                  <a:pt x="1095375" y="111125"/>
                </a:lnTo>
                <a:cubicBezTo>
                  <a:pt x="1095375" y="172457"/>
                  <a:pt x="1045582" y="222250"/>
                  <a:pt x="9842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68" name="Text 65"/>
          <p:cNvSpPr/>
          <p:nvPr/>
        </p:nvSpPr>
        <p:spPr bwMode="auto">
          <a:xfrm flipH="0" flipV="0">
            <a:off x="6516687" y="6135687"/>
            <a:ext cx="1250155" cy="222249"/>
          </a:xfrm>
          <a:prstGeom prst="rect">
            <a:avLst/>
          </a:prstGeom>
          <a:noFill/>
          <a:ln/>
        </p:spPr>
        <p:txBody>
          <a:bodyPr wrap="square" lIns="95249" tIns="31749" rIns="95249" bIns="31749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Cloud Deployment</a:t>
            </a:r>
            <a:endParaRPr lang="en-US" sz="1600"/>
          </a:p>
        </p:txBody>
      </p:sp>
      <p:sp>
        <p:nvSpPr>
          <p:cNvPr id="69" name="Shape 66"/>
          <p:cNvSpPr/>
          <p:nvPr/>
        </p:nvSpPr>
        <p:spPr bwMode="auto">
          <a:xfrm>
            <a:off x="7676803" y="6135688"/>
            <a:ext cx="1111250" cy="222250"/>
          </a:xfrm>
          <a:custGeom>
            <a:avLst/>
            <a:gdLst/>
            <a:ahLst/>
            <a:cxnLst/>
            <a:rect l="l" t="t" r="r" b="b"/>
            <a:pathLst>
              <a:path w="1111250" h="222250" fill="norm" stroke="1" extrusionOk="0">
                <a:moveTo>
                  <a:pt x="111125" y="0"/>
                </a:moveTo>
                <a:lnTo>
                  <a:pt x="1000125" y="0"/>
                </a:lnTo>
                <a:cubicBezTo>
                  <a:pt x="1061457" y="0"/>
                  <a:pt x="1111250" y="49793"/>
                  <a:pt x="1111250" y="111125"/>
                </a:cubicBezTo>
                <a:lnTo>
                  <a:pt x="1111250" y="111125"/>
                </a:lnTo>
                <a:cubicBezTo>
                  <a:pt x="1111250" y="172457"/>
                  <a:pt x="1061457" y="222250"/>
                  <a:pt x="100012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/>
        </p:spPr>
      </p:sp>
      <p:sp>
        <p:nvSpPr>
          <p:cNvPr id="70" name="Text 67"/>
          <p:cNvSpPr/>
          <p:nvPr/>
        </p:nvSpPr>
        <p:spPr bwMode="auto">
          <a:xfrm flipH="0" flipV="0">
            <a:off x="7676802" y="6135687"/>
            <a:ext cx="1502915" cy="222249"/>
          </a:xfrm>
          <a:prstGeom prst="rect">
            <a:avLst/>
          </a:prstGeom>
          <a:noFill/>
          <a:ln/>
        </p:spPr>
        <p:txBody>
          <a:bodyPr wrap="square" lIns="95249" tIns="31749" rIns="95249" bIns="31749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More Data Sources</a:t>
            </a:r>
            <a:endParaRPr lang="en-US" sz="1600"/>
          </a:p>
        </p:txBody>
      </p:sp>
      <p:sp>
        <p:nvSpPr>
          <p:cNvPr id="71" name="Shape 68"/>
          <p:cNvSpPr/>
          <p:nvPr/>
        </p:nvSpPr>
        <p:spPr bwMode="auto">
          <a:xfrm>
            <a:off x="8847832" y="6135688"/>
            <a:ext cx="881063" cy="222250"/>
          </a:xfrm>
          <a:custGeom>
            <a:avLst/>
            <a:gdLst/>
            <a:ahLst/>
            <a:cxnLst/>
            <a:rect l="l" t="t" r="r" b="b"/>
            <a:pathLst>
              <a:path w="881063" h="222250" fill="norm" stroke="1" extrusionOk="0">
                <a:moveTo>
                  <a:pt x="111125" y="0"/>
                </a:moveTo>
                <a:lnTo>
                  <a:pt x="769938" y="0"/>
                </a:lnTo>
                <a:cubicBezTo>
                  <a:pt x="831269" y="0"/>
                  <a:pt x="881063" y="49793"/>
                  <a:pt x="881063" y="111125"/>
                </a:cubicBezTo>
                <a:lnTo>
                  <a:pt x="881063" y="111125"/>
                </a:lnTo>
                <a:cubicBezTo>
                  <a:pt x="881063" y="172457"/>
                  <a:pt x="831269" y="222250"/>
                  <a:pt x="769938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7C3AED">
              <a:alpha val="30194"/>
            </a:srgbClr>
          </a:solidFill>
          <a:ln/>
        </p:spPr>
      </p:sp>
      <p:sp>
        <p:nvSpPr>
          <p:cNvPr id="72" name="Text 69"/>
          <p:cNvSpPr/>
          <p:nvPr/>
        </p:nvSpPr>
        <p:spPr bwMode="auto">
          <a:xfrm flipH="0" flipV="0">
            <a:off x="8847831" y="6135687"/>
            <a:ext cx="1122253" cy="222249"/>
          </a:xfrm>
          <a:prstGeom prst="rect">
            <a:avLst/>
          </a:prstGeom>
          <a:noFill/>
          <a:ln/>
        </p:spPr>
        <p:txBody>
          <a:bodyPr wrap="square" lIns="95249" tIns="31749" rIns="95249" bIns="31749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 b="1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</a:rPr>
              <a:t>ML Integration</a:t>
            </a:r>
            <a:endParaRPr lang="en-US" sz="1600"/>
          </a:p>
        </p:txBody>
      </p:sp>
      <p:sp>
        <p:nvSpPr>
          <p:cNvPr id="73" name="Shape 70"/>
          <p:cNvSpPr/>
          <p:nvPr/>
        </p:nvSpPr>
        <p:spPr bwMode="auto">
          <a:xfrm>
            <a:off x="9794255" y="6135688"/>
            <a:ext cx="1174750" cy="222250"/>
          </a:xfrm>
          <a:custGeom>
            <a:avLst/>
            <a:gdLst/>
            <a:ahLst/>
            <a:cxnLst/>
            <a:rect l="l" t="t" r="r" b="b"/>
            <a:pathLst>
              <a:path w="1174750" h="222250" fill="norm" stroke="1" extrusionOk="0">
                <a:moveTo>
                  <a:pt x="111125" y="0"/>
                </a:moveTo>
                <a:lnTo>
                  <a:pt x="1063625" y="0"/>
                </a:lnTo>
                <a:cubicBezTo>
                  <a:pt x="1124957" y="0"/>
                  <a:pt x="1174750" y="49793"/>
                  <a:pt x="1174750" y="111125"/>
                </a:cubicBezTo>
                <a:lnTo>
                  <a:pt x="1174750" y="111125"/>
                </a:lnTo>
                <a:cubicBezTo>
                  <a:pt x="1174750" y="172457"/>
                  <a:pt x="1124957" y="222250"/>
                  <a:pt x="106362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EC4899">
              <a:alpha val="30194"/>
            </a:srgbClr>
          </a:solidFill>
          <a:ln/>
        </p:spPr>
      </p:sp>
      <p:sp>
        <p:nvSpPr>
          <p:cNvPr id="74" name="Text 71"/>
          <p:cNvSpPr/>
          <p:nvPr/>
        </p:nvSpPr>
        <p:spPr bwMode="auto">
          <a:xfrm flipH="0" flipV="0">
            <a:off x="9794254" y="6135687"/>
            <a:ext cx="1391089" cy="222249"/>
          </a:xfrm>
          <a:prstGeom prst="rect">
            <a:avLst/>
          </a:prstGeom>
          <a:noFill/>
          <a:ln/>
        </p:spPr>
        <p:txBody>
          <a:bodyPr wrap="square" lIns="95249" tIns="31749" rIns="95249" bIns="31749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900" b="1">
                <a:solidFill>
                  <a:srgbClr val="EC4899"/>
                </a:solidFill>
                <a:latin typeface="Quattrocento Sans"/>
                <a:ea typeface="Quattrocento Sans"/>
                <a:cs typeface="Quattrocento Sans"/>
              </a:rPr>
              <a:t>Real time Streaming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ONLYOFFICE/8.0.1.31</Application>
  <DocSecurity>0</DocSecurity>
  <PresentationFormat>On-screen Show (16:9)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Manager/>
  <Company>Moonshot</Company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SkyPipe: A Distributed Data Processing Pipeline</dc:title>
  <dc:subject>SkyPipe: A Distributed Data Processing Pipeline</dc:subject>
  <dc:creator>Kimi</dc:creator>
  <cp:keywords/>
  <dc:description/>
  <dc:identifier/>
  <dc:language/>
  <cp:lastModifiedBy/>
  <cp:revision>3</cp:revision>
  <dcterms:created xsi:type="dcterms:W3CDTF">2026-04-14T12:25:59Z</dcterms:created>
  <dcterms:modified xsi:type="dcterms:W3CDTF">2026-04-15T19:39:22Z</dcterms:modified>
  <cp:category/>
  <cp:contentStatus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{"Label":"SkyPipe: A Distributed Data Processing Pipeline","ContentProducer":"001191110108MACG2KBH8F10000","ProduceID":"19d8bef4-c562-8f28-8000-00004786deea","ReservedCode1":"","ContentPropagator":"001191110108MACG2KBH8F20000","PropagateID":"19d8bef4-c562-8f28-8000-00004786deea","ReservedCode2":""}</vt:lpwstr>
  </property>
</Properties>
</file>